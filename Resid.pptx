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60" r:id="rId4"/>
    <p:sldId id="261" r:id="rId5"/>
    <p:sldId id="298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99" r:id="rId14"/>
    <p:sldId id="270" r:id="rId15"/>
    <p:sldId id="272" r:id="rId16"/>
    <p:sldId id="273" r:id="rId17"/>
    <p:sldId id="274" r:id="rId18"/>
    <p:sldId id="300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301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2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2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6123-70E1-4D63-92EA-D17FE4312199}" type="datetimeFigureOut">
              <a:rPr lang="en-US" smtClean="0"/>
              <a:pPr/>
              <a:t>12/21/2019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5B7FD34-D4E5-422C-9FBC-8FB0ABA221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91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4338" y="624110"/>
            <a:ext cx="10024082" cy="597562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  <a:latin typeface="Perpetua" panose="02020502060401020303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4338" y="1311937"/>
            <a:ext cx="9920274" cy="4899291"/>
          </a:xfrm>
        </p:spPr>
        <p:txBody>
          <a:bodyPr>
            <a:normAutofit/>
          </a:bodyPr>
          <a:lstStyle>
            <a:lvl1pPr>
              <a:defRPr sz="2400">
                <a:latin typeface="Perpetua" panose="02020502060401020303" pitchFamily="18" charset="0"/>
              </a:defRPr>
            </a:lvl1pPr>
            <a:lvl2pPr>
              <a:defRPr sz="2400">
                <a:latin typeface="Perpetua" panose="02020502060401020303" pitchFamily="18" charset="0"/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6123-70E1-4D63-92EA-D17FE4312199}" type="datetimeFigureOut">
              <a:rPr lang="en-US" smtClean="0"/>
              <a:pPr/>
              <a:t>12/21/2019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FD34-D4E5-422C-9FBC-8FB0ABA221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394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6123-70E1-4D63-92EA-D17FE4312199}" type="datetimeFigureOut">
              <a:rPr lang="en-US" smtClean="0"/>
              <a:pPr/>
              <a:t>12/21/2019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5B7FD34-D4E5-422C-9FBC-8FB0ABA221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81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6123-70E1-4D63-92EA-D17FE4312199}" type="datetimeFigureOut">
              <a:rPr lang="en-US" smtClean="0"/>
              <a:pPr/>
              <a:t>12/21/2019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5B7FD34-D4E5-422C-9FBC-8FB0ABA221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233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6123-70E1-4D63-92EA-D17FE4312199}" type="datetimeFigureOut">
              <a:rPr lang="en-US" smtClean="0"/>
              <a:pPr/>
              <a:t>12/21/2019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5B7FD34-D4E5-422C-9FBC-8FB0ABA221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93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6123-70E1-4D63-92EA-D17FE4312199}" type="datetimeFigureOut">
              <a:rPr lang="en-US" smtClean="0"/>
              <a:pPr/>
              <a:t>12/21/2019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FD34-D4E5-422C-9FBC-8FB0ABA221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769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6123-70E1-4D63-92EA-D17FE4312199}" type="datetimeFigureOut">
              <a:rPr lang="en-US" smtClean="0"/>
              <a:pPr/>
              <a:t>12/21/2019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FD34-D4E5-422C-9FBC-8FB0ABA221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898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6123-70E1-4D63-92EA-D17FE4312199}" type="datetimeFigureOut">
              <a:rPr lang="en-US" smtClean="0"/>
              <a:pPr/>
              <a:t>12/21/2019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FD34-D4E5-422C-9FBC-8FB0ABA221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511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6123-70E1-4D63-92EA-D17FE4312199}" type="datetimeFigureOut">
              <a:rPr lang="en-US" smtClean="0"/>
              <a:pPr/>
              <a:t>12/21/2019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5B7FD34-D4E5-422C-9FBC-8FB0ABA221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31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6123-70E1-4D63-92EA-D17FE4312199}" type="datetimeFigureOut">
              <a:rPr lang="en-US" smtClean="0"/>
              <a:pPr/>
              <a:t>12/21/2019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5B7FD34-D4E5-422C-9FBC-8FB0ABA221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076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6123-70E1-4D63-92EA-D17FE4312199}" type="datetimeFigureOut">
              <a:rPr lang="en-US" smtClean="0"/>
              <a:pPr/>
              <a:t>12/21/2019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5B7FD34-D4E5-422C-9FBC-8FB0ABA22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0309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6123-70E1-4D63-92EA-D17FE4312199}" type="datetimeFigureOut">
              <a:rPr lang="en-US" smtClean="0"/>
              <a:pPr/>
              <a:t>12/21/2019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5B7FD34-D4E5-422C-9FBC-8FB0ABA221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34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6123-70E1-4D63-92EA-D17FE4312199}" type="datetimeFigureOut">
              <a:rPr lang="en-US" smtClean="0"/>
              <a:pPr/>
              <a:t>12/21/2019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5B7FD34-D4E5-422C-9FBC-8FB0ABA22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68516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6123-70E1-4D63-92EA-D17FE4312199}" type="datetimeFigureOut">
              <a:rPr lang="en-US" smtClean="0"/>
              <a:pPr/>
              <a:t>12/21/2019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5B7FD34-D4E5-422C-9FBC-8FB0ABA221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2426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6123-70E1-4D63-92EA-D17FE4312199}" type="datetimeFigureOut">
              <a:rPr lang="en-US" smtClean="0"/>
              <a:pPr/>
              <a:t>12/21/2019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FD34-D4E5-422C-9FBC-8FB0ABA221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0989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6123-70E1-4D63-92EA-D17FE4312199}" type="datetimeFigureOut">
              <a:rPr lang="en-US" smtClean="0"/>
              <a:pPr/>
              <a:t>12/21/2019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FD34-D4E5-422C-9FBC-8FB0ABA221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381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46123-70E1-4D63-92EA-D17FE4312199}" type="datetimeFigureOut">
              <a:rPr lang="en-US" smtClean="0"/>
              <a:pPr/>
              <a:t>12/21/2019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5B7FD34-D4E5-422C-9FBC-8FB0ABA221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51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9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1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5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6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7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9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1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2.w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61893" y="3823954"/>
            <a:ext cx="9843079" cy="151656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C00000"/>
                </a:solidFill>
              </a:rPr>
              <a:t>Analiza </a:t>
            </a:r>
            <a:r>
              <a:rPr lang="en-US" sz="3600" b="1" dirty="0" err="1" smtClean="0">
                <a:solidFill>
                  <a:srgbClr val="C00000"/>
                </a:solidFill>
              </a:rPr>
              <a:t>seriilor</a:t>
            </a:r>
            <a:r>
              <a:rPr lang="en-US" sz="3600" b="1" dirty="0" smtClean="0">
                <a:solidFill>
                  <a:srgbClr val="C00000"/>
                </a:solidFill>
              </a:rPr>
              <a:t> de </a:t>
            </a:r>
            <a:r>
              <a:rPr lang="en-US" sz="3600" b="1" dirty="0" err="1" smtClean="0">
                <a:solidFill>
                  <a:srgbClr val="C00000"/>
                </a:solidFill>
              </a:rPr>
              <a:t>timp</a:t>
            </a:r>
            <a:r>
              <a:rPr lang="en-US" sz="2400" b="1" dirty="0" smtClean="0">
                <a:solidFill>
                  <a:srgbClr val="C00000"/>
                </a:solidFill>
              </a:rPr>
              <a:t/>
            </a:r>
            <a:br>
              <a:rPr lang="en-US" sz="2400" b="1" dirty="0" smtClean="0">
                <a:solidFill>
                  <a:srgbClr val="C00000"/>
                </a:solidFill>
              </a:rPr>
            </a:br>
            <a:r>
              <a:rPr lang="en-US" sz="2600" dirty="0" err="1" smtClean="0">
                <a:solidFill>
                  <a:srgbClr val="C00000"/>
                </a:solidFill>
              </a:rPr>
              <a:t>Testarea</a:t>
            </a:r>
            <a:r>
              <a:rPr lang="en-US" sz="2600" dirty="0" smtClean="0">
                <a:solidFill>
                  <a:srgbClr val="C00000"/>
                </a:solidFill>
              </a:rPr>
              <a:t> </a:t>
            </a:r>
            <a:r>
              <a:rPr lang="en-US" sz="2600" dirty="0" err="1" smtClean="0">
                <a:solidFill>
                  <a:srgbClr val="C00000"/>
                </a:solidFill>
              </a:rPr>
              <a:t>ipotezelor</a:t>
            </a:r>
            <a:r>
              <a:rPr lang="en-US" sz="2600" dirty="0" smtClean="0">
                <a:solidFill>
                  <a:srgbClr val="C00000"/>
                </a:solidFill>
              </a:rPr>
              <a:t> cu </a:t>
            </a:r>
            <a:r>
              <a:rPr lang="en-US" sz="2600" dirty="0" err="1" smtClean="0">
                <a:solidFill>
                  <a:srgbClr val="C00000"/>
                </a:solidFill>
              </a:rPr>
              <a:t>privire</a:t>
            </a:r>
            <a:r>
              <a:rPr lang="en-US" sz="2600" dirty="0" smtClean="0">
                <a:solidFill>
                  <a:srgbClr val="C00000"/>
                </a:solidFill>
              </a:rPr>
              <a:t> la </a:t>
            </a:r>
            <a:r>
              <a:rPr lang="en-US" sz="2600" dirty="0" err="1" smtClean="0">
                <a:solidFill>
                  <a:srgbClr val="C00000"/>
                </a:solidFill>
              </a:rPr>
              <a:t>eroarea</a:t>
            </a:r>
            <a:r>
              <a:rPr lang="en-US" sz="2600" dirty="0" smtClean="0">
                <a:solidFill>
                  <a:srgbClr val="C00000"/>
                </a:solidFill>
              </a:rPr>
              <a:t> de </a:t>
            </a:r>
            <a:r>
              <a:rPr lang="en-US" sz="2600" dirty="0" err="1" smtClean="0">
                <a:solidFill>
                  <a:srgbClr val="C00000"/>
                </a:solidFill>
              </a:rPr>
              <a:t>modelare</a:t>
            </a:r>
            <a:endParaRPr lang="en-US" sz="2600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92859" y="5575610"/>
            <a:ext cx="5454009" cy="1086335"/>
          </a:xfrm>
        </p:spPr>
        <p:txBody>
          <a:bodyPr>
            <a:normAutofit/>
          </a:bodyPr>
          <a:lstStyle/>
          <a:p>
            <a:pPr algn="ctr"/>
            <a:r>
              <a:rPr lang="en-US" sz="1600" dirty="0" err="1" smtClean="0">
                <a:solidFill>
                  <a:schemeClr val="tx1"/>
                </a:solidFill>
              </a:rPr>
              <a:t>Statistica</a:t>
            </a:r>
            <a:r>
              <a:rPr lang="en-US" sz="1600" dirty="0" smtClean="0">
                <a:solidFill>
                  <a:schemeClr val="tx1"/>
                </a:solidFill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</a:rPr>
              <a:t>si</a:t>
            </a:r>
            <a:r>
              <a:rPr lang="en-US" sz="1600" dirty="0" smtClean="0">
                <a:solidFill>
                  <a:schemeClr val="tx1"/>
                </a:solidFill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</a:rPr>
              <a:t>previziune</a:t>
            </a:r>
            <a:r>
              <a:rPr lang="en-US" sz="1600" dirty="0" smtClean="0">
                <a:solidFill>
                  <a:schemeClr val="tx1"/>
                </a:solidFill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</a:rPr>
              <a:t>economica</a:t>
            </a:r>
            <a:endParaRPr lang="en-US" sz="1600" dirty="0" smtClean="0">
              <a:solidFill>
                <a:schemeClr val="tx1"/>
              </a:solidFill>
            </a:endParaRPr>
          </a:p>
          <a:p>
            <a:pPr algn="ctr"/>
            <a:r>
              <a:rPr lang="en-US" sz="1600" dirty="0" err="1" smtClean="0">
                <a:solidFill>
                  <a:schemeClr val="tx1"/>
                </a:solidFill>
              </a:rPr>
              <a:t>Anul</a:t>
            </a:r>
            <a:r>
              <a:rPr lang="en-US" sz="1600" dirty="0" smtClean="0">
                <a:solidFill>
                  <a:schemeClr val="tx1"/>
                </a:solidFill>
              </a:rPr>
              <a:t> III</a:t>
            </a:r>
          </a:p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2016-2017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8540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mtClean="0"/>
              <a:t>TEMATICA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1360449" y="1438507"/>
            <a:ext cx="10144163" cy="4472715"/>
          </a:xfrm>
        </p:spPr>
        <p:txBody>
          <a:bodyPr rtlCol="0">
            <a:noAutofit/>
          </a:bodyPr>
          <a:lstStyle/>
          <a:p>
            <a:pPr>
              <a:buFont typeface="Wingdings 2" pitchFamily="18" charset="2"/>
              <a:buAutoNum type="arabicPeriod"/>
              <a:defRPr/>
            </a:pPr>
            <a:r>
              <a:rPr lang="en-US" sz="2800" dirty="0" err="1"/>
              <a:t>Testarea</a:t>
            </a:r>
            <a:r>
              <a:rPr lang="en-US" sz="2800" dirty="0"/>
              <a:t> </a:t>
            </a:r>
            <a:r>
              <a:rPr lang="en-US" sz="2800" dirty="0" err="1"/>
              <a:t>ipotezelor</a:t>
            </a:r>
            <a:r>
              <a:rPr lang="en-US" sz="2800" dirty="0"/>
              <a:t> </a:t>
            </a:r>
            <a:r>
              <a:rPr lang="en-US" sz="2800" dirty="0" err="1"/>
              <a:t>privind</a:t>
            </a:r>
            <a:r>
              <a:rPr lang="en-US" sz="2800" dirty="0"/>
              <a:t> </a:t>
            </a:r>
            <a:r>
              <a:rPr lang="en-US" sz="2800" dirty="0" err="1"/>
              <a:t>eroarea</a:t>
            </a:r>
            <a:r>
              <a:rPr lang="en-US" sz="2800" dirty="0"/>
              <a:t> de </a:t>
            </a:r>
            <a:r>
              <a:rPr lang="en-US" sz="2800" dirty="0" err="1"/>
              <a:t>modelare</a:t>
            </a:r>
            <a:r>
              <a:rPr lang="en-US" sz="2800" dirty="0"/>
              <a:t> </a:t>
            </a:r>
            <a:r>
              <a:rPr lang="en-US" sz="2800" dirty="0" err="1"/>
              <a:t>specifice</a:t>
            </a:r>
            <a:r>
              <a:rPr lang="en-US" sz="2800" dirty="0"/>
              <a:t> </a:t>
            </a:r>
            <a:r>
              <a:rPr lang="en-US" sz="2800" dirty="0" err="1"/>
              <a:t>Eviews</a:t>
            </a:r>
            <a:endParaRPr lang="en-US" sz="2800" dirty="0"/>
          </a:p>
          <a:p>
            <a:pPr lvl="1">
              <a:buFont typeface="Wingdings 2" pitchFamily="18" charset="2"/>
              <a:buAutoNum type="arabicPeriod"/>
              <a:defRPr/>
            </a:pPr>
            <a:r>
              <a:rPr lang="en-US" sz="2800" dirty="0" smtClean="0"/>
              <a:t>Media </a:t>
            </a:r>
            <a:r>
              <a:rPr lang="en-US" sz="2800" dirty="0" err="1" smtClean="0"/>
              <a:t>erorilor</a:t>
            </a:r>
            <a:r>
              <a:rPr lang="en-US" sz="2800" dirty="0" smtClean="0"/>
              <a:t> de </a:t>
            </a:r>
            <a:r>
              <a:rPr lang="en-US" sz="2800" dirty="0" err="1" smtClean="0"/>
              <a:t>modelare</a:t>
            </a:r>
            <a:r>
              <a:rPr lang="en-US" sz="2800" dirty="0" smtClean="0"/>
              <a:t> </a:t>
            </a:r>
            <a:r>
              <a:rPr lang="en-US" sz="2800" dirty="0" err="1" smtClean="0"/>
              <a:t>este</a:t>
            </a:r>
            <a:r>
              <a:rPr lang="en-US" sz="2800" dirty="0" smtClean="0"/>
              <a:t> zero</a:t>
            </a:r>
          </a:p>
          <a:p>
            <a:pPr lvl="1">
              <a:buFont typeface="Wingdings" pitchFamily="2" charset="2"/>
              <a:buAutoNum type="arabicPeriod"/>
              <a:defRPr/>
            </a:pPr>
            <a:r>
              <a:rPr lang="en-US" sz="2800" dirty="0" err="1" smtClean="0"/>
              <a:t>Normalitate</a:t>
            </a:r>
            <a:endParaRPr lang="en-US" sz="2800" dirty="0" smtClean="0"/>
          </a:p>
          <a:p>
            <a:pPr lvl="1">
              <a:buFont typeface="Wingdings" pitchFamily="2" charset="2"/>
              <a:buAutoNum type="arabicPeriod"/>
              <a:defRPr/>
            </a:pPr>
            <a:r>
              <a:rPr lang="en-US" sz="2800" dirty="0" err="1" smtClean="0"/>
              <a:t>Independenta</a:t>
            </a:r>
            <a:endParaRPr lang="en-US" sz="2800" dirty="0" smtClean="0"/>
          </a:p>
          <a:p>
            <a:pPr lvl="1">
              <a:buFont typeface="Wingdings" pitchFamily="2" charset="2"/>
              <a:buAutoNum type="arabicPeriod"/>
              <a:defRPr/>
            </a:pPr>
            <a:r>
              <a:rPr lang="en-US" sz="2800" dirty="0" err="1" smtClean="0"/>
              <a:t>Homoscedasticitate</a:t>
            </a:r>
            <a:endParaRPr lang="en-US" sz="2800" dirty="0" smtClean="0"/>
          </a:p>
          <a:p>
            <a:pPr lvl="1">
              <a:buFont typeface="Wingdings" pitchFamily="2" charset="2"/>
              <a:buAutoNum type="arabicPeriod"/>
              <a:defRPr/>
            </a:pPr>
            <a:r>
              <a:rPr lang="en-US" sz="2800" dirty="0" smtClean="0"/>
              <a:t> </a:t>
            </a:r>
            <a:r>
              <a:rPr lang="en-US" sz="2800" dirty="0" err="1" smtClean="0"/>
              <a:t>Heteroscedasticitatea</a:t>
            </a:r>
            <a:r>
              <a:rPr lang="en-US" sz="2800" dirty="0" smtClean="0"/>
              <a:t> </a:t>
            </a:r>
            <a:r>
              <a:rPr lang="en-US" sz="2800" dirty="0" err="1" smtClean="0"/>
              <a:t>conditionata</a:t>
            </a:r>
            <a:endParaRPr lang="en-US" sz="2800" dirty="0" smtClean="0"/>
          </a:p>
          <a:p>
            <a:pPr>
              <a:buFont typeface="Trebuchet MS" pitchFamily="34" charset="0"/>
              <a:buAutoNum type="arabicPeriod"/>
              <a:defRPr/>
            </a:pPr>
            <a:r>
              <a:rPr lang="en-US" sz="2800" dirty="0" smtClean="0"/>
              <a:t>. </a:t>
            </a:r>
            <a:r>
              <a:rPr lang="en-US" sz="2800" dirty="0" err="1"/>
              <a:t>Alte</a:t>
            </a:r>
            <a:r>
              <a:rPr lang="en-US" sz="2800" dirty="0"/>
              <a:t> </a:t>
            </a:r>
            <a:r>
              <a:rPr lang="en-US" sz="2800" dirty="0" err="1"/>
              <a:t>teste</a:t>
            </a:r>
            <a:r>
              <a:rPr lang="en-US" sz="2800" dirty="0"/>
              <a:t> </a:t>
            </a:r>
            <a:r>
              <a:rPr lang="en-US" sz="2800" dirty="0" err="1"/>
              <a:t>specifice</a:t>
            </a:r>
            <a:r>
              <a:rPr lang="en-US" sz="2800" dirty="0"/>
              <a:t> ST in </a:t>
            </a:r>
            <a:r>
              <a:rPr lang="en-US" sz="2800" dirty="0" err="1"/>
              <a:t>Eviews</a:t>
            </a:r>
            <a:endParaRPr lang="en-US" sz="2800" dirty="0"/>
          </a:p>
          <a:p>
            <a:pPr lvl="1">
              <a:buFont typeface="Trebuchet MS" pitchFamily="34" charset="0"/>
              <a:buAutoNum type="arabicPeriod"/>
              <a:defRPr/>
            </a:pPr>
            <a:r>
              <a:rPr lang="en-US" sz="2800" dirty="0" err="1" smtClean="0"/>
              <a:t>Testarea</a:t>
            </a:r>
            <a:r>
              <a:rPr lang="en-US" sz="2800" dirty="0" smtClean="0"/>
              <a:t> </a:t>
            </a:r>
            <a:r>
              <a:rPr lang="en-US" sz="2800" dirty="0" err="1" smtClean="0"/>
              <a:t>radacinii</a:t>
            </a:r>
            <a:r>
              <a:rPr lang="en-US" sz="2800" dirty="0" smtClean="0"/>
              <a:t> </a:t>
            </a:r>
            <a:r>
              <a:rPr lang="en-US" sz="2800" dirty="0" err="1" smtClean="0"/>
              <a:t>unitate</a:t>
            </a:r>
            <a:r>
              <a:rPr lang="en-US" sz="2800" dirty="0" smtClean="0"/>
              <a:t> </a:t>
            </a:r>
          </a:p>
          <a:p>
            <a:pPr>
              <a:buNone/>
              <a:defRPr/>
            </a:pPr>
            <a:endParaRPr lang="en-US" sz="2800" dirty="0"/>
          </a:p>
          <a:p>
            <a:pPr>
              <a:buNone/>
              <a:defRPr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933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1"/>
          <p:cNvSpPr>
            <a:spLocks noGrp="1"/>
          </p:cNvSpPr>
          <p:nvPr>
            <p:ph type="title"/>
          </p:nvPr>
        </p:nvSpPr>
        <p:spPr>
          <a:xfrm>
            <a:off x="1627148" y="641111"/>
            <a:ext cx="8911687" cy="663582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b="1" dirty="0" err="1">
                <a:solidFill>
                  <a:srgbClr val="FF0000"/>
                </a:solidFill>
              </a:rPr>
              <a:t>Testarea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Normalitatii</a:t>
            </a:r>
            <a:r>
              <a:rPr lang="en-US" sz="3200" b="1" dirty="0">
                <a:solidFill>
                  <a:srgbClr val="FF0000"/>
                </a:solidFill>
              </a:rPr>
              <a:t>  </a:t>
            </a:r>
            <a:r>
              <a:rPr lang="en-US" sz="3200" b="1" dirty="0" err="1">
                <a:solidFill>
                  <a:srgbClr val="FF0000"/>
                </a:solidFill>
              </a:rPr>
              <a:t>erorilor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1029" name="Content Placeholder 2"/>
          <p:cNvSpPr>
            <a:spLocks noGrp="1"/>
          </p:cNvSpPr>
          <p:nvPr>
            <p:ph idx="1"/>
          </p:nvPr>
        </p:nvSpPr>
        <p:spPr>
          <a:xfrm>
            <a:off x="1070517" y="1371600"/>
            <a:ext cx="11017405" cy="51054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sz="2400" b="1" dirty="0" err="1"/>
              <a:t>Testul</a:t>
            </a:r>
            <a:r>
              <a:rPr lang="en-US" sz="2400" b="1" dirty="0"/>
              <a:t> </a:t>
            </a:r>
            <a:r>
              <a:rPr lang="en-US" sz="2400" b="1" dirty="0" err="1"/>
              <a:t>Jarque</a:t>
            </a:r>
            <a:r>
              <a:rPr lang="en-US" sz="2400" b="1" dirty="0"/>
              <a:t>- Berra (</a:t>
            </a:r>
            <a:r>
              <a:rPr lang="en-US" sz="2400" b="1" dirty="0">
                <a:solidFill>
                  <a:srgbClr val="FF0000"/>
                </a:solidFill>
              </a:rPr>
              <a:t>H</a:t>
            </a:r>
            <a:r>
              <a:rPr lang="en-US" sz="2400" b="1" baseline="-25000" dirty="0">
                <a:solidFill>
                  <a:srgbClr val="FF0000"/>
                </a:solidFill>
              </a:rPr>
              <a:t>0</a:t>
            </a:r>
            <a:r>
              <a:rPr lang="en-US" sz="2400" dirty="0"/>
              <a:t>:</a:t>
            </a:r>
            <a:r>
              <a:rPr lang="en-US" sz="2400" b="1" dirty="0"/>
              <a:t> </a:t>
            </a:r>
            <a:r>
              <a:rPr lang="el-GR" sz="2400" i="1" dirty="0"/>
              <a:t>ε</a:t>
            </a:r>
            <a:r>
              <a:rPr lang="en-US" sz="2400" i="1" dirty="0"/>
              <a:t>~N(</a:t>
            </a:r>
            <a:r>
              <a:rPr lang="el-GR" sz="2400" i="1" dirty="0"/>
              <a:t>μ</a:t>
            </a:r>
            <a:r>
              <a:rPr lang="en-US" sz="2400" i="1" baseline="-25000" dirty="0"/>
              <a:t>ε</a:t>
            </a:r>
            <a:r>
              <a:rPr lang="en-US" sz="2400" i="1" dirty="0"/>
              <a:t> , </a:t>
            </a:r>
            <a:r>
              <a:rPr lang="el-GR" sz="2400" i="1" dirty="0"/>
              <a:t>σ</a:t>
            </a:r>
            <a:r>
              <a:rPr lang="en-US" sz="2400" i="1" baseline="-25000" dirty="0"/>
              <a:t>ε </a:t>
            </a:r>
            <a:r>
              <a:rPr lang="en-US" sz="2400" i="1" baseline="30000" dirty="0"/>
              <a:t>2</a:t>
            </a:r>
            <a:r>
              <a:rPr lang="en-US" sz="2400" i="1" dirty="0"/>
              <a:t>)</a:t>
            </a:r>
            <a:r>
              <a:rPr lang="en-US" sz="2400" b="1" dirty="0"/>
              <a:t>)</a:t>
            </a:r>
            <a:endParaRPr lang="en-US" sz="2400" b="1" baseline="-25000" dirty="0"/>
          </a:p>
          <a:p>
            <a:pPr marL="0" indent="0">
              <a:buNone/>
            </a:pPr>
            <a:r>
              <a:rPr lang="en-US" sz="2400" dirty="0" err="1"/>
              <a:t>Estimarea</a:t>
            </a:r>
            <a:r>
              <a:rPr lang="en-US" sz="2400" dirty="0"/>
              <a:t> </a:t>
            </a:r>
            <a:r>
              <a:rPr lang="en-US" sz="2400" dirty="0" err="1"/>
              <a:t>coeficeintilor</a:t>
            </a:r>
            <a:r>
              <a:rPr lang="en-US" sz="2400" dirty="0"/>
              <a:t> de </a:t>
            </a:r>
            <a:r>
              <a:rPr lang="en-US" sz="2400" b="1" dirty="0" err="1"/>
              <a:t>asimetrie</a:t>
            </a:r>
            <a:r>
              <a:rPr lang="en-US" sz="2400" b="1" dirty="0"/>
              <a:t> Fisher </a:t>
            </a:r>
            <a:r>
              <a:rPr lang="en-US" sz="2400" dirty="0"/>
              <a:t>(</a:t>
            </a:r>
            <a:r>
              <a:rPr lang="el-GR" sz="2400" dirty="0"/>
              <a:t>γ</a:t>
            </a:r>
            <a:r>
              <a:rPr lang="en-US" sz="2400" baseline="-25000" dirty="0"/>
              <a:t>1</a:t>
            </a:r>
            <a:r>
              <a:rPr lang="en-US" sz="2400" dirty="0"/>
              <a:t>):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Estimarea</a:t>
            </a:r>
            <a:r>
              <a:rPr lang="en-US" sz="2400" dirty="0"/>
              <a:t> </a:t>
            </a:r>
            <a:r>
              <a:rPr lang="en-US" sz="2400" dirty="0" err="1"/>
              <a:t>coeficientilor</a:t>
            </a:r>
            <a:r>
              <a:rPr lang="en-US" sz="2400" dirty="0"/>
              <a:t> de </a:t>
            </a:r>
            <a:r>
              <a:rPr lang="en-US" sz="2400" b="1" dirty="0" err="1"/>
              <a:t>boltire</a:t>
            </a:r>
            <a:r>
              <a:rPr lang="en-US" sz="2400" b="1" dirty="0"/>
              <a:t> Pearson </a:t>
            </a:r>
            <a:r>
              <a:rPr lang="en-US" sz="2400" dirty="0"/>
              <a:t>(</a:t>
            </a:r>
            <a:r>
              <a:rPr lang="el-GR" sz="2400" dirty="0"/>
              <a:t>β</a:t>
            </a:r>
            <a:r>
              <a:rPr lang="en-US" sz="2400" baseline="-25000" dirty="0"/>
              <a:t>2</a:t>
            </a:r>
            <a:r>
              <a:rPr lang="en-US" sz="2400" dirty="0"/>
              <a:t>):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 eaLnBrk="1" hangingPunct="1">
              <a:buNone/>
            </a:pPr>
            <a:endParaRPr lang="en-US" sz="2400" dirty="0"/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2432050" y="2209801"/>
          <a:ext cx="4425950" cy="175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Equation" r:id="rId3" imgW="2247900" imgH="889000" progId="Equation.3">
                  <p:embed/>
                </p:oleObj>
              </mc:Choice>
              <mc:Fallback>
                <p:oleObj name="Equation" r:id="rId3" imgW="2247900" imgH="88900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2209801"/>
                        <a:ext cx="4425950" cy="175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5324646"/>
              </p:ext>
            </p:extLst>
          </p:nvPr>
        </p:nvGraphicFramePr>
        <p:xfrm>
          <a:off x="2636953" y="4750416"/>
          <a:ext cx="4275138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Equation" r:id="rId5" imgW="2171700" imgH="838200" progId="Equation.3">
                  <p:embed/>
                </p:oleObj>
              </mc:Choice>
              <mc:Fallback>
                <p:oleObj name="Equation" r:id="rId5" imgW="2171700" imgH="83820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953" y="4750416"/>
                        <a:ext cx="4275138" cy="165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4415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Title 1"/>
          <p:cNvSpPr>
            <a:spLocks noGrp="1"/>
          </p:cNvSpPr>
          <p:nvPr>
            <p:ph type="title"/>
          </p:nvPr>
        </p:nvSpPr>
        <p:spPr>
          <a:xfrm>
            <a:off x="1544708" y="635262"/>
            <a:ext cx="8911687" cy="675006"/>
          </a:xfrm>
        </p:spPr>
        <p:txBody>
          <a:bodyPr/>
          <a:lstStyle/>
          <a:p>
            <a:pPr eaLnBrk="1" hangingPunct="1">
              <a:defRPr/>
            </a:pPr>
            <a:endParaRPr lang="en-US" smtClean="0"/>
          </a:p>
        </p:txBody>
      </p:sp>
      <p:sp>
        <p:nvSpPr>
          <p:cNvPr id="2056" name="Content Placeholder 2"/>
          <p:cNvSpPr>
            <a:spLocks noGrp="1"/>
          </p:cNvSpPr>
          <p:nvPr>
            <p:ph idx="1"/>
          </p:nvPr>
        </p:nvSpPr>
        <p:spPr>
          <a:xfrm>
            <a:off x="1349297" y="1554164"/>
            <a:ext cx="10415239" cy="49990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m</a:t>
            </a:r>
            <a:r>
              <a:rPr lang="en-US" sz="2400" baseline="-25000" dirty="0"/>
              <a:t>2</a:t>
            </a:r>
            <a:r>
              <a:rPr lang="en-US" sz="2400" dirty="0"/>
              <a:t>, m</a:t>
            </a:r>
            <a:r>
              <a:rPr lang="en-US" sz="2400" baseline="-25000" dirty="0"/>
              <a:t>3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m</a:t>
            </a:r>
            <a:r>
              <a:rPr lang="en-US" sz="2400" baseline="-25000" dirty="0"/>
              <a:t>4 </a:t>
            </a:r>
            <a:r>
              <a:rPr lang="en-US" sz="2400" dirty="0" err="1"/>
              <a:t>momentele</a:t>
            </a:r>
            <a:r>
              <a:rPr lang="en-US" sz="2400" dirty="0"/>
              <a:t> </a:t>
            </a:r>
            <a:r>
              <a:rPr lang="en-US" sz="2400" dirty="0" err="1"/>
              <a:t>centrate</a:t>
            </a:r>
            <a:r>
              <a:rPr lang="en-US" sz="2400" dirty="0"/>
              <a:t> de </a:t>
            </a:r>
            <a:r>
              <a:rPr lang="en-US" sz="2400" dirty="0" err="1"/>
              <a:t>ordin</a:t>
            </a:r>
            <a:r>
              <a:rPr lang="en-US" sz="2400" dirty="0"/>
              <a:t> 2 3 </a:t>
            </a:r>
            <a:r>
              <a:rPr lang="en-US" sz="2400" dirty="0" err="1"/>
              <a:t>si</a:t>
            </a:r>
            <a:r>
              <a:rPr lang="en-US" sz="2400" dirty="0"/>
              <a:t> 4: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 smtClean="0"/>
              <a:t>iar</a:t>
            </a:r>
            <a:r>
              <a:rPr lang="en-US" sz="2400" dirty="0" smtClean="0"/>
              <a:t> </a:t>
            </a:r>
            <a:r>
              <a:rPr lang="en-US" sz="2400" dirty="0"/>
              <a:t>s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abaterea</a:t>
            </a:r>
            <a:r>
              <a:rPr lang="en-US" sz="2400" dirty="0"/>
              <a:t> standard s =</a:t>
            </a:r>
          </a:p>
          <a:p>
            <a:pPr marL="0" indent="0">
              <a:buNone/>
            </a:pPr>
            <a:r>
              <a:rPr lang="en-US" sz="2400" b="1" dirty="0" err="1">
                <a:solidFill>
                  <a:srgbClr val="FF0000"/>
                </a:solidFill>
              </a:rPr>
              <a:t>Calculul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statisticii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JB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 err="1">
                <a:solidFill>
                  <a:srgbClr val="FF0000"/>
                </a:solidFill>
              </a:rPr>
              <a:t>Formularea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deciziei</a:t>
            </a:r>
            <a:r>
              <a:rPr lang="en-US" sz="2400" dirty="0"/>
              <a:t>:  	     </a:t>
            </a:r>
            <a:r>
              <a:rPr lang="en-US" sz="2400" dirty="0" smtClean="0"/>
              <a:t>      </a:t>
            </a:r>
            <a:r>
              <a:rPr lang="en-US" sz="2400" dirty="0"/>
              <a:t>=&gt; AH</a:t>
            </a:r>
            <a:r>
              <a:rPr lang="en-US" sz="2400" baseline="-25000" dirty="0"/>
              <a:t>0</a:t>
            </a:r>
            <a:r>
              <a:rPr lang="en-US" sz="2400" dirty="0"/>
              <a:t> cu o </a:t>
            </a:r>
            <a:r>
              <a:rPr lang="en-US" sz="2400" dirty="0" err="1"/>
              <a:t>probabilitate</a:t>
            </a:r>
            <a:r>
              <a:rPr lang="en-US" sz="2400" dirty="0"/>
              <a:t>  1-</a:t>
            </a:r>
            <a:r>
              <a:rPr lang="el-GR" sz="2400" dirty="0"/>
              <a:t>α</a:t>
            </a:r>
            <a:endParaRPr lang="en-US" sz="2400" dirty="0"/>
          </a:p>
          <a:p>
            <a:pPr marL="0" indent="0" eaLnBrk="1" hangingPunct="1">
              <a:buNone/>
            </a:pPr>
            <a:r>
              <a:rPr lang="en-US" sz="2400" dirty="0"/>
              <a:t>			     	      </a:t>
            </a:r>
            <a:r>
              <a:rPr lang="en-US" sz="2400" dirty="0" smtClean="0"/>
              <a:t>				 </a:t>
            </a:r>
            <a:r>
              <a:rPr lang="en-US" sz="2400" dirty="0"/>
              <a:t>=&gt; RH</a:t>
            </a:r>
            <a:r>
              <a:rPr lang="en-US" sz="2400" baseline="-25000" dirty="0"/>
              <a:t>0</a:t>
            </a:r>
            <a:r>
              <a:rPr lang="en-US" sz="2400" dirty="0"/>
              <a:t> cu un </a:t>
            </a:r>
            <a:r>
              <a:rPr lang="en-US" sz="2400" dirty="0" err="1"/>
              <a:t>risc</a:t>
            </a:r>
            <a:r>
              <a:rPr lang="en-US" sz="2400" dirty="0"/>
              <a:t> </a:t>
            </a:r>
            <a:r>
              <a:rPr lang="en-US" sz="2400" dirty="0" err="1"/>
              <a:t>asumat</a:t>
            </a:r>
            <a:r>
              <a:rPr lang="en-US" sz="2400" dirty="0"/>
              <a:t> </a:t>
            </a:r>
            <a:r>
              <a:rPr lang="el-GR" sz="2400" i="1" dirty="0"/>
              <a:t>α</a:t>
            </a:r>
            <a:endParaRPr lang="en-US" sz="2400" i="1" dirty="0"/>
          </a:p>
          <a:p>
            <a:pPr marL="0" indent="0">
              <a:buNone/>
            </a:pPr>
            <a:endParaRPr lang="en-US" sz="2400" dirty="0"/>
          </a:p>
          <a:p>
            <a:pPr marL="0" indent="0" eaLnBrk="1" hangingPunct="1">
              <a:buNone/>
            </a:pPr>
            <a:endParaRPr lang="en-US" sz="2400" dirty="0"/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0892431"/>
              </p:ext>
            </p:extLst>
          </p:nvPr>
        </p:nvGraphicFramePr>
        <p:xfrm>
          <a:off x="4828405" y="2063548"/>
          <a:ext cx="1953005" cy="804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" name="Equation" r:id="rId3" imgW="1079032" imgH="444307" progId="Equation.3">
                  <p:embed/>
                </p:oleObj>
              </mc:Choice>
              <mc:Fallback>
                <p:oleObj name="Equation" r:id="rId3" imgW="1079032" imgH="444307" progId="Equation.3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8405" y="2063548"/>
                        <a:ext cx="1953005" cy="8040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899957"/>
              </p:ext>
            </p:extLst>
          </p:nvPr>
        </p:nvGraphicFramePr>
        <p:xfrm>
          <a:off x="4828405" y="2940701"/>
          <a:ext cx="5619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1" name="Equation" r:id="rId5" imgW="330057" imgH="253890" progId="Equation.3">
                  <p:embed/>
                </p:oleObj>
              </mc:Choice>
              <mc:Fallback>
                <p:oleObj name="Equation" r:id="rId5" imgW="330057" imgH="253890" progId="Equation.3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8405" y="2940701"/>
                        <a:ext cx="561975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429684"/>
              </p:ext>
            </p:extLst>
          </p:nvPr>
        </p:nvGraphicFramePr>
        <p:xfrm>
          <a:off x="3975507" y="4049392"/>
          <a:ext cx="5503030" cy="71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2" name="Equation" r:id="rId7" imgW="3225800" imgH="419100" progId="Equation.3">
                  <p:embed/>
                </p:oleObj>
              </mc:Choice>
              <mc:Fallback>
                <p:oleObj name="Equation" r:id="rId7" imgW="3225800" imgH="419100" progId="Equation.3">
                  <p:embed/>
                  <p:pic>
                    <p:nvPicPr>
                      <p:cNvPr id="0" name="Picture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5507" y="4049392"/>
                        <a:ext cx="5503030" cy="71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099358"/>
              </p:ext>
            </p:extLst>
          </p:nvPr>
        </p:nvGraphicFramePr>
        <p:xfrm>
          <a:off x="3856039" y="5008563"/>
          <a:ext cx="109696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" name="Equation" r:id="rId9" imgW="609336" imgH="253890" progId="Equation.3">
                  <p:embed/>
                </p:oleObj>
              </mc:Choice>
              <mc:Fallback>
                <p:oleObj name="Equation" r:id="rId9" imgW="609336" imgH="253890" progId="Equation.3">
                  <p:embed/>
                  <p:pic>
                    <p:nvPicPr>
                      <p:cNvPr id="0" name="Picture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6039" y="5008563"/>
                        <a:ext cx="1096962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6467853"/>
              </p:ext>
            </p:extLst>
          </p:nvPr>
        </p:nvGraphicFramePr>
        <p:xfrm>
          <a:off x="3856039" y="5517947"/>
          <a:ext cx="10969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" name="Equation" r:id="rId11" imgW="609336" imgH="253890" progId="Equation.3">
                  <p:embed/>
                </p:oleObj>
              </mc:Choice>
              <mc:Fallback>
                <p:oleObj name="Equation" r:id="rId11" imgW="609336" imgH="253890" progId="Equation.3">
                  <p:embed/>
                  <p:pic>
                    <p:nvPicPr>
                      <p:cNvPr id="0" name="Picture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6039" y="5517947"/>
                        <a:ext cx="1096963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73630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graphicFrame>
        <p:nvGraphicFramePr>
          <p:cNvPr id="56322" name="Object 2"/>
          <p:cNvGraphicFramePr>
            <a:graphicFrameLocks noChangeAspect="1"/>
          </p:cNvGraphicFramePr>
          <p:nvPr/>
        </p:nvGraphicFramePr>
        <p:xfrm>
          <a:off x="2066429" y="1507957"/>
          <a:ext cx="9147004" cy="4331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8" name="EViews" r:id="rId3" imgW="5977080" imgH="2580120" progId="EViews.Workfile.2">
                  <p:embed/>
                </p:oleObj>
              </mc:Choice>
              <mc:Fallback>
                <p:oleObj name="EViews" r:id="rId3" imgW="5977080" imgH="2580120" progId="EViews.Workfile.2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6429" y="1507957"/>
                        <a:ext cx="9147004" cy="43313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b="1" dirty="0" err="1" smtClean="0"/>
              <a:t>Testarea</a:t>
            </a:r>
            <a:r>
              <a:rPr lang="en-US" b="1" dirty="0" smtClean="0"/>
              <a:t> </a:t>
            </a:r>
            <a:r>
              <a:rPr lang="en-US" b="1" dirty="0" err="1" smtClean="0"/>
              <a:t>independentei</a:t>
            </a:r>
            <a:r>
              <a:rPr lang="en-US" b="1" dirty="0" smtClean="0"/>
              <a:t> </a:t>
            </a:r>
            <a:r>
              <a:rPr lang="en-US" b="1" dirty="0" err="1" smtClean="0"/>
              <a:t>erorilor</a:t>
            </a:r>
            <a:endParaRPr lang="en-US" b="1" dirty="0" smtClean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1752599" y="1219200"/>
            <a:ext cx="10346473" cy="5410200"/>
          </a:xfrm>
        </p:spPr>
        <p:txBody>
          <a:bodyPr rtlCol="0">
            <a:normAutofit lnSpcReduction="10000"/>
          </a:bodyPr>
          <a:lstStyle/>
          <a:p>
            <a:pPr marL="0" indent="166688">
              <a:buNone/>
              <a:defRPr/>
            </a:pPr>
            <a:r>
              <a:rPr lang="en-US" dirty="0" err="1"/>
              <a:t>Erorile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serii</a:t>
            </a:r>
            <a:r>
              <a:rPr lang="en-US" dirty="0"/>
              <a:t> de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i="1" dirty="0" err="1"/>
              <a:t>independente</a:t>
            </a:r>
            <a:r>
              <a:rPr lang="en-US" i="1" dirty="0"/>
              <a:t>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oricare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l-GR" dirty="0"/>
              <a:t>ε</a:t>
            </a:r>
            <a:r>
              <a:rPr lang="en-US" baseline="-25000" dirty="0"/>
              <a:t>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l-GR" dirty="0"/>
              <a:t>ε</a:t>
            </a:r>
            <a:r>
              <a:rPr lang="en-US" baseline="-25000" dirty="0" err="1"/>
              <a:t>t+k</a:t>
            </a:r>
            <a:r>
              <a:rPr lang="en-US" dirty="0"/>
              <a:t> </a:t>
            </a:r>
            <a:r>
              <a:rPr lang="en-US" dirty="0" err="1"/>
              <a:t>siutate</a:t>
            </a:r>
            <a:r>
              <a:rPr lang="en-US" dirty="0"/>
              <a:t> la o </a:t>
            </a:r>
            <a:r>
              <a:rPr lang="en-US" dirty="0" err="1"/>
              <a:t>distanta</a:t>
            </a:r>
            <a:r>
              <a:rPr lang="en-US" dirty="0"/>
              <a:t> de k </a:t>
            </a:r>
            <a:r>
              <a:rPr lang="en-US" dirty="0" err="1"/>
              <a:t>perioade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de </a:t>
            </a:r>
            <a:r>
              <a:rPr lang="en-US" dirty="0" err="1"/>
              <a:t>cealalta</a:t>
            </a:r>
            <a:r>
              <a:rPr lang="en-US" dirty="0"/>
              <a:t> (</a:t>
            </a:r>
            <a:r>
              <a:rPr lang="en-US" dirty="0" err="1"/>
              <a:t>decalaj</a:t>
            </a:r>
            <a:r>
              <a:rPr lang="en-US" dirty="0"/>
              <a:t>) nu </a:t>
            </a:r>
            <a:r>
              <a:rPr lang="en-US" dirty="0" err="1"/>
              <a:t>exista</a:t>
            </a:r>
            <a:r>
              <a:rPr lang="en-US" dirty="0"/>
              <a:t> o </a:t>
            </a:r>
            <a:r>
              <a:rPr lang="en-US" dirty="0" err="1"/>
              <a:t>legatura</a:t>
            </a:r>
            <a:r>
              <a:rPr lang="en-US" dirty="0"/>
              <a:t> </a:t>
            </a:r>
            <a:r>
              <a:rPr lang="en-US" dirty="0" err="1"/>
              <a:t>semnificativa</a:t>
            </a:r>
            <a:r>
              <a:rPr lang="en-US" dirty="0"/>
              <a:t> care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depinda</a:t>
            </a:r>
            <a:r>
              <a:rPr lang="en-US" dirty="0"/>
              <a:t> de t </a:t>
            </a:r>
            <a:r>
              <a:rPr lang="en-US" dirty="0" err="1"/>
              <a:t>sau</a:t>
            </a:r>
            <a:r>
              <a:rPr lang="en-US" dirty="0"/>
              <a:t> k. </a:t>
            </a:r>
          </a:p>
          <a:p>
            <a:pPr marL="0" indent="234950">
              <a:buNone/>
              <a:defRPr/>
            </a:pPr>
            <a:r>
              <a:rPr lang="en-US" dirty="0" err="1"/>
              <a:t>Testarea</a:t>
            </a:r>
            <a:r>
              <a:rPr lang="en-US" dirty="0"/>
              <a:t> </a:t>
            </a:r>
            <a:r>
              <a:rPr lang="en-US" dirty="0" err="1"/>
              <a:t>independentei</a:t>
            </a:r>
            <a:r>
              <a:rPr lang="en-US" dirty="0"/>
              <a:t> </a:t>
            </a:r>
            <a:r>
              <a:rPr lang="en-US" dirty="0" err="1"/>
              <a:t>eroirilor</a:t>
            </a:r>
            <a:r>
              <a:rPr lang="en-US" dirty="0"/>
              <a:t> de </a:t>
            </a:r>
            <a:r>
              <a:rPr lang="en-US" dirty="0" err="1"/>
              <a:t>modelare</a:t>
            </a:r>
            <a:r>
              <a:rPr lang="en-US" dirty="0"/>
              <a:t> se face cu </a:t>
            </a:r>
            <a:r>
              <a:rPr lang="en-US" dirty="0" err="1"/>
              <a:t>ajutorul</a:t>
            </a:r>
            <a:r>
              <a:rPr lang="en-US" dirty="0"/>
              <a:t> </a:t>
            </a:r>
            <a:r>
              <a:rPr lang="en-US" dirty="0" err="1" smtClean="0"/>
              <a:t>corelogramelor</a:t>
            </a:r>
            <a:r>
              <a:rPr lang="en-US" dirty="0" smtClean="0"/>
              <a:t> </a:t>
            </a:r>
            <a:r>
              <a:rPr lang="en-US" dirty="0" err="1"/>
              <a:t>si</a:t>
            </a:r>
            <a:r>
              <a:rPr lang="en-US" dirty="0"/>
              <a:t> a </a:t>
            </a:r>
            <a:r>
              <a:rPr lang="en-US" dirty="0" err="1"/>
              <a:t>testelor</a:t>
            </a:r>
            <a:r>
              <a:rPr lang="en-US" dirty="0"/>
              <a:t> </a:t>
            </a:r>
            <a:r>
              <a:rPr lang="en-US" dirty="0" err="1"/>
              <a:t>specifice</a:t>
            </a:r>
            <a:r>
              <a:rPr lang="en-US" dirty="0"/>
              <a:t> </a:t>
            </a:r>
            <a:r>
              <a:rPr lang="en-US" dirty="0" err="1" smtClean="0"/>
              <a:t>acestora</a:t>
            </a:r>
            <a:r>
              <a:rPr lang="en-US" dirty="0"/>
              <a:t>: </a:t>
            </a:r>
          </a:p>
          <a:p>
            <a:pPr>
              <a:buFontTx/>
              <a:buChar char="-"/>
              <a:defRPr/>
            </a:pPr>
            <a:r>
              <a:rPr lang="en-US" dirty="0" err="1"/>
              <a:t>Testul</a:t>
            </a:r>
            <a:r>
              <a:rPr lang="en-US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Ljung</a:t>
            </a:r>
            <a:r>
              <a:rPr lang="en-US" b="1" dirty="0">
                <a:solidFill>
                  <a:srgbClr val="FF0000"/>
                </a:solidFill>
              </a:rPr>
              <a:t>-Box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Statistica</a:t>
            </a:r>
            <a:r>
              <a:rPr lang="en-US" b="1" dirty="0">
                <a:solidFill>
                  <a:srgbClr val="FF0000"/>
                </a:solidFill>
              </a:rPr>
              <a:t> Q </a:t>
            </a:r>
            <a:r>
              <a:rPr lang="en-US" dirty="0" err="1"/>
              <a:t>utilizat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testarea</a:t>
            </a:r>
            <a:r>
              <a:rPr lang="en-US" dirty="0"/>
              <a:t> </a:t>
            </a:r>
            <a:r>
              <a:rPr lang="en-US" i="1" dirty="0" err="1"/>
              <a:t>coeficientilor</a:t>
            </a:r>
            <a:r>
              <a:rPr lang="en-US" i="1" dirty="0"/>
              <a:t> de </a:t>
            </a:r>
            <a:r>
              <a:rPr lang="en-US" i="1" dirty="0" err="1"/>
              <a:t>autocorelatie</a:t>
            </a:r>
            <a:endParaRPr lang="en-US" i="1" dirty="0"/>
          </a:p>
          <a:p>
            <a:pPr algn="just">
              <a:buFontTx/>
              <a:buChar char="-"/>
              <a:defRPr/>
            </a:pPr>
            <a:r>
              <a:rPr lang="en-US" b="1" dirty="0" err="1">
                <a:solidFill>
                  <a:srgbClr val="FF0000"/>
                </a:solidFill>
              </a:rPr>
              <a:t>Berusch</a:t>
            </a:r>
            <a:r>
              <a:rPr lang="en-US" b="1" dirty="0">
                <a:solidFill>
                  <a:srgbClr val="FF0000"/>
                </a:solidFill>
              </a:rPr>
              <a:t>-Godfrey LM test</a:t>
            </a:r>
          </a:p>
          <a:p>
            <a:pPr algn="just">
              <a:buFontTx/>
              <a:buChar char="-"/>
              <a:defRPr/>
            </a:pPr>
            <a:r>
              <a:rPr lang="en-US" b="1" dirty="0" err="1">
                <a:solidFill>
                  <a:srgbClr val="FF0000"/>
                </a:solidFill>
              </a:rPr>
              <a:t>Testul</a:t>
            </a:r>
            <a:r>
              <a:rPr lang="en-US" b="1" dirty="0">
                <a:solidFill>
                  <a:srgbClr val="FF0000"/>
                </a:solidFill>
              </a:rPr>
              <a:t> de </a:t>
            </a:r>
            <a:r>
              <a:rPr lang="en-US" b="1" dirty="0" err="1">
                <a:solidFill>
                  <a:srgbClr val="FF0000"/>
                </a:solidFill>
              </a:rPr>
              <a:t>banda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~ ±2/(√T) </a:t>
            </a:r>
            <a:r>
              <a:rPr lang="en-US" dirty="0" err="1"/>
              <a:t>utilizat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testarea</a:t>
            </a:r>
            <a:r>
              <a:rPr lang="en-US" dirty="0"/>
              <a:t> </a:t>
            </a:r>
            <a:r>
              <a:rPr lang="en-US" i="1" dirty="0" err="1"/>
              <a:t>coeficientilor</a:t>
            </a:r>
            <a:r>
              <a:rPr lang="en-US" i="1" dirty="0"/>
              <a:t> </a:t>
            </a:r>
            <a:r>
              <a:rPr lang="en-US" i="1" dirty="0" err="1"/>
              <a:t>partiali</a:t>
            </a:r>
            <a:r>
              <a:rPr lang="en-US" i="1" dirty="0"/>
              <a:t> de </a:t>
            </a:r>
            <a:r>
              <a:rPr lang="en-US" i="1" dirty="0" err="1"/>
              <a:t>autocorelatie</a:t>
            </a:r>
            <a:r>
              <a:rPr lang="en-US" dirty="0"/>
              <a:t>.</a:t>
            </a:r>
          </a:p>
          <a:p>
            <a:pPr algn="just">
              <a:buNone/>
              <a:defRPr/>
            </a:pPr>
            <a:r>
              <a:rPr lang="en-US" b="1" dirty="0"/>
              <a:t>H</a:t>
            </a:r>
            <a:r>
              <a:rPr lang="en-US" b="1" baseline="-25000" dirty="0"/>
              <a:t>0</a:t>
            </a:r>
            <a:r>
              <a:rPr lang="en-US" dirty="0"/>
              <a:t>:</a:t>
            </a:r>
            <a:r>
              <a:rPr lang="en-US" i="1" dirty="0"/>
              <a:t> nu </a:t>
            </a:r>
            <a:r>
              <a:rPr lang="en-US" i="1" dirty="0" err="1"/>
              <a:t>exista</a:t>
            </a:r>
            <a:r>
              <a:rPr lang="en-US" i="1" dirty="0"/>
              <a:t> </a:t>
            </a:r>
            <a:r>
              <a:rPr lang="en-US" i="1" dirty="0" err="1"/>
              <a:t>autocorelatii</a:t>
            </a:r>
            <a:r>
              <a:rPr lang="en-US" i="1" dirty="0"/>
              <a:t> in </a:t>
            </a:r>
            <a:r>
              <a:rPr lang="en-US" i="1" dirty="0" err="1"/>
              <a:t>erorile</a:t>
            </a:r>
            <a:r>
              <a:rPr lang="en-US" i="1" dirty="0"/>
              <a:t> de </a:t>
            </a:r>
            <a:r>
              <a:rPr lang="en-US" i="1" dirty="0" err="1"/>
              <a:t>modelare</a:t>
            </a:r>
            <a:r>
              <a:rPr lang="en-US" i="1" dirty="0"/>
              <a:t> </a:t>
            </a:r>
            <a:r>
              <a:rPr lang="en-US" i="1" dirty="0" err="1"/>
              <a:t>mai</a:t>
            </a:r>
            <a:r>
              <a:rPr lang="en-US" i="1" dirty="0"/>
              <a:t> </a:t>
            </a:r>
            <a:r>
              <a:rPr lang="en-US" i="1" dirty="0" err="1"/>
              <a:t>mari</a:t>
            </a:r>
            <a:r>
              <a:rPr lang="en-US" i="1" dirty="0"/>
              <a:t> </a:t>
            </a:r>
            <a:r>
              <a:rPr lang="en-US" i="1" dirty="0" err="1"/>
              <a:t>decat</a:t>
            </a:r>
            <a:r>
              <a:rPr lang="en-US" i="1" dirty="0"/>
              <a:t> </a:t>
            </a:r>
            <a:r>
              <a:rPr lang="en-US" i="1" dirty="0" err="1"/>
              <a:t>ordinul</a:t>
            </a:r>
            <a:r>
              <a:rPr lang="en-US" i="1" dirty="0"/>
              <a:t> </a:t>
            </a:r>
            <a:r>
              <a:rPr lang="en-US" i="1" dirty="0" err="1"/>
              <a:t>specificat</a:t>
            </a:r>
            <a:r>
              <a:rPr lang="en-US" i="1" dirty="0"/>
              <a:t> (p)</a:t>
            </a:r>
          </a:p>
          <a:p>
            <a:pPr algn="ctr">
              <a:buNone/>
              <a:defRPr/>
            </a:pPr>
            <a:r>
              <a:rPr lang="en-US" dirty="0" err="1" smtClean="0"/>
              <a:t>ε</a:t>
            </a:r>
            <a:r>
              <a:rPr lang="en-US" baseline="-25000" dirty="0" err="1" smtClean="0"/>
              <a:t>t</a:t>
            </a:r>
            <a:r>
              <a:rPr lang="en-US" dirty="0"/>
              <a:t>= </a:t>
            </a:r>
            <a:r>
              <a:rPr lang="el-GR" dirty="0"/>
              <a:t>φ</a:t>
            </a:r>
            <a:r>
              <a:rPr lang="en-US" baseline="-25000" dirty="0"/>
              <a:t>1</a:t>
            </a:r>
            <a:r>
              <a:rPr lang="en-US" dirty="0"/>
              <a:t> ε</a:t>
            </a:r>
            <a:r>
              <a:rPr lang="en-US" baseline="-25000" dirty="0"/>
              <a:t>t-1</a:t>
            </a:r>
            <a:r>
              <a:rPr lang="en-US" dirty="0"/>
              <a:t>+  </a:t>
            </a:r>
            <a:r>
              <a:rPr lang="el-GR" dirty="0"/>
              <a:t>φ</a:t>
            </a:r>
            <a:r>
              <a:rPr lang="en-US" baseline="-25000" dirty="0"/>
              <a:t>2</a:t>
            </a:r>
            <a:r>
              <a:rPr lang="en-US" dirty="0"/>
              <a:t>ε</a:t>
            </a:r>
            <a:r>
              <a:rPr lang="en-US" baseline="-25000" dirty="0"/>
              <a:t>t-2</a:t>
            </a:r>
            <a:r>
              <a:rPr lang="en-US" dirty="0"/>
              <a:t>+  </a:t>
            </a:r>
            <a:r>
              <a:rPr lang="el-GR" dirty="0"/>
              <a:t>φ</a:t>
            </a:r>
            <a:r>
              <a:rPr lang="en-US" baseline="-25000" dirty="0"/>
              <a:t>3</a:t>
            </a:r>
            <a:r>
              <a:rPr lang="en-US" dirty="0"/>
              <a:t>ε</a:t>
            </a:r>
            <a:r>
              <a:rPr lang="en-US" baseline="-25000" dirty="0"/>
              <a:t>t-3</a:t>
            </a:r>
            <a:r>
              <a:rPr lang="en-US" dirty="0"/>
              <a:t>+ ….+ </a:t>
            </a:r>
            <a:r>
              <a:rPr lang="el-GR" dirty="0"/>
              <a:t>φ</a:t>
            </a:r>
            <a:r>
              <a:rPr lang="en-US" baseline="-25000" dirty="0" err="1"/>
              <a:t>p</a:t>
            </a:r>
            <a:r>
              <a:rPr lang="en-US" dirty="0" err="1"/>
              <a:t>ε</a:t>
            </a:r>
            <a:r>
              <a:rPr lang="en-US" baseline="-25000" dirty="0" err="1"/>
              <a:t>t</a:t>
            </a:r>
            <a:r>
              <a:rPr lang="en-US" baseline="-25000" dirty="0"/>
              <a:t>-p</a:t>
            </a:r>
            <a:r>
              <a:rPr lang="en-US" dirty="0"/>
              <a:t>+ </a:t>
            </a:r>
            <a:r>
              <a:rPr lang="en-US" dirty="0" err="1"/>
              <a:t>u</a:t>
            </a:r>
            <a:r>
              <a:rPr lang="en-US" baseline="-25000" dirty="0" err="1"/>
              <a:t>t</a:t>
            </a:r>
            <a:r>
              <a:rPr lang="en-US" dirty="0"/>
              <a:t>, cu </a:t>
            </a:r>
            <a:r>
              <a:rPr lang="en-US" dirty="0" err="1"/>
              <a:t>u</a:t>
            </a:r>
            <a:r>
              <a:rPr lang="en-US" baseline="-25000" dirty="0" err="1"/>
              <a:t>t</a:t>
            </a:r>
            <a:r>
              <a:rPr lang="en-US" dirty="0"/>
              <a:t> IIND de </a:t>
            </a:r>
            <a:r>
              <a:rPr lang="en-US" dirty="0" err="1"/>
              <a:t>medie</a:t>
            </a:r>
            <a:r>
              <a:rPr lang="en-US" dirty="0"/>
              <a:t> zero. </a:t>
            </a:r>
          </a:p>
          <a:p>
            <a:pPr algn="just">
              <a:buNone/>
              <a:defRPr/>
            </a:pP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101361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563137"/>
            <a:ext cx="10097430" cy="485078"/>
          </a:xfrm>
        </p:spPr>
        <p:txBody>
          <a:bodyPr rtlCol="0">
            <a:noAutofit/>
          </a:bodyPr>
          <a:lstStyle/>
          <a:p>
            <a:pPr>
              <a:defRPr/>
            </a:pPr>
            <a:r>
              <a:rPr lang="en-US" sz="2800" b="1" dirty="0" err="1"/>
              <a:t>Testul</a:t>
            </a:r>
            <a:r>
              <a:rPr lang="en-US" sz="2800" b="1" dirty="0"/>
              <a:t> BREUSCH-GODFREY (BG) </a:t>
            </a:r>
            <a:r>
              <a:rPr lang="en-US" sz="2800" b="1" dirty="0" err="1"/>
              <a:t>sau</a:t>
            </a:r>
            <a:r>
              <a:rPr lang="en-US" sz="2800" b="1" dirty="0"/>
              <a:t> </a:t>
            </a:r>
            <a:r>
              <a:rPr lang="en-US" sz="2800" b="1" dirty="0" err="1"/>
              <a:t>testul</a:t>
            </a:r>
            <a:r>
              <a:rPr lang="en-US" sz="2800" b="1" dirty="0"/>
              <a:t> </a:t>
            </a:r>
            <a:r>
              <a:rPr lang="en-US" sz="2800" b="1" dirty="0" err="1"/>
              <a:t>corelatiei</a:t>
            </a:r>
            <a:r>
              <a:rPr lang="en-US" sz="2800" b="1" dirty="0"/>
              <a:t> </a:t>
            </a:r>
            <a:r>
              <a:rPr lang="en-US" sz="2800" b="1" dirty="0" err="1"/>
              <a:t>seriale</a:t>
            </a:r>
            <a:r>
              <a:rPr lang="en-US" sz="2800" b="1" dirty="0"/>
              <a:t> LM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1600200" y="1463676"/>
            <a:ext cx="10591800" cy="4784725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buNone/>
            </a:pPr>
            <a:r>
              <a:rPr lang="en-US" dirty="0"/>
              <a:t>Pp. ca </a:t>
            </a:r>
            <a:r>
              <a:rPr lang="en-US" dirty="0" err="1"/>
              <a:t>urmatorul</a:t>
            </a:r>
            <a:r>
              <a:rPr lang="en-US" dirty="0"/>
              <a:t> model </a:t>
            </a:r>
            <a:r>
              <a:rPr lang="en-US" dirty="0" err="1"/>
              <a:t>liniar</a:t>
            </a:r>
            <a:r>
              <a:rPr lang="en-US" dirty="0"/>
              <a:t>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estimat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smtClean="0"/>
              <a:t>m. </a:t>
            </a:r>
            <a:r>
              <a:rPr lang="en-US" dirty="0" err="1"/>
              <a:t>c.m.m.p</a:t>
            </a:r>
            <a:r>
              <a:rPr lang="en-US" dirty="0"/>
              <a:t>.:</a:t>
            </a:r>
          </a:p>
          <a:p>
            <a:pPr marL="0" indent="0" algn="ctr" eaLnBrk="1" hangingPunct="1">
              <a:buNone/>
            </a:pPr>
            <a:r>
              <a:rPr lang="en-US" b="1" dirty="0" err="1"/>
              <a:t>y</a:t>
            </a:r>
            <a:r>
              <a:rPr lang="en-US" b="1" baseline="-25000" dirty="0" err="1"/>
              <a:t>t</a:t>
            </a:r>
            <a:r>
              <a:rPr lang="en-US" b="1" dirty="0"/>
              <a:t>= </a:t>
            </a:r>
            <a:r>
              <a:rPr lang="el-GR" b="1" dirty="0"/>
              <a:t>β</a:t>
            </a:r>
            <a:r>
              <a:rPr lang="en-US" b="1" baseline="-25000" dirty="0"/>
              <a:t>1</a:t>
            </a:r>
            <a:r>
              <a:rPr lang="en-US" b="1" dirty="0"/>
              <a:t> +</a:t>
            </a:r>
            <a:r>
              <a:rPr lang="el-GR" b="1" dirty="0"/>
              <a:t>β</a:t>
            </a:r>
            <a:r>
              <a:rPr lang="en-US" b="1" baseline="-25000" dirty="0"/>
              <a:t>2</a:t>
            </a:r>
            <a:r>
              <a:rPr lang="en-US" b="1" dirty="0"/>
              <a:t>x</a:t>
            </a:r>
            <a:r>
              <a:rPr lang="en-US" b="1" baseline="-25000" dirty="0"/>
              <a:t>t</a:t>
            </a:r>
            <a:r>
              <a:rPr lang="en-US" b="1" dirty="0"/>
              <a:t>+</a:t>
            </a:r>
            <a:r>
              <a:rPr lang="el-GR" b="1" dirty="0"/>
              <a:t> β</a:t>
            </a:r>
            <a:r>
              <a:rPr lang="en-US" b="1" baseline="-25000" dirty="0"/>
              <a:t>3</a:t>
            </a:r>
            <a:r>
              <a:rPr lang="en-US" b="1" dirty="0"/>
              <a:t>z</a:t>
            </a:r>
            <a:r>
              <a:rPr lang="en-US" b="1" baseline="-25000" dirty="0"/>
              <a:t>t</a:t>
            </a:r>
            <a:r>
              <a:rPr lang="en-US" b="1" dirty="0"/>
              <a:t>+</a:t>
            </a:r>
            <a:r>
              <a:rPr lang="el-GR" b="1" dirty="0"/>
              <a:t>ε</a:t>
            </a:r>
            <a:r>
              <a:rPr lang="en-US" b="1" baseline="-25000" dirty="0"/>
              <a:t>t</a:t>
            </a:r>
          </a:p>
          <a:p>
            <a:pPr marL="0" indent="0" eaLnBrk="1" hangingPunct="1">
              <a:buNone/>
            </a:pP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eroarea</a:t>
            </a:r>
            <a:r>
              <a:rPr lang="en-US" dirty="0"/>
              <a:t> de </a:t>
            </a:r>
            <a:r>
              <a:rPr lang="en-US" dirty="0" err="1"/>
              <a:t>modelare</a:t>
            </a:r>
            <a:r>
              <a:rPr lang="en-US" dirty="0"/>
              <a:t> </a:t>
            </a:r>
            <a:r>
              <a:rPr lang="el-GR" dirty="0"/>
              <a:t>ε</a:t>
            </a:r>
            <a:r>
              <a:rPr lang="en-US" baseline="-25000" dirty="0"/>
              <a:t>t</a:t>
            </a:r>
            <a:r>
              <a:rPr lang="en-US" dirty="0"/>
              <a:t> se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construi</a:t>
            </a:r>
            <a:r>
              <a:rPr lang="en-US" dirty="0"/>
              <a:t> </a:t>
            </a:r>
            <a:r>
              <a:rPr lang="en-US" dirty="0" err="1"/>
              <a:t>modelul</a:t>
            </a:r>
            <a:r>
              <a:rPr lang="en-US" dirty="0"/>
              <a:t> de </a:t>
            </a:r>
            <a:r>
              <a:rPr lang="en-US" dirty="0" err="1"/>
              <a:t>regresie</a:t>
            </a:r>
            <a:r>
              <a:rPr lang="en-US" dirty="0"/>
              <a:t> </a:t>
            </a:r>
            <a:r>
              <a:rPr lang="en-US" dirty="0" err="1"/>
              <a:t>auxiliar</a:t>
            </a:r>
            <a:r>
              <a:rPr lang="en-US" dirty="0"/>
              <a:t>: </a:t>
            </a:r>
            <a:endParaRPr lang="en-US" dirty="0" smtClean="0"/>
          </a:p>
          <a:p>
            <a:pPr marL="0" indent="0" algn="ctr" eaLnBrk="1" hangingPunct="1">
              <a:buNone/>
            </a:pPr>
            <a:r>
              <a:rPr lang="en-US" b="1" dirty="0" err="1" smtClean="0"/>
              <a:t>ε</a:t>
            </a:r>
            <a:r>
              <a:rPr lang="en-US" b="1" baseline="-25000" dirty="0" err="1" smtClean="0"/>
              <a:t>t</a:t>
            </a:r>
            <a:r>
              <a:rPr lang="en-US" b="1" dirty="0"/>
              <a:t>= </a:t>
            </a:r>
            <a:r>
              <a:rPr lang="el-GR" b="1" dirty="0"/>
              <a:t>φ</a:t>
            </a:r>
            <a:r>
              <a:rPr lang="en-US" b="1" baseline="-25000" dirty="0"/>
              <a:t>1</a:t>
            </a:r>
            <a:r>
              <a:rPr lang="en-US" b="1" dirty="0"/>
              <a:t> ε</a:t>
            </a:r>
            <a:r>
              <a:rPr lang="en-US" b="1" baseline="-25000" dirty="0"/>
              <a:t>t-1</a:t>
            </a:r>
            <a:r>
              <a:rPr lang="en-US" b="1" dirty="0"/>
              <a:t>+  </a:t>
            </a:r>
            <a:r>
              <a:rPr lang="el-GR" b="1" dirty="0"/>
              <a:t>φ</a:t>
            </a:r>
            <a:r>
              <a:rPr lang="en-US" b="1" baseline="-25000" dirty="0"/>
              <a:t>2</a:t>
            </a:r>
            <a:r>
              <a:rPr lang="en-US" b="1" dirty="0"/>
              <a:t>ε</a:t>
            </a:r>
            <a:r>
              <a:rPr lang="en-US" b="1" baseline="-25000" dirty="0"/>
              <a:t>t-2</a:t>
            </a:r>
            <a:r>
              <a:rPr lang="en-US" b="1" dirty="0"/>
              <a:t>+ ….+ </a:t>
            </a:r>
            <a:r>
              <a:rPr lang="el-GR" b="1" dirty="0"/>
              <a:t>φ</a:t>
            </a:r>
            <a:r>
              <a:rPr lang="en-US" b="1" baseline="-25000" dirty="0" err="1"/>
              <a:t>p</a:t>
            </a:r>
            <a:r>
              <a:rPr lang="en-US" b="1" dirty="0" err="1"/>
              <a:t>ε</a:t>
            </a:r>
            <a:r>
              <a:rPr lang="en-US" b="1" baseline="-25000" dirty="0" err="1"/>
              <a:t>t</a:t>
            </a:r>
            <a:r>
              <a:rPr lang="en-US" b="1" baseline="-25000" dirty="0"/>
              <a:t>-p</a:t>
            </a:r>
            <a:r>
              <a:rPr lang="en-US" b="1" dirty="0"/>
              <a:t>+ </a:t>
            </a:r>
            <a:r>
              <a:rPr lang="el-GR" b="1" dirty="0"/>
              <a:t>β</a:t>
            </a:r>
            <a:r>
              <a:rPr lang="en-US" b="1" dirty="0"/>
              <a:t>’</a:t>
            </a:r>
            <a:r>
              <a:rPr lang="en-US" b="1" baseline="-25000" dirty="0"/>
              <a:t>1</a:t>
            </a:r>
            <a:r>
              <a:rPr lang="en-US" b="1" dirty="0"/>
              <a:t> +</a:t>
            </a:r>
            <a:r>
              <a:rPr lang="el-GR" b="1" dirty="0"/>
              <a:t>β</a:t>
            </a:r>
            <a:r>
              <a:rPr lang="en-US" b="1" dirty="0"/>
              <a:t>’</a:t>
            </a:r>
            <a:r>
              <a:rPr lang="en-US" b="1" baseline="-25000" dirty="0"/>
              <a:t>2</a:t>
            </a:r>
            <a:r>
              <a:rPr lang="en-US" b="1" dirty="0"/>
              <a:t> </a:t>
            </a:r>
            <a:r>
              <a:rPr lang="en-US" b="1" dirty="0" err="1"/>
              <a:t>x</a:t>
            </a:r>
            <a:r>
              <a:rPr lang="en-US" b="1" baseline="-25000" dirty="0" err="1"/>
              <a:t>t</a:t>
            </a:r>
            <a:r>
              <a:rPr lang="en-US" b="1" dirty="0"/>
              <a:t>+</a:t>
            </a:r>
            <a:r>
              <a:rPr lang="el-GR" b="1" dirty="0"/>
              <a:t> β</a:t>
            </a:r>
            <a:r>
              <a:rPr lang="en-US" b="1" dirty="0"/>
              <a:t>’</a:t>
            </a:r>
            <a:r>
              <a:rPr lang="en-US" b="1" baseline="-25000" dirty="0"/>
              <a:t>3</a:t>
            </a:r>
            <a:r>
              <a:rPr lang="en-US" b="1" dirty="0"/>
              <a:t>z</a:t>
            </a:r>
            <a:r>
              <a:rPr lang="en-US" b="1" baseline="-25000" dirty="0"/>
              <a:t>t</a:t>
            </a:r>
            <a:r>
              <a:rPr lang="en-US" b="1" dirty="0"/>
              <a:t>+ </a:t>
            </a:r>
            <a:r>
              <a:rPr lang="en-US" b="1" dirty="0" err="1"/>
              <a:t>u</a:t>
            </a:r>
            <a:r>
              <a:rPr lang="en-US" b="1" baseline="-25000" dirty="0" err="1"/>
              <a:t>t</a:t>
            </a:r>
            <a:endParaRPr lang="en-US" b="1" dirty="0"/>
          </a:p>
          <a:p>
            <a:pPr marL="0" indent="0" eaLnBrk="1" hangingPunct="1">
              <a:buNone/>
            </a:pPr>
            <a:r>
              <a:rPr lang="en-US" dirty="0"/>
              <a:t>In </a:t>
            </a:r>
            <a:r>
              <a:rPr lang="en-US" dirty="0" err="1"/>
              <a:t>Eviews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fi</a:t>
            </a:r>
            <a:r>
              <a:rPr lang="en-US" dirty="0"/>
              <a:t> calculate 2 </a:t>
            </a:r>
            <a:r>
              <a:rPr lang="en-US" dirty="0" err="1"/>
              <a:t>statistici</a:t>
            </a:r>
            <a:r>
              <a:rPr lang="en-US" dirty="0"/>
              <a:t>:</a:t>
            </a:r>
          </a:p>
          <a:p>
            <a:pPr marL="0" indent="0" eaLnBrk="1" hangingPunct="1">
              <a:buNone/>
            </a:pPr>
            <a:r>
              <a:rPr lang="en-US" dirty="0"/>
              <a:t>- </a:t>
            </a:r>
            <a:r>
              <a:rPr lang="en-US" dirty="0" err="1"/>
              <a:t>Statistica</a:t>
            </a:r>
            <a:r>
              <a:rPr lang="en-US" dirty="0"/>
              <a:t> </a:t>
            </a:r>
            <a:r>
              <a:rPr lang="en-US" b="1" dirty="0"/>
              <a:t>nR</a:t>
            </a:r>
            <a:r>
              <a:rPr lang="en-US" b="1" baseline="30000" dirty="0"/>
              <a:t>2</a:t>
            </a:r>
            <a:r>
              <a:rPr lang="en-US" dirty="0"/>
              <a:t>, </a:t>
            </a:r>
            <a:r>
              <a:rPr lang="en-US" dirty="0" err="1"/>
              <a:t>prin</a:t>
            </a:r>
            <a:r>
              <a:rPr lang="en-US" dirty="0"/>
              <a:t> care se </a:t>
            </a:r>
            <a:r>
              <a:rPr lang="en-US" dirty="0" err="1"/>
              <a:t>testeaza</a:t>
            </a:r>
            <a:r>
              <a:rPr lang="en-US" dirty="0"/>
              <a:t> </a:t>
            </a:r>
            <a:r>
              <a:rPr lang="en-US" dirty="0" err="1"/>
              <a:t>ipoteza</a:t>
            </a:r>
            <a:r>
              <a:rPr lang="en-US" dirty="0"/>
              <a:t> H</a:t>
            </a:r>
            <a:r>
              <a:rPr lang="en-US" baseline="-25000" dirty="0"/>
              <a:t>0</a:t>
            </a:r>
            <a:r>
              <a:rPr lang="en-US" dirty="0"/>
              <a:t>, care </a:t>
            </a:r>
            <a:r>
              <a:rPr lang="en-US" dirty="0" err="1"/>
              <a:t>urmeaza</a:t>
            </a:r>
            <a:r>
              <a:rPr lang="en-US" dirty="0"/>
              <a:t> o </a:t>
            </a:r>
            <a:r>
              <a:rPr lang="en-US" dirty="0" err="1"/>
              <a:t>distributie</a:t>
            </a:r>
            <a:r>
              <a:rPr lang="en-US" dirty="0"/>
              <a:t> </a:t>
            </a:r>
            <a:r>
              <a:rPr lang="el-GR" dirty="0"/>
              <a:t>χ</a:t>
            </a:r>
            <a:r>
              <a:rPr lang="en-US" baseline="30000" dirty="0"/>
              <a:t>2</a:t>
            </a:r>
            <a:r>
              <a:rPr lang="en-US" dirty="0"/>
              <a:t>(p): </a:t>
            </a:r>
            <a:r>
              <a:rPr lang="en-US" b="1" dirty="0"/>
              <a:t>BG(p)=nR</a:t>
            </a:r>
            <a:r>
              <a:rPr lang="en-US" b="1" baseline="30000" dirty="0"/>
              <a:t>2</a:t>
            </a:r>
            <a:r>
              <a:rPr lang="en-US" b="1" dirty="0"/>
              <a:t>~</a:t>
            </a:r>
            <a:r>
              <a:rPr lang="el-GR" b="1" dirty="0"/>
              <a:t>χ</a:t>
            </a:r>
            <a:r>
              <a:rPr lang="en-US" b="1" baseline="30000" dirty="0"/>
              <a:t>2</a:t>
            </a:r>
            <a:r>
              <a:rPr lang="en-US" b="1" dirty="0"/>
              <a:t>(p)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n=T nr. obs./ per. de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observate</a:t>
            </a:r>
            <a:r>
              <a:rPr lang="en-US" dirty="0"/>
              <a:t>.</a:t>
            </a:r>
          </a:p>
          <a:p>
            <a:pPr marL="0" indent="0" eaLnBrk="1" hangingPunct="1">
              <a:buNone/>
            </a:pPr>
            <a:r>
              <a:rPr lang="en-US" dirty="0" err="1"/>
              <a:t>Statistica</a:t>
            </a:r>
            <a:r>
              <a:rPr lang="en-US" dirty="0"/>
              <a:t> F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testarea</a:t>
            </a:r>
            <a:r>
              <a:rPr lang="en-US" dirty="0"/>
              <a:t> </a:t>
            </a:r>
            <a:r>
              <a:rPr lang="en-US" dirty="0" err="1"/>
              <a:t>simultana</a:t>
            </a:r>
            <a:r>
              <a:rPr lang="en-US" dirty="0"/>
              <a:t> a </a:t>
            </a:r>
            <a:r>
              <a:rPr lang="en-US" dirty="0" err="1"/>
              <a:t>parametrilor</a:t>
            </a:r>
            <a:r>
              <a:rPr lang="en-US" dirty="0"/>
              <a:t> </a:t>
            </a:r>
            <a:r>
              <a:rPr lang="en-US" dirty="0" err="1"/>
              <a:t>modelului</a:t>
            </a:r>
            <a:r>
              <a:rPr lang="en-US" dirty="0"/>
              <a:t>:  </a:t>
            </a:r>
            <a:r>
              <a:rPr lang="el-GR" dirty="0"/>
              <a:t>φ</a:t>
            </a:r>
            <a:r>
              <a:rPr lang="en-US" baseline="-25000" dirty="0"/>
              <a:t>1</a:t>
            </a:r>
            <a:r>
              <a:rPr lang="en-US" dirty="0"/>
              <a:t>=</a:t>
            </a:r>
            <a:r>
              <a:rPr lang="el-GR" dirty="0"/>
              <a:t>φ</a:t>
            </a:r>
            <a:r>
              <a:rPr lang="en-US" baseline="-25000" dirty="0"/>
              <a:t>2</a:t>
            </a:r>
            <a:r>
              <a:rPr lang="en-US" dirty="0"/>
              <a:t>= ….=</a:t>
            </a:r>
            <a:r>
              <a:rPr lang="el-GR" dirty="0"/>
              <a:t>φ</a:t>
            </a:r>
            <a:r>
              <a:rPr lang="en-US" baseline="-25000" dirty="0"/>
              <a:t>p</a:t>
            </a:r>
            <a:r>
              <a:rPr lang="en-US" dirty="0"/>
              <a:t> ne </a:t>
            </a:r>
            <a:r>
              <a:rPr lang="en-US" dirty="0" err="1"/>
              <a:t>va</a:t>
            </a:r>
            <a:r>
              <a:rPr lang="en-US" dirty="0"/>
              <a:t> conduce la o </a:t>
            </a:r>
            <a:r>
              <a:rPr lang="en-US" dirty="0" err="1"/>
              <a:t>decizie</a:t>
            </a:r>
            <a:r>
              <a:rPr lang="en-US" dirty="0"/>
              <a:t> </a:t>
            </a:r>
            <a:r>
              <a:rPr lang="en-US" dirty="0" err="1"/>
              <a:t>incerta</a:t>
            </a:r>
            <a:r>
              <a:rPr lang="en-US" dirty="0"/>
              <a:t>, </a:t>
            </a:r>
            <a:r>
              <a:rPr lang="en-US" dirty="0" err="1"/>
              <a:t>deoarece</a:t>
            </a:r>
            <a:r>
              <a:rPr lang="en-US" dirty="0"/>
              <a:t> nu se </a:t>
            </a:r>
            <a:r>
              <a:rPr lang="en-US" dirty="0" err="1"/>
              <a:t>cunoaste</a:t>
            </a:r>
            <a:r>
              <a:rPr lang="en-US" dirty="0"/>
              <a:t> </a:t>
            </a:r>
            <a:r>
              <a:rPr lang="en-US" dirty="0" err="1"/>
              <a:t>distributia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F in </a:t>
            </a:r>
            <a:r>
              <a:rPr lang="en-US" dirty="0" err="1"/>
              <a:t>conditiile</a:t>
            </a:r>
            <a:r>
              <a:rPr lang="en-US" dirty="0"/>
              <a:t> </a:t>
            </a:r>
            <a:r>
              <a:rPr lang="en-US" dirty="0" err="1"/>
              <a:t>indeplinirii</a:t>
            </a:r>
            <a:r>
              <a:rPr lang="en-US" dirty="0"/>
              <a:t> H</a:t>
            </a:r>
            <a:r>
              <a:rPr lang="en-US" baseline="-25000" dirty="0"/>
              <a:t>0</a:t>
            </a:r>
            <a:r>
              <a:rPr lang="en-US" dirty="0"/>
              <a:t>.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decizie</a:t>
            </a:r>
            <a:r>
              <a:rPr lang="en-US" dirty="0"/>
              <a:t> are </a:t>
            </a:r>
            <a:r>
              <a:rPr lang="en-US" dirty="0" err="1"/>
              <a:t>scopul</a:t>
            </a:r>
            <a:r>
              <a:rPr lang="en-US" dirty="0"/>
              <a:t> de a </a:t>
            </a:r>
            <a:r>
              <a:rPr lang="en-US" dirty="0" err="1"/>
              <a:t>oferi</a:t>
            </a:r>
            <a:r>
              <a:rPr lang="en-US" dirty="0"/>
              <a:t> </a:t>
            </a:r>
            <a:r>
              <a:rPr lang="en-US" dirty="0" err="1"/>
              <a:t>termen</a:t>
            </a:r>
            <a:r>
              <a:rPr lang="en-US" dirty="0"/>
              <a:t> de </a:t>
            </a:r>
            <a:r>
              <a:rPr lang="en-US" dirty="0" err="1"/>
              <a:t>comparatie</a:t>
            </a:r>
            <a:r>
              <a:rPr lang="en-US" dirty="0"/>
              <a:t> cu </a:t>
            </a:r>
            <a:r>
              <a:rPr lang="en-US" dirty="0" err="1"/>
              <a:t>statistica</a:t>
            </a:r>
            <a:r>
              <a:rPr lang="en-US" dirty="0"/>
              <a:t> </a:t>
            </a:r>
            <a:r>
              <a:rPr lang="en-US" b="1" dirty="0"/>
              <a:t>BG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9036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endParaRPr lang="en-US" smtClean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981201" y="1190626"/>
          <a:ext cx="6365053" cy="5376247"/>
        </p:xfrm>
        <a:graphic>
          <a:graphicData uri="http://schemas.openxmlformats.org/drawingml/2006/table">
            <a:tbl>
              <a:tblPr/>
              <a:tblGrid>
                <a:gridCol w="1345401"/>
                <a:gridCol w="940183"/>
                <a:gridCol w="1846516"/>
                <a:gridCol w="1166153"/>
                <a:gridCol w="1066800"/>
              </a:tblGrid>
              <a:tr h="227254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Breusch</a:t>
                      </a: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-Godfrey Serial Correlation LM Test:</a:t>
                      </a: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7254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F-statistic</a:t>
                      </a:r>
                    </a:p>
                  </a:txBody>
                  <a:tcPr marL="7253" marR="7253" marT="725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198.8789</a:t>
                      </a:r>
                    </a:p>
                  </a:txBody>
                  <a:tcPr marL="7253" marR="7253" marT="725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   Prob. F(4,52)</a:t>
                      </a:r>
                    </a:p>
                  </a:txBody>
                  <a:tcPr marL="7253" marR="7253" marT="725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253" marR="7253" marT="725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253" marR="7253" marT="725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7254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Obs*R-squared</a:t>
                      </a:r>
                    </a:p>
                  </a:txBody>
                  <a:tcPr marL="7253" marR="7253" marT="725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56.31865</a:t>
                      </a:r>
                    </a:p>
                  </a:txBody>
                  <a:tcPr marL="7253" marR="7253" marT="725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Prob. Chi-Square(4)</a:t>
                      </a:r>
                    </a:p>
                  </a:txBody>
                  <a:tcPr marL="7253" marR="7253" marT="725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253" marR="7253" marT="725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253" marR="7253" marT="725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7254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Test Equation:</a:t>
                      </a: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27254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Dependent Variable: RESID</a:t>
                      </a: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7254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Method: Least Squares</a:t>
                      </a: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7254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Date: 11/26/13   Time: 10:48</a:t>
                      </a: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7254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Sample: 1993M01 1997M12</a:t>
                      </a: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7254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Included observations: 60</a:t>
                      </a: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752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Presample missing value lagged residuals set to zero.</a:t>
                      </a: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72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7253" marR="7253" marT="725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Coefficient</a:t>
                      </a:r>
                    </a:p>
                  </a:txBody>
                  <a:tcPr marL="7253" marR="7253" marT="725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Std. Error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t-Statistic</a:t>
                      </a:r>
                    </a:p>
                  </a:txBody>
                  <a:tcPr marL="7253" marR="7253" marT="725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Prob.  </a:t>
                      </a:r>
                    </a:p>
                  </a:txBody>
                  <a:tcPr marL="7253" marR="7253" marT="725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7254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0.033756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0.165421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0.204063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0.8391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7254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TDUM^2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-0.000613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0.001283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-0.47779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0.6348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7254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TDUM^3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3.00E-05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5.12E-05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0.586782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0.5599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7254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TDUM^4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-3.64E-07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5.27E-07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-0.69058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0.4929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7254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RESID(-1)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1.448988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0.139167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10.41184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7254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RESID(-2)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-0.328413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0.241573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-1.35948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0.1799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7254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RESID(-3)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-0.274865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0.242152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-1.13509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0.2615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7254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RESID(-4)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0.011887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0.14284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0.083221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0.934</a:t>
                      </a:r>
                    </a:p>
                  </a:txBody>
                  <a:tcPr marL="7253" marR="7253" marT="72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301"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47520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R-squared</a:t>
                      </a: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0.938644</a:t>
                      </a: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   Mean dependent </a:t>
                      </a:r>
                      <a:r>
                        <a:rPr lang="en-US" sz="1500" b="0" i="1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var</a:t>
                      </a:r>
                      <a:endParaRPr lang="en-US" sz="1500" b="0" i="1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4.61E-15</a:t>
                      </a: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253" marR="7253" marT="725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3908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1828800" y="228600"/>
            <a:ext cx="8686800" cy="838200"/>
          </a:xfrm>
        </p:spPr>
        <p:txBody>
          <a:bodyPr/>
          <a:lstStyle/>
          <a:p>
            <a:pPr eaLnBrk="1" hangingPunct="1">
              <a:defRPr/>
            </a:pPr>
            <a:endParaRPr lang="en-US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1828800" y="1235076"/>
            <a:ext cx="8686800" cy="5013325"/>
          </a:xfrm>
        </p:spPr>
        <p:txBody>
          <a:bodyPr/>
          <a:lstStyle/>
          <a:p>
            <a:pPr marL="0" indent="234950" eaLnBrk="1" hangingPunct="1">
              <a:buNone/>
            </a:pPr>
            <a:r>
              <a:rPr lang="en-US" sz="2400" dirty="0" err="1"/>
              <a:t>Eviews</a:t>
            </a:r>
            <a:r>
              <a:rPr lang="en-US" sz="2400" dirty="0"/>
              <a:t> –</a:t>
            </a:r>
            <a:r>
              <a:rPr lang="en-US" sz="2400" dirty="0" err="1"/>
              <a:t>ul</a:t>
            </a:r>
            <a:r>
              <a:rPr lang="en-US" sz="2400" dirty="0"/>
              <a:t> </a:t>
            </a:r>
            <a:r>
              <a:rPr lang="en-US" sz="2400" dirty="0" err="1"/>
              <a:t>raporteaza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testul</a:t>
            </a:r>
            <a:r>
              <a:rPr lang="en-US" sz="2400" dirty="0"/>
              <a:t> t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fiecare</a:t>
            </a:r>
            <a:r>
              <a:rPr lang="en-US" sz="2400" dirty="0"/>
              <a:t>  </a:t>
            </a:r>
            <a:r>
              <a:rPr lang="en-US" sz="2400" b="1" dirty="0"/>
              <a:t> </a:t>
            </a:r>
            <a:r>
              <a:rPr lang="el-GR" sz="2400" b="1" dirty="0"/>
              <a:t>φ</a:t>
            </a:r>
            <a:r>
              <a:rPr lang="en-US" sz="2400" b="1" baseline="-25000" dirty="0" err="1"/>
              <a:t>i</a:t>
            </a:r>
            <a:r>
              <a:rPr lang="en-US" sz="2400" b="1" dirty="0"/>
              <a:t> , </a:t>
            </a:r>
            <a:r>
              <a:rPr lang="en-US" sz="2400" i="1" dirty="0" err="1"/>
              <a:t>i</a:t>
            </a:r>
            <a:r>
              <a:rPr lang="en-US" sz="2400" i="1" dirty="0"/>
              <a:t> =1,p</a:t>
            </a:r>
            <a:r>
              <a:rPr lang="en-US" sz="2400" b="1" dirty="0"/>
              <a:t> </a:t>
            </a:r>
            <a:r>
              <a:rPr lang="en-US" sz="2400" dirty="0" err="1"/>
              <a:t>insa</a:t>
            </a:r>
            <a:r>
              <a:rPr lang="en-US" sz="2400" dirty="0"/>
              <a:t> </a:t>
            </a:r>
            <a:r>
              <a:rPr lang="en-US" sz="2400" dirty="0" err="1"/>
              <a:t>acesta</a:t>
            </a:r>
            <a:r>
              <a:rPr lang="en-US" sz="2400" dirty="0"/>
              <a:t> nu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semnificativ</a:t>
            </a:r>
            <a:r>
              <a:rPr lang="en-US" sz="2400" dirty="0"/>
              <a:t> </a:t>
            </a:r>
            <a:r>
              <a:rPr lang="en-US" sz="2400" dirty="0" err="1"/>
              <a:t>deoarece</a:t>
            </a:r>
            <a:r>
              <a:rPr lang="en-US" sz="2400" dirty="0"/>
              <a:t>, la </a:t>
            </a:r>
            <a:r>
              <a:rPr lang="en-US" sz="2400" dirty="0" err="1"/>
              <a:t>fel</a:t>
            </a:r>
            <a:r>
              <a:rPr lang="en-US" sz="2400" dirty="0"/>
              <a:t> ca in </a:t>
            </a:r>
            <a:r>
              <a:rPr lang="en-US" sz="2400" dirty="0" err="1"/>
              <a:t>cazul</a:t>
            </a:r>
            <a:r>
              <a:rPr lang="en-US" sz="2400" dirty="0"/>
              <a:t> </a:t>
            </a:r>
            <a:r>
              <a:rPr lang="en-US" sz="2400" dirty="0" err="1"/>
              <a:t>lui</a:t>
            </a:r>
            <a:r>
              <a:rPr lang="en-US" sz="2400" dirty="0"/>
              <a:t> F, </a:t>
            </a:r>
            <a:r>
              <a:rPr lang="en-US" sz="2400" dirty="0" err="1"/>
              <a:t>distributia</a:t>
            </a:r>
            <a:r>
              <a:rPr lang="en-US" sz="2400" dirty="0"/>
              <a:t> </a:t>
            </a:r>
            <a:r>
              <a:rPr lang="en-US" sz="2400" dirty="0" err="1"/>
              <a:t>statisticii</a:t>
            </a:r>
            <a:r>
              <a:rPr lang="en-US" sz="2400" dirty="0"/>
              <a:t> t nu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cunoscuta</a:t>
            </a:r>
            <a:r>
              <a:rPr lang="en-US" sz="2400" dirty="0"/>
              <a:t>. </a:t>
            </a:r>
            <a:r>
              <a:rPr lang="en-US" sz="2400" dirty="0" err="1"/>
              <a:t>Prin</a:t>
            </a:r>
            <a:r>
              <a:rPr lang="en-US" sz="2400" dirty="0"/>
              <a:t> </a:t>
            </a:r>
            <a:r>
              <a:rPr lang="en-US" sz="2400" dirty="0" err="1"/>
              <a:t>urmare</a:t>
            </a:r>
            <a:r>
              <a:rPr lang="en-US" sz="2400" dirty="0"/>
              <a:t> </a:t>
            </a:r>
            <a:r>
              <a:rPr lang="en-US" sz="2400" dirty="0" err="1"/>
              <a:t>probabilitatile</a:t>
            </a:r>
            <a:r>
              <a:rPr lang="en-US" sz="2400" dirty="0"/>
              <a:t> </a:t>
            </a:r>
            <a:r>
              <a:rPr lang="en-US" sz="2400" dirty="0" err="1"/>
              <a:t>asociate</a:t>
            </a:r>
            <a:r>
              <a:rPr lang="en-US" sz="2400" dirty="0"/>
              <a:t> </a:t>
            </a:r>
            <a:r>
              <a:rPr lang="en-US" sz="2400" dirty="0" err="1"/>
              <a:t>acestui</a:t>
            </a:r>
            <a:r>
              <a:rPr lang="en-US" sz="2400" dirty="0"/>
              <a:t> test </a:t>
            </a:r>
            <a:r>
              <a:rPr lang="en-US" sz="2400" dirty="0" err="1"/>
              <a:t>vor</a:t>
            </a:r>
            <a:r>
              <a:rPr lang="en-US" sz="2400" dirty="0"/>
              <a:t> </a:t>
            </a:r>
            <a:r>
              <a:rPr lang="en-US" sz="2400" dirty="0" err="1"/>
              <a:t>avea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ele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mult</a:t>
            </a:r>
            <a:r>
              <a:rPr lang="en-US" sz="2400" dirty="0"/>
              <a:t> un </a:t>
            </a:r>
            <a:r>
              <a:rPr lang="en-US" sz="2400" dirty="0" err="1"/>
              <a:t>caracter</a:t>
            </a:r>
            <a:r>
              <a:rPr lang="en-US" sz="2400" dirty="0"/>
              <a:t> </a:t>
            </a:r>
            <a:r>
              <a:rPr lang="en-US" sz="2400" dirty="0" err="1"/>
              <a:t>orientativ</a:t>
            </a:r>
            <a:r>
              <a:rPr lang="en-US" sz="2400" dirty="0"/>
              <a:t>.</a:t>
            </a:r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19107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Title 1"/>
          <p:cNvSpPr>
            <a:spLocks noGrp="1"/>
          </p:cNvSpPr>
          <p:nvPr>
            <p:ph type="title"/>
          </p:nvPr>
        </p:nvSpPr>
        <p:spPr>
          <a:xfrm>
            <a:off x="1616927" y="656935"/>
            <a:ext cx="8686800" cy="540834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200" b="1" dirty="0" err="1"/>
              <a:t>Testul</a:t>
            </a:r>
            <a:r>
              <a:rPr lang="en-US" sz="3200" b="1" dirty="0"/>
              <a:t> Q* a </a:t>
            </a:r>
            <a:r>
              <a:rPr lang="en-US" sz="3200" b="1" dirty="0" err="1"/>
              <a:t>lui</a:t>
            </a:r>
            <a:r>
              <a:rPr lang="en-US" sz="3200" b="1" dirty="0"/>
              <a:t> Box-Pierce Si </a:t>
            </a:r>
            <a:r>
              <a:rPr lang="en-US" sz="3200" b="1" dirty="0" err="1"/>
              <a:t>Testul</a:t>
            </a:r>
            <a:r>
              <a:rPr lang="en-US" sz="3200" b="1" dirty="0"/>
              <a:t> Q a </a:t>
            </a:r>
            <a:r>
              <a:rPr lang="en-US" sz="3200" b="1" dirty="0" err="1"/>
              <a:t>lui</a:t>
            </a:r>
            <a:r>
              <a:rPr lang="en-US" sz="3200" b="1" dirty="0"/>
              <a:t> </a:t>
            </a:r>
            <a:r>
              <a:rPr lang="en-US" sz="3200" b="1" dirty="0" err="1"/>
              <a:t>Ljung</a:t>
            </a:r>
            <a:r>
              <a:rPr lang="en-US" sz="3200" b="1" dirty="0"/>
              <a:t>-Box</a:t>
            </a:r>
          </a:p>
        </p:txBody>
      </p:sp>
      <p:sp>
        <p:nvSpPr>
          <p:cNvPr id="3077" name="Content Placeholder 2"/>
          <p:cNvSpPr>
            <a:spLocks noGrp="1"/>
          </p:cNvSpPr>
          <p:nvPr>
            <p:ph idx="1"/>
          </p:nvPr>
        </p:nvSpPr>
        <p:spPr>
          <a:xfrm>
            <a:off x="1616927" y="1143000"/>
            <a:ext cx="10448693" cy="5410200"/>
          </a:xfrm>
        </p:spPr>
        <p:txBody>
          <a:bodyPr rtlCol="0">
            <a:noAutofit/>
          </a:bodyPr>
          <a:lstStyle/>
          <a:p>
            <a:pPr marL="0" indent="290513">
              <a:spcBef>
                <a:spcPts val="600"/>
              </a:spcBef>
              <a:buNone/>
              <a:defRPr/>
            </a:pPr>
            <a:r>
              <a:rPr lang="en-US" b="1" dirty="0" err="1">
                <a:solidFill>
                  <a:srgbClr val="FF0000"/>
                </a:solidFill>
              </a:rPr>
              <a:t>Functia</a:t>
            </a:r>
            <a:r>
              <a:rPr lang="en-US" b="1" dirty="0">
                <a:solidFill>
                  <a:srgbClr val="FF0000"/>
                </a:solidFill>
              </a:rPr>
              <a:t> de </a:t>
            </a:r>
            <a:r>
              <a:rPr lang="en-US" b="1" dirty="0" err="1">
                <a:solidFill>
                  <a:srgbClr val="FF0000"/>
                </a:solidFill>
              </a:rPr>
              <a:t>autocorelatie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(FAC)</a:t>
            </a:r>
          </a:p>
          <a:p>
            <a:pPr>
              <a:spcBef>
                <a:spcPts val="600"/>
              </a:spcBef>
              <a:buNone/>
              <a:defRPr/>
            </a:pPr>
            <a:r>
              <a:rPr lang="en-US" b="1" dirty="0"/>
              <a:t> </a:t>
            </a:r>
          </a:p>
          <a:p>
            <a:pPr marL="0" indent="290513">
              <a:spcBef>
                <a:spcPts val="600"/>
              </a:spcBef>
              <a:buNone/>
              <a:defRPr/>
            </a:pP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/>
              <a:t>un 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stohastic</a:t>
            </a:r>
            <a:r>
              <a:rPr lang="en-US" b="1" dirty="0"/>
              <a:t> homoscedastic </a:t>
            </a:r>
            <a:r>
              <a:rPr lang="en-US" dirty="0"/>
              <a:t>V(</a:t>
            </a:r>
            <a:r>
              <a:rPr lang="el-GR" dirty="0"/>
              <a:t>ε</a:t>
            </a:r>
            <a:r>
              <a:rPr lang="en-US" baseline="-25000" dirty="0"/>
              <a:t>t</a:t>
            </a:r>
            <a:r>
              <a:rPr lang="en-US" dirty="0"/>
              <a:t>)=V(</a:t>
            </a:r>
            <a:r>
              <a:rPr lang="el-GR" dirty="0"/>
              <a:t>ε</a:t>
            </a:r>
            <a:r>
              <a:rPr lang="en-US" baseline="-25000" dirty="0" smtClean="0"/>
              <a:t>t-</a:t>
            </a:r>
            <a:r>
              <a:rPr lang="ro-RO" baseline="-25000" dirty="0" smtClean="0"/>
              <a:t>k</a:t>
            </a:r>
            <a:r>
              <a:rPr lang="en-US" dirty="0" smtClean="0"/>
              <a:t>)</a:t>
            </a:r>
            <a:r>
              <a:rPr lang="ro-RO" dirty="0" smtClean="0"/>
              <a:t>=V(</a:t>
            </a:r>
            <a:r>
              <a:rPr lang="el-GR" dirty="0" smtClean="0"/>
              <a:t>ε</a:t>
            </a:r>
            <a:r>
              <a:rPr lang="ro-RO" dirty="0" smtClean="0"/>
              <a:t>)</a:t>
            </a:r>
            <a:endParaRPr lang="en-US" dirty="0"/>
          </a:p>
          <a:p>
            <a:pPr marL="0" indent="290513">
              <a:spcBef>
                <a:spcPts val="600"/>
              </a:spcBef>
              <a:buNone/>
              <a:defRPr/>
            </a:pPr>
            <a:r>
              <a:rPr lang="en-US" dirty="0" err="1"/>
              <a:t>Notam</a:t>
            </a:r>
            <a:r>
              <a:rPr lang="en-US" dirty="0"/>
              <a:t> cu </a:t>
            </a:r>
            <a:r>
              <a:rPr lang="el-GR" dirty="0"/>
              <a:t>γ</a:t>
            </a:r>
            <a:r>
              <a:rPr lang="en-US" baseline="-25000" dirty="0"/>
              <a:t>k</a:t>
            </a:r>
            <a:r>
              <a:rPr lang="en-US" dirty="0"/>
              <a:t> </a:t>
            </a:r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dirty="0" err="1"/>
              <a:t>autocovarianta</a:t>
            </a:r>
            <a:r>
              <a:rPr lang="en-US" dirty="0"/>
              <a:t> de </a:t>
            </a:r>
            <a:r>
              <a:rPr lang="en-US" dirty="0" err="1"/>
              <a:t>ordin</a:t>
            </a:r>
            <a:r>
              <a:rPr lang="en-US" dirty="0"/>
              <a:t> </a:t>
            </a:r>
            <a:r>
              <a:rPr lang="en-US" dirty="0" smtClean="0"/>
              <a:t>k:</a:t>
            </a:r>
            <a:endParaRPr lang="en-US" dirty="0"/>
          </a:p>
          <a:p>
            <a:pPr>
              <a:spcBef>
                <a:spcPts val="600"/>
              </a:spcBef>
              <a:buNone/>
              <a:defRPr/>
            </a:pPr>
            <a:endParaRPr lang="en-US" dirty="0"/>
          </a:p>
          <a:p>
            <a:pPr algn="ctr">
              <a:spcBef>
                <a:spcPts val="600"/>
              </a:spcBef>
              <a:buNone/>
              <a:defRPr/>
            </a:pPr>
            <a:r>
              <a:rPr lang="en-US" dirty="0"/>
              <a:t>						</a:t>
            </a:r>
            <a:endParaRPr lang="en-US" dirty="0" smtClean="0"/>
          </a:p>
          <a:p>
            <a:pPr algn="ctr">
              <a:spcBef>
                <a:spcPts val="600"/>
              </a:spcBef>
              <a:buNone/>
              <a:defRPr/>
            </a:pP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l-GR" b="1" dirty="0"/>
              <a:t>γ</a:t>
            </a:r>
            <a:r>
              <a:rPr lang="en-US" b="1" baseline="-25000" dirty="0"/>
              <a:t>0</a:t>
            </a:r>
            <a:r>
              <a:rPr lang="en-US" b="1" dirty="0"/>
              <a:t>=V(</a:t>
            </a:r>
            <a:r>
              <a:rPr lang="el-GR" b="1" dirty="0"/>
              <a:t>ε</a:t>
            </a:r>
            <a:r>
              <a:rPr lang="en-US" b="1" baseline="-25000" dirty="0"/>
              <a:t>t</a:t>
            </a:r>
            <a:r>
              <a:rPr lang="en-US" b="1" dirty="0"/>
              <a:t>)/T=</a:t>
            </a:r>
            <a:r>
              <a:rPr lang="el-GR" b="1" dirty="0"/>
              <a:t>σ</a:t>
            </a:r>
            <a:r>
              <a:rPr lang="en-US" b="1" baseline="30000" dirty="0"/>
              <a:t>2</a:t>
            </a:r>
            <a:r>
              <a:rPr lang="en-US" dirty="0"/>
              <a:t>.</a:t>
            </a:r>
          </a:p>
          <a:p>
            <a:pPr marL="0" indent="290513">
              <a:spcBef>
                <a:spcPts val="600"/>
              </a:spcBef>
              <a:buNone/>
              <a:defRPr/>
            </a:pPr>
            <a:r>
              <a:rPr lang="en-US" dirty="0"/>
              <a:t>In </a:t>
            </a:r>
            <a:r>
              <a:rPr lang="en-US" dirty="0" err="1"/>
              <a:t>concluzie</a:t>
            </a:r>
            <a:r>
              <a:rPr lang="en-US" dirty="0"/>
              <a:t> </a:t>
            </a:r>
            <a:r>
              <a:rPr lang="el-GR" b="1" dirty="0"/>
              <a:t>ρ</a:t>
            </a:r>
            <a:r>
              <a:rPr lang="en-US" b="1" dirty="0"/>
              <a:t>(</a:t>
            </a:r>
            <a:r>
              <a:rPr lang="el-GR" b="1" dirty="0"/>
              <a:t>ε</a:t>
            </a:r>
            <a:r>
              <a:rPr lang="en-US" b="1" baseline="-25000" dirty="0"/>
              <a:t>t </a:t>
            </a:r>
            <a:r>
              <a:rPr lang="en-US" b="1" dirty="0"/>
              <a:t>,</a:t>
            </a:r>
            <a:r>
              <a:rPr lang="el-GR" b="1" dirty="0"/>
              <a:t>ε</a:t>
            </a:r>
            <a:r>
              <a:rPr lang="en-US" b="1" baseline="-25000" dirty="0" smtClean="0"/>
              <a:t>t-</a:t>
            </a:r>
            <a:r>
              <a:rPr lang="ro-RO" b="1" baseline="-25000" dirty="0" err="1" smtClean="0"/>
              <a:t>k</a:t>
            </a:r>
            <a:r>
              <a:rPr lang="en-US" b="1" dirty="0" smtClean="0"/>
              <a:t>)=</a:t>
            </a:r>
            <a:r>
              <a:rPr lang="el-GR" b="1" dirty="0" smtClean="0"/>
              <a:t> γ</a:t>
            </a:r>
            <a:r>
              <a:rPr lang="ro-RO" b="1" baseline="-25000" dirty="0" smtClean="0"/>
              <a:t>k</a:t>
            </a:r>
            <a:r>
              <a:rPr lang="en-US" b="1" baseline="-25000" dirty="0" smtClean="0"/>
              <a:t>/</a:t>
            </a:r>
            <a:r>
              <a:rPr lang="el-GR" b="1" dirty="0" smtClean="0"/>
              <a:t> </a:t>
            </a:r>
            <a:r>
              <a:rPr lang="el-GR" b="1" dirty="0"/>
              <a:t>γ</a:t>
            </a:r>
            <a:r>
              <a:rPr lang="en-US" b="1" baseline="-25000" dirty="0"/>
              <a:t>0</a:t>
            </a:r>
            <a:r>
              <a:rPr lang="en-US" b="1" dirty="0"/>
              <a:t>. </a:t>
            </a:r>
            <a:endParaRPr lang="en-US" b="1" dirty="0" smtClean="0"/>
          </a:p>
          <a:p>
            <a:pPr marL="0" indent="290513">
              <a:spcBef>
                <a:spcPts val="600"/>
              </a:spcBef>
              <a:buNone/>
              <a:defRPr/>
            </a:pPr>
            <a:r>
              <a:rPr lang="en-US" dirty="0" smtClean="0"/>
              <a:t>FAC(k</a:t>
            </a:r>
            <a:r>
              <a:rPr lang="en-US" dirty="0"/>
              <a:t>)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functie</a:t>
            </a:r>
            <a:r>
              <a:rPr lang="en-US" dirty="0"/>
              <a:t> para: </a:t>
            </a:r>
            <a:r>
              <a:rPr lang="el-GR" b="1" dirty="0" smtClean="0"/>
              <a:t>ρ</a:t>
            </a:r>
            <a:r>
              <a:rPr lang="ro-RO" b="1" baseline="-25000" dirty="0" err="1" smtClean="0"/>
              <a:t>k</a:t>
            </a:r>
            <a:r>
              <a:rPr lang="en-US" b="1" dirty="0" smtClean="0"/>
              <a:t>=</a:t>
            </a:r>
            <a:r>
              <a:rPr lang="el-GR" b="1" dirty="0" smtClean="0"/>
              <a:t> </a:t>
            </a:r>
            <a:r>
              <a:rPr lang="el-GR" b="1" dirty="0"/>
              <a:t>ρ </a:t>
            </a:r>
            <a:r>
              <a:rPr lang="en-US" b="1" baseline="-25000" dirty="0" smtClean="0"/>
              <a:t>-</a:t>
            </a:r>
            <a:r>
              <a:rPr lang="ro-RO" b="1" baseline="-25000" dirty="0" err="1" smtClean="0"/>
              <a:t>k</a:t>
            </a:r>
            <a:r>
              <a:rPr lang="en-US" dirty="0" smtClean="0"/>
              <a:t>. </a:t>
            </a:r>
            <a:endParaRPr lang="en-US" dirty="0"/>
          </a:p>
          <a:p>
            <a:pPr marL="0" indent="290513">
              <a:spcBef>
                <a:spcPts val="600"/>
              </a:spcBef>
              <a:buNone/>
              <a:defRPr/>
            </a:pPr>
            <a:r>
              <a:rPr lang="en-US" dirty="0" err="1"/>
              <a:t>Notam</a:t>
            </a:r>
            <a:r>
              <a:rPr lang="en-US" dirty="0"/>
              <a:t> cu </a:t>
            </a:r>
            <a:r>
              <a:rPr lang="en-US" b="1" dirty="0"/>
              <a:t>r (</a:t>
            </a:r>
            <a:r>
              <a:rPr lang="en-US" b="1" dirty="0" err="1"/>
              <a:t>fac</a:t>
            </a:r>
            <a:r>
              <a:rPr lang="en-US" b="1" dirty="0"/>
              <a:t>) 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estimata</a:t>
            </a:r>
            <a:r>
              <a:rPr lang="en-US" dirty="0"/>
              <a:t> a </a:t>
            </a:r>
            <a:r>
              <a:rPr lang="en-US" dirty="0" err="1"/>
              <a:t>parametrului</a:t>
            </a:r>
            <a:r>
              <a:rPr lang="en-US" dirty="0"/>
              <a:t> </a:t>
            </a:r>
            <a:r>
              <a:rPr lang="el-GR" b="1" dirty="0"/>
              <a:t>ρ</a:t>
            </a:r>
            <a:r>
              <a:rPr lang="en-US" b="1" dirty="0"/>
              <a:t>  (FAC)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reprezinta</a:t>
            </a:r>
            <a:r>
              <a:rPr lang="en-US" dirty="0"/>
              <a:t> </a:t>
            </a:r>
            <a:r>
              <a:rPr lang="en-US" dirty="0" err="1"/>
              <a:t>realizarea</a:t>
            </a:r>
            <a:r>
              <a:rPr lang="en-US" dirty="0"/>
              <a:t> </a:t>
            </a:r>
            <a:r>
              <a:rPr lang="en-US" dirty="0" err="1"/>
              <a:t>functiei</a:t>
            </a:r>
            <a:r>
              <a:rPr lang="en-US" dirty="0"/>
              <a:t> de </a:t>
            </a:r>
            <a:r>
              <a:rPr lang="en-US" dirty="0" err="1"/>
              <a:t>autocorelatie</a:t>
            </a:r>
            <a:r>
              <a:rPr lang="en-US" dirty="0"/>
              <a:t> FAC. </a:t>
            </a:r>
            <a:r>
              <a:rPr lang="en-US" dirty="0" err="1"/>
              <a:t>Pentru</a:t>
            </a:r>
            <a:r>
              <a:rPr lang="en-US" dirty="0"/>
              <a:t> un </a:t>
            </a:r>
            <a:r>
              <a:rPr lang="en-US" dirty="0" err="1"/>
              <a:t>proces</a:t>
            </a:r>
            <a:r>
              <a:rPr lang="en-US" dirty="0"/>
              <a:t> de tip </a:t>
            </a:r>
            <a:r>
              <a:rPr lang="en-US" dirty="0" err="1"/>
              <a:t>zgomot</a:t>
            </a:r>
            <a:r>
              <a:rPr lang="en-US" dirty="0"/>
              <a:t> alb </a:t>
            </a:r>
            <a:r>
              <a:rPr lang="en-US" dirty="0" err="1"/>
              <a:t>sau</a:t>
            </a:r>
            <a:r>
              <a:rPr lang="en-US" dirty="0"/>
              <a:t> IIND de </a:t>
            </a:r>
            <a:r>
              <a:rPr lang="en-US" dirty="0" err="1"/>
              <a:t>medie</a:t>
            </a:r>
            <a:r>
              <a:rPr lang="en-US" dirty="0"/>
              <a:t> zero </a:t>
            </a:r>
            <a:r>
              <a:rPr lang="el-GR" b="1" dirty="0" smtClean="0"/>
              <a:t>ρ</a:t>
            </a:r>
            <a:r>
              <a:rPr lang="ro-RO" b="1" baseline="-25000" dirty="0" smtClean="0"/>
              <a:t>k</a:t>
            </a:r>
            <a:r>
              <a:rPr lang="en-US" b="1" dirty="0" smtClean="0"/>
              <a:t>=0</a:t>
            </a:r>
            <a:r>
              <a:rPr lang="en-US" dirty="0" smtClean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orice</a:t>
            </a:r>
            <a:r>
              <a:rPr lang="en-US" dirty="0"/>
              <a:t> </a:t>
            </a:r>
            <a:r>
              <a:rPr lang="ro-RO" dirty="0" smtClean="0"/>
              <a:t>k</a:t>
            </a:r>
            <a:r>
              <a:rPr lang="en-US" b="1" dirty="0" smtClean="0"/>
              <a:t>#0 </a:t>
            </a:r>
            <a:r>
              <a:rPr lang="en-US" dirty="0"/>
              <a:t>si </a:t>
            </a:r>
            <a:r>
              <a:rPr lang="el-GR" b="1" dirty="0" smtClean="0"/>
              <a:t>ρ</a:t>
            </a:r>
            <a:r>
              <a:rPr lang="ro-RO" b="1" baseline="-25000" dirty="0" smtClean="0"/>
              <a:t>k</a:t>
            </a:r>
            <a:r>
              <a:rPr lang="en-US" b="1" dirty="0" smtClean="0"/>
              <a:t>=1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ro-RO" dirty="0" smtClean="0"/>
              <a:t>k</a:t>
            </a:r>
            <a:r>
              <a:rPr lang="en-US" b="1" dirty="0" smtClean="0"/>
              <a:t>=0</a:t>
            </a:r>
            <a:r>
              <a:rPr lang="en-US" b="1" dirty="0"/>
              <a:t>.</a:t>
            </a:r>
          </a:p>
          <a:p>
            <a:pPr>
              <a:spcBef>
                <a:spcPts val="600"/>
              </a:spcBef>
              <a:buNone/>
              <a:defRPr/>
            </a:pPr>
            <a:r>
              <a:rPr lang="en-US" dirty="0"/>
              <a:t> </a:t>
            </a:r>
          </a:p>
          <a:p>
            <a:pPr>
              <a:spcBef>
                <a:spcPts val="600"/>
              </a:spcBef>
              <a:buNone/>
              <a:defRPr/>
            </a:pPr>
            <a:endParaRPr lang="en-US" b="1" dirty="0"/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8991416"/>
              </p:ext>
            </p:extLst>
          </p:nvPr>
        </p:nvGraphicFramePr>
        <p:xfrm>
          <a:off x="4808538" y="1415125"/>
          <a:ext cx="4424672" cy="76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Equation" r:id="rId3" imgW="2641600" imgH="457200" progId="Equation.3">
                  <p:embed/>
                </p:oleObj>
              </mc:Choice>
              <mc:Fallback>
                <p:oleObj name="Equation" r:id="rId3" imgW="2641600" imgH="45720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8538" y="1415125"/>
                        <a:ext cx="4424672" cy="764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9837452"/>
              </p:ext>
            </p:extLst>
          </p:nvPr>
        </p:nvGraphicFramePr>
        <p:xfrm>
          <a:off x="4808537" y="2814175"/>
          <a:ext cx="4694237" cy="1007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Equation" r:id="rId5" imgW="2844800" imgH="609600" progId="Equation.3">
                  <p:embed/>
                </p:oleObj>
              </mc:Choice>
              <mc:Fallback>
                <p:oleObj name="Equation" r:id="rId5" imgW="2844800" imgH="60960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8537" y="2814175"/>
                        <a:ext cx="4694237" cy="10070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0573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endParaRPr lang="en-US" smtClean="0"/>
          </a:p>
        </p:txBody>
      </p:sp>
      <p:sp>
        <p:nvSpPr>
          <p:cNvPr id="4101" name="Content Placeholder 2"/>
          <p:cNvSpPr>
            <a:spLocks noGrp="1"/>
          </p:cNvSpPr>
          <p:nvPr>
            <p:ph idx="1"/>
          </p:nvPr>
        </p:nvSpPr>
        <p:spPr>
          <a:xfrm>
            <a:off x="1282391" y="1295401"/>
            <a:ext cx="10649414" cy="4525963"/>
          </a:xfrm>
        </p:spPr>
        <p:txBody>
          <a:bodyPr rtlCol="0">
            <a:normAutofit lnSpcReduction="10000"/>
          </a:bodyPr>
          <a:lstStyle/>
          <a:p>
            <a:pPr marL="0" indent="234950" algn="just">
              <a:buNone/>
              <a:defRPr/>
            </a:pPr>
            <a:r>
              <a:rPr lang="en-US" sz="2600" b="1" dirty="0" err="1">
                <a:solidFill>
                  <a:srgbClr val="FF0000"/>
                </a:solidFill>
              </a:rPr>
              <a:t>Statistica</a:t>
            </a:r>
            <a:r>
              <a:rPr lang="en-US" sz="2600" b="1" dirty="0">
                <a:solidFill>
                  <a:srgbClr val="FF0000"/>
                </a:solidFill>
              </a:rPr>
              <a:t> Q*</a:t>
            </a:r>
            <a:r>
              <a:rPr lang="en-US" sz="2600" dirty="0"/>
              <a:t> a </a:t>
            </a:r>
            <a:r>
              <a:rPr lang="en-US" sz="2600" dirty="0" err="1"/>
              <a:t>lui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FF0000"/>
                </a:solidFill>
              </a:rPr>
              <a:t>Box-Pierce</a:t>
            </a:r>
            <a:r>
              <a:rPr lang="en-US" sz="2600" dirty="0"/>
              <a:t>, </a:t>
            </a:r>
            <a:r>
              <a:rPr lang="en-US" sz="2600" dirty="0" err="1"/>
              <a:t>respectiv</a:t>
            </a:r>
            <a:r>
              <a:rPr lang="en-US" sz="2600" dirty="0"/>
              <a:t> </a:t>
            </a:r>
            <a:r>
              <a:rPr lang="en-US" sz="2600" dirty="0" err="1"/>
              <a:t>varianta</a:t>
            </a:r>
            <a:r>
              <a:rPr lang="en-US" sz="2600" dirty="0"/>
              <a:t> </a:t>
            </a:r>
            <a:r>
              <a:rPr lang="en-US" sz="2600" dirty="0" err="1"/>
              <a:t>sa</a:t>
            </a:r>
            <a:r>
              <a:rPr lang="en-US" sz="2600" dirty="0"/>
              <a:t> </a:t>
            </a:r>
            <a:r>
              <a:rPr lang="en-US" sz="2600" dirty="0" err="1"/>
              <a:t>modificata</a:t>
            </a:r>
            <a:r>
              <a:rPr lang="en-US" sz="2600" dirty="0"/>
              <a:t>, </a:t>
            </a:r>
            <a:r>
              <a:rPr lang="en-US" sz="2600" b="1" dirty="0" err="1">
                <a:solidFill>
                  <a:srgbClr val="FF0000"/>
                </a:solidFill>
              </a:rPr>
              <a:t>statistica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Ljung</a:t>
            </a:r>
            <a:r>
              <a:rPr lang="en-US" sz="2600" b="1" dirty="0">
                <a:solidFill>
                  <a:srgbClr val="FF0000"/>
                </a:solidFill>
              </a:rPr>
              <a:t>-Box</a:t>
            </a:r>
            <a:r>
              <a:rPr lang="en-US" sz="2600" dirty="0"/>
              <a:t>, </a:t>
            </a:r>
            <a:r>
              <a:rPr lang="en-US" sz="2600" dirty="0" err="1"/>
              <a:t>urmeaza</a:t>
            </a:r>
            <a:r>
              <a:rPr lang="en-US" sz="2600" dirty="0"/>
              <a:t> </a:t>
            </a:r>
            <a:r>
              <a:rPr lang="en-US" sz="2600" dirty="0" err="1"/>
              <a:t>asimptotic</a:t>
            </a:r>
            <a:r>
              <a:rPr lang="en-US" sz="2600" dirty="0"/>
              <a:t> o </a:t>
            </a:r>
            <a:r>
              <a:rPr lang="en-US" sz="2600" dirty="0" err="1"/>
              <a:t>distributie</a:t>
            </a:r>
            <a:r>
              <a:rPr lang="en-US" sz="2600" dirty="0"/>
              <a:t> </a:t>
            </a:r>
            <a:r>
              <a:rPr lang="el-GR" sz="2600" dirty="0"/>
              <a:t>χ</a:t>
            </a:r>
            <a:r>
              <a:rPr lang="en-US" sz="2600" baseline="30000" dirty="0"/>
              <a:t>2</a:t>
            </a:r>
            <a:r>
              <a:rPr lang="en-US" sz="2600" dirty="0"/>
              <a:t>(p) in </a:t>
            </a:r>
            <a:r>
              <a:rPr lang="en-US" sz="2600" dirty="0" err="1"/>
              <a:t>ipoteza</a:t>
            </a:r>
            <a:r>
              <a:rPr lang="en-US" sz="2600" dirty="0"/>
              <a:t> ca </a:t>
            </a:r>
            <a:r>
              <a:rPr lang="en-US" sz="2600" dirty="0" err="1"/>
              <a:t>erorile</a:t>
            </a:r>
            <a:r>
              <a:rPr lang="en-US" sz="2600" dirty="0"/>
              <a:t> IIND </a:t>
            </a:r>
            <a:r>
              <a:rPr lang="en-US" sz="2600" dirty="0" err="1"/>
              <a:t>pentru</a:t>
            </a:r>
            <a:r>
              <a:rPr lang="en-US" sz="2600" dirty="0"/>
              <a:t> </a:t>
            </a:r>
            <a:r>
              <a:rPr lang="en-US" sz="2600" dirty="0" err="1"/>
              <a:t>cazul</a:t>
            </a:r>
            <a:r>
              <a:rPr lang="en-US" sz="2600" dirty="0"/>
              <a:t> in care </a:t>
            </a:r>
            <a:r>
              <a:rPr lang="en-US" sz="2600" dirty="0" err="1"/>
              <a:t>testam</a:t>
            </a:r>
            <a:r>
              <a:rPr lang="en-US" sz="2600" dirty="0"/>
              <a:t> </a:t>
            </a:r>
            <a:r>
              <a:rPr lang="en-US" sz="2600" dirty="0" err="1"/>
              <a:t>autocorelatia</a:t>
            </a:r>
            <a:r>
              <a:rPr lang="en-US" sz="2600" dirty="0"/>
              <a:t> de </a:t>
            </a:r>
            <a:r>
              <a:rPr lang="en-US" sz="2600" dirty="0" err="1"/>
              <a:t>ordin</a:t>
            </a:r>
            <a:r>
              <a:rPr lang="en-US" sz="2600" dirty="0"/>
              <a:t> p, </a:t>
            </a:r>
            <a:r>
              <a:rPr lang="el-GR" sz="2600" dirty="0"/>
              <a:t>ρ</a:t>
            </a:r>
            <a:r>
              <a:rPr lang="en-US" sz="2600" baseline="-25000" dirty="0"/>
              <a:t>p</a:t>
            </a:r>
            <a:r>
              <a:rPr lang="en-US" sz="2600" dirty="0"/>
              <a:t>.</a:t>
            </a:r>
          </a:p>
          <a:p>
            <a:pPr marL="0" indent="234950" algn="just">
              <a:buNone/>
              <a:defRPr/>
            </a:pPr>
            <a:r>
              <a:rPr lang="en-US" sz="2600" dirty="0"/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Testul</a:t>
            </a:r>
            <a:r>
              <a:rPr lang="en-US" sz="2600" b="1" dirty="0">
                <a:solidFill>
                  <a:srgbClr val="FF0000"/>
                </a:solidFill>
              </a:rPr>
              <a:t> Q</a:t>
            </a:r>
            <a:r>
              <a:rPr lang="en-US" sz="2600" dirty="0"/>
              <a:t> nu </a:t>
            </a:r>
            <a:r>
              <a:rPr lang="en-US" sz="2600" dirty="0" err="1"/>
              <a:t>testeaza</a:t>
            </a:r>
            <a:r>
              <a:rPr lang="en-US" sz="2600" dirty="0"/>
              <a:t> individual </a:t>
            </a:r>
            <a:r>
              <a:rPr lang="en-US" sz="2600" dirty="0" err="1"/>
              <a:t>fiecare</a:t>
            </a:r>
            <a:r>
              <a:rPr lang="en-US" sz="2600" dirty="0"/>
              <a:t> </a:t>
            </a:r>
            <a:r>
              <a:rPr lang="en-US" sz="2600" dirty="0" err="1"/>
              <a:t>coeficient</a:t>
            </a:r>
            <a:r>
              <a:rPr lang="en-US" sz="2600" dirty="0"/>
              <a:t> de </a:t>
            </a:r>
            <a:r>
              <a:rPr lang="en-US" sz="2600" dirty="0" err="1"/>
              <a:t>autocorelatie</a:t>
            </a:r>
            <a:r>
              <a:rPr lang="en-US" sz="2600" dirty="0"/>
              <a:t> in parte, ci </a:t>
            </a:r>
            <a:r>
              <a:rPr lang="en-US" sz="2600" dirty="0" err="1"/>
              <a:t>suma</a:t>
            </a:r>
            <a:r>
              <a:rPr lang="en-US" sz="2600" dirty="0"/>
              <a:t> </a:t>
            </a:r>
            <a:r>
              <a:rPr lang="en-US" sz="2600" dirty="0" err="1"/>
              <a:t>acestora</a:t>
            </a:r>
            <a:r>
              <a:rPr lang="en-US" sz="2600" dirty="0"/>
              <a:t> </a:t>
            </a:r>
            <a:r>
              <a:rPr lang="en-US" sz="2600" dirty="0" err="1"/>
              <a:t>pana</a:t>
            </a:r>
            <a:r>
              <a:rPr lang="en-US" sz="2600" dirty="0"/>
              <a:t> la </a:t>
            </a:r>
            <a:r>
              <a:rPr lang="en-US" sz="2600" dirty="0" err="1"/>
              <a:t>ordinul</a:t>
            </a:r>
            <a:r>
              <a:rPr lang="en-US" sz="2600" dirty="0"/>
              <a:t> p:</a:t>
            </a:r>
          </a:p>
          <a:p>
            <a:pPr marL="0" indent="234950" algn="just">
              <a:buNone/>
              <a:defRPr/>
            </a:pPr>
            <a:endParaRPr lang="en-US" sz="2600" dirty="0"/>
          </a:p>
          <a:p>
            <a:pPr marL="0" indent="234950" algn="just">
              <a:buNone/>
              <a:defRPr/>
            </a:pPr>
            <a:r>
              <a:rPr lang="en-US" sz="2600" dirty="0" err="1" smtClean="0"/>
              <a:t>Acest</a:t>
            </a:r>
            <a:r>
              <a:rPr lang="en-US" sz="2600" dirty="0" smtClean="0"/>
              <a:t> </a:t>
            </a:r>
            <a:r>
              <a:rPr lang="en-US" sz="2600" dirty="0"/>
              <a:t>test are </a:t>
            </a:r>
            <a:r>
              <a:rPr lang="en-US" sz="2600" dirty="0" err="1"/>
              <a:t>putere</a:t>
            </a:r>
            <a:r>
              <a:rPr lang="en-US" sz="2600" dirty="0"/>
              <a:t> mica in </a:t>
            </a:r>
            <a:r>
              <a:rPr lang="en-US" sz="2600" dirty="0" err="1"/>
              <a:t>detectarea</a:t>
            </a:r>
            <a:r>
              <a:rPr lang="en-US" sz="2600" dirty="0"/>
              <a:t> </a:t>
            </a:r>
            <a:r>
              <a:rPr lang="en-US" sz="2600" dirty="0" err="1"/>
              <a:t>autocorelatiilor</a:t>
            </a:r>
            <a:r>
              <a:rPr lang="en-US" sz="2600" dirty="0"/>
              <a:t> de </a:t>
            </a:r>
            <a:r>
              <a:rPr lang="en-US" sz="2600" dirty="0" err="1"/>
              <a:t>aceea</a:t>
            </a:r>
            <a:r>
              <a:rPr lang="en-US" sz="2600" dirty="0"/>
              <a:t> in </a:t>
            </a:r>
            <a:r>
              <a:rPr lang="en-US" sz="2600" dirty="0" err="1"/>
              <a:t>practica</a:t>
            </a:r>
            <a:r>
              <a:rPr lang="en-US" sz="2600" dirty="0"/>
              <a:t> </a:t>
            </a:r>
            <a:r>
              <a:rPr lang="en-US" sz="2600" dirty="0" err="1"/>
              <a:t>este</a:t>
            </a:r>
            <a:r>
              <a:rPr lang="en-US" sz="2600" dirty="0"/>
              <a:t> </a:t>
            </a:r>
            <a:r>
              <a:rPr lang="en-US" sz="2600" dirty="0" err="1"/>
              <a:t>mult</a:t>
            </a:r>
            <a:r>
              <a:rPr lang="en-US" sz="2600" dirty="0"/>
              <a:t> </a:t>
            </a:r>
            <a:r>
              <a:rPr lang="en-US" sz="2600" dirty="0" err="1"/>
              <a:t>mai</a:t>
            </a:r>
            <a:r>
              <a:rPr lang="en-US" sz="2600" dirty="0"/>
              <a:t> </a:t>
            </a:r>
            <a:r>
              <a:rPr lang="en-US" sz="2600" dirty="0" err="1"/>
              <a:t>indicat</a:t>
            </a:r>
            <a:r>
              <a:rPr lang="en-US" sz="2600" dirty="0"/>
              <a:t> </a:t>
            </a:r>
            <a:r>
              <a:rPr lang="en-US" sz="2600" dirty="0" err="1"/>
              <a:t>sa</a:t>
            </a:r>
            <a:r>
              <a:rPr lang="en-US" sz="2600" dirty="0"/>
              <a:t> se </a:t>
            </a:r>
            <a:r>
              <a:rPr lang="en-US" sz="2600" dirty="0" err="1"/>
              <a:t>utilizeze</a:t>
            </a:r>
            <a:r>
              <a:rPr lang="en-US" sz="2600" dirty="0"/>
              <a:t> </a:t>
            </a:r>
            <a:r>
              <a:rPr lang="en-US" sz="2600" dirty="0" err="1"/>
              <a:t>pentru</a:t>
            </a:r>
            <a:r>
              <a:rPr lang="en-US" sz="2600" dirty="0"/>
              <a:t> </a:t>
            </a:r>
            <a:r>
              <a:rPr lang="en-US" sz="2600" dirty="0" err="1"/>
              <a:t>acest</a:t>
            </a:r>
            <a:r>
              <a:rPr lang="en-US" sz="2600" dirty="0"/>
              <a:t> test un </a:t>
            </a:r>
            <a:r>
              <a:rPr lang="en-US" sz="2600" dirty="0" err="1"/>
              <a:t>prag</a:t>
            </a:r>
            <a:r>
              <a:rPr lang="en-US" sz="2600" dirty="0"/>
              <a:t> de </a:t>
            </a:r>
            <a:r>
              <a:rPr lang="en-US" sz="2600" dirty="0" err="1"/>
              <a:t>semnificatie</a:t>
            </a:r>
            <a:r>
              <a:rPr lang="en-US" sz="2600" dirty="0"/>
              <a:t> de 10% in </a:t>
            </a:r>
            <a:r>
              <a:rPr lang="en-US" sz="2600" dirty="0" err="1"/>
              <a:t>loc</a:t>
            </a:r>
            <a:r>
              <a:rPr lang="en-US" sz="2600" dirty="0"/>
              <a:t> de 5%.</a:t>
            </a:r>
          </a:p>
          <a:p>
            <a:pPr marL="0" indent="234950" algn="just">
              <a:buNone/>
              <a:defRPr/>
            </a:pPr>
            <a:r>
              <a:rPr lang="en-US" sz="2600" dirty="0" err="1"/>
              <a:t>Acest</a:t>
            </a:r>
            <a:r>
              <a:rPr lang="en-US" sz="2600" dirty="0"/>
              <a:t> test nu </a:t>
            </a:r>
            <a:r>
              <a:rPr lang="en-US" sz="2600" dirty="0" err="1"/>
              <a:t>este</a:t>
            </a:r>
            <a:r>
              <a:rPr lang="en-US" sz="2600" dirty="0"/>
              <a:t> </a:t>
            </a:r>
            <a:r>
              <a:rPr lang="en-US" sz="2600" dirty="0" err="1"/>
              <a:t>calculat</a:t>
            </a:r>
            <a:r>
              <a:rPr lang="en-US" sz="2600" dirty="0"/>
              <a:t> in </a:t>
            </a:r>
            <a:r>
              <a:rPr lang="en-US" sz="2600" dirty="0" err="1"/>
              <a:t>Eviews</a:t>
            </a:r>
            <a:r>
              <a:rPr lang="en-US" sz="2600" dirty="0"/>
              <a:t> ci </a:t>
            </a:r>
            <a:r>
              <a:rPr lang="en-US" sz="2600" dirty="0" err="1"/>
              <a:t>varianta</a:t>
            </a:r>
            <a:r>
              <a:rPr lang="en-US" sz="2600" dirty="0"/>
              <a:t> </a:t>
            </a:r>
            <a:r>
              <a:rPr lang="en-US" sz="2600" dirty="0" err="1"/>
              <a:t>sa</a:t>
            </a:r>
            <a:r>
              <a:rPr lang="en-US" sz="2600" dirty="0"/>
              <a:t> </a:t>
            </a:r>
            <a:r>
              <a:rPr lang="en-US" sz="2600" dirty="0" err="1"/>
              <a:t>corectata</a:t>
            </a:r>
            <a:r>
              <a:rPr lang="en-US" sz="2600" dirty="0"/>
              <a:t>, </a:t>
            </a:r>
            <a:r>
              <a:rPr lang="en-US" sz="2600" b="1" dirty="0" err="1">
                <a:solidFill>
                  <a:srgbClr val="FF0000"/>
                </a:solidFill>
              </a:rPr>
              <a:t>Testul</a:t>
            </a:r>
            <a:r>
              <a:rPr lang="en-US" sz="2600" b="1" dirty="0">
                <a:solidFill>
                  <a:srgbClr val="FF0000"/>
                </a:solidFill>
              </a:rPr>
              <a:t> Q a </a:t>
            </a:r>
            <a:r>
              <a:rPr lang="en-US" sz="2600" b="1" dirty="0" err="1">
                <a:solidFill>
                  <a:srgbClr val="FF0000"/>
                </a:solidFill>
              </a:rPr>
              <a:t>lui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Ljung</a:t>
            </a:r>
            <a:r>
              <a:rPr lang="en-US" sz="2600" b="1" dirty="0">
                <a:solidFill>
                  <a:srgbClr val="FF0000"/>
                </a:solidFill>
              </a:rPr>
              <a:t>-Box</a:t>
            </a:r>
            <a:r>
              <a:rPr lang="en-US" sz="2600" dirty="0">
                <a:solidFill>
                  <a:schemeClr val="tx1"/>
                </a:solidFill>
              </a:rPr>
              <a:t>:</a:t>
            </a:r>
          </a:p>
          <a:p>
            <a:pPr algn="just">
              <a:buNone/>
              <a:defRPr/>
            </a:pPr>
            <a:endParaRPr lang="en-US" sz="2200" b="1" dirty="0">
              <a:solidFill>
                <a:srgbClr val="FF0000"/>
              </a:solidFill>
            </a:endParaRPr>
          </a:p>
          <a:p>
            <a:pPr algn="just">
              <a:buNone/>
              <a:defRPr/>
            </a:pPr>
            <a:endParaRPr lang="en-US" sz="2200" dirty="0"/>
          </a:p>
          <a:p>
            <a:pPr algn="just">
              <a:buNone/>
              <a:defRPr/>
            </a:pPr>
            <a:endParaRPr lang="en-US" sz="2200" dirty="0"/>
          </a:p>
          <a:p>
            <a:pPr algn="just">
              <a:buNone/>
              <a:defRPr/>
            </a:pPr>
            <a:endParaRPr lang="en-US" sz="2200" dirty="0"/>
          </a:p>
          <a:p>
            <a:pPr algn="just">
              <a:buNone/>
              <a:defRPr/>
            </a:pPr>
            <a:endParaRPr lang="en-US" sz="2200" dirty="0"/>
          </a:p>
        </p:txBody>
      </p:sp>
      <p:graphicFrame>
        <p:nvGraphicFramePr>
          <p:cNvPr id="4098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084142"/>
              </p:ext>
            </p:extLst>
          </p:nvPr>
        </p:nvGraphicFramePr>
        <p:xfrm>
          <a:off x="4524422" y="3127902"/>
          <a:ext cx="4933835" cy="838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8" name="Equation" r:id="rId3" imgW="2616200" imgH="444500" progId="Equation.3">
                  <p:embed/>
                </p:oleObj>
              </mc:Choice>
              <mc:Fallback>
                <p:oleObj name="Equation" r:id="rId3" imgW="2616200" imgH="44450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4422" y="3127902"/>
                        <a:ext cx="4933835" cy="83865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5066938"/>
              </p:ext>
            </p:extLst>
          </p:nvPr>
        </p:nvGraphicFramePr>
        <p:xfrm>
          <a:off x="4162750" y="5549042"/>
          <a:ext cx="6185579" cy="862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9" name="Equation" r:id="rId5" imgW="3187700" imgH="444500" progId="Equation.3">
                  <p:embed/>
                </p:oleObj>
              </mc:Choice>
              <mc:Fallback>
                <p:oleObj name="Equation" r:id="rId5" imgW="3187700" imgH="44450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2750" y="5549042"/>
                        <a:ext cx="6185579" cy="86291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602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endParaRPr lang="en-US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1584338" y="1311937"/>
            <a:ext cx="10392072" cy="4899291"/>
          </a:xfrm>
        </p:spPr>
        <p:txBody>
          <a:bodyPr rtlCol="0">
            <a:noAutofit/>
          </a:bodyPr>
          <a:lstStyle/>
          <a:p>
            <a:pPr marL="0" indent="234950" algn="just">
              <a:buNone/>
              <a:defRPr/>
            </a:pPr>
            <a:r>
              <a:rPr lang="en-US" sz="2600" dirty="0" err="1"/>
              <a:t>Datorita</a:t>
            </a:r>
            <a:r>
              <a:rPr lang="en-US" sz="2600" dirty="0"/>
              <a:t> </a:t>
            </a:r>
            <a:r>
              <a:rPr lang="en-US" sz="2600" dirty="0" err="1"/>
              <a:t>faptului</a:t>
            </a:r>
            <a:r>
              <a:rPr lang="en-US" sz="2600" dirty="0"/>
              <a:t> ca </a:t>
            </a:r>
            <a:r>
              <a:rPr lang="en-US" sz="2600" dirty="0" err="1"/>
              <a:t>pentru</a:t>
            </a:r>
            <a:r>
              <a:rPr lang="en-US" sz="2600" dirty="0"/>
              <a:t> </a:t>
            </a:r>
            <a:r>
              <a:rPr lang="en-US" sz="2600" dirty="0" err="1"/>
              <a:t>acest</a:t>
            </a:r>
            <a:r>
              <a:rPr lang="en-US" sz="2600" dirty="0"/>
              <a:t> test </a:t>
            </a:r>
            <a:r>
              <a:rPr lang="en-US" sz="2600" dirty="0" err="1"/>
              <a:t>trebuie</a:t>
            </a:r>
            <a:r>
              <a:rPr lang="en-US" sz="2600" dirty="0"/>
              <a:t> </a:t>
            </a:r>
            <a:r>
              <a:rPr lang="en-US" sz="2600" dirty="0" err="1"/>
              <a:t>sa</a:t>
            </a:r>
            <a:r>
              <a:rPr lang="en-US" sz="2600" dirty="0"/>
              <a:t> </a:t>
            </a:r>
            <a:r>
              <a:rPr lang="en-US" sz="2600" dirty="0" err="1"/>
              <a:t>solicitam</a:t>
            </a:r>
            <a:r>
              <a:rPr lang="en-US" sz="2600" dirty="0"/>
              <a:t> explicit </a:t>
            </a:r>
            <a:r>
              <a:rPr lang="en-US" sz="2600" b="1" dirty="0" err="1"/>
              <a:t>ordinul</a:t>
            </a:r>
            <a:r>
              <a:rPr lang="en-US" sz="2600" b="1" dirty="0"/>
              <a:t> </a:t>
            </a:r>
            <a:r>
              <a:rPr lang="en-US" sz="2600" b="1" dirty="0" err="1"/>
              <a:t>autocorleatiilor</a:t>
            </a:r>
            <a:r>
              <a:rPr lang="en-US" sz="2600" b="1" dirty="0"/>
              <a:t> </a:t>
            </a:r>
            <a:r>
              <a:rPr lang="en-US" sz="2600" dirty="0"/>
              <a:t>testate </a:t>
            </a:r>
            <a:r>
              <a:rPr lang="en-US" sz="2600" dirty="0" err="1"/>
              <a:t>este</a:t>
            </a:r>
            <a:r>
              <a:rPr lang="en-US" sz="2600" dirty="0"/>
              <a:t> </a:t>
            </a:r>
            <a:r>
              <a:rPr lang="en-US" sz="2600" dirty="0" err="1"/>
              <a:t>posibil</a:t>
            </a:r>
            <a:r>
              <a:rPr lang="en-US" sz="2600" dirty="0"/>
              <a:t> </a:t>
            </a:r>
            <a:r>
              <a:rPr lang="en-US" sz="2600" dirty="0" err="1"/>
              <a:t>sa</a:t>
            </a:r>
            <a:r>
              <a:rPr lang="en-US" sz="2600" dirty="0"/>
              <a:t> </a:t>
            </a:r>
            <a:r>
              <a:rPr lang="en-US" sz="2600" dirty="0" err="1"/>
              <a:t>omitem</a:t>
            </a:r>
            <a:r>
              <a:rPr lang="en-US" sz="2600" dirty="0"/>
              <a:t> </a:t>
            </a:r>
            <a:r>
              <a:rPr lang="en-US" sz="2600" dirty="0" err="1"/>
              <a:t>autocorelatiile</a:t>
            </a:r>
            <a:r>
              <a:rPr lang="en-US" sz="2600" dirty="0"/>
              <a:t> </a:t>
            </a:r>
            <a:r>
              <a:rPr lang="en-US" sz="2600" dirty="0" err="1"/>
              <a:t>seriale</a:t>
            </a:r>
            <a:r>
              <a:rPr lang="en-US" sz="2600" dirty="0"/>
              <a:t>  de rang mare.</a:t>
            </a:r>
          </a:p>
          <a:p>
            <a:pPr marL="0" indent="234950">
              <a:buNone/>
              <a:defRPr/>
            </a:pPr>
            <a:r>
              <a:rPr lang="en-US" sz="2600" b="1" dirty="0">
                <a:solidFill>
                  <a:srgbClr val="C00000"/>
                </a:solidFill>
              </a:rPr>
              <a:t>OBS</a:t>
            </a:r>
            <a:r>
              <a:rPr lang="en-US" sz="2600" dirty="0"/>
              <a:t>: In </a:t>
            </a:r>
            <a:r>
              <a:rPr lang="en-US" sz="2600" dirty="0" err="1"/>
              <a:t>Eviews</a:t>
            </a:r>
            <a:r>
              <a:rPr lang="en-US" sz="2600" dirty="0"/>
              <a:t> </a:t>
            </a:r>
            <a:r>
              <a:rPr lang="en-US" sz="2600" dirty="0" err="1"/>
              <a:t>acest</a:t>
            </a:r>
            <a:r>
              <a:rPr lang="en-US" sz="2600" dirty="0"/>
              <a:t> test </a:t>
            </a:r>
            <a:r>
              <a:rPr lang="en-US" sz="2600" dirty="0" err="1"/>
              <a:t>este</a:t>
            </a:r>
            <a:r>
              <a:rPr lang="en-US" sz="2600" dirty="0"/>
              <a:t> </a:t>
            </a:r>
            <a:r>
              <a:rPr lang="en-US" sz="2600" dirty="0" err="1"/>
              <a:t>posibil</a:t>
            </a:r>
            <a:r>
              <a:rPr lang="en-US" sz="2600" dirty="0"/>
              <a:t> de </a:t>
            </a:r>
            <a:r>
              <a:rPr lang="en-US" sz="2600" dirty="0" err="1"/>
              <a:t>aplicat</a:t>
            </a:r>
            <a:r>
              <a:rPr lang="en-US" sz="2600" dirty="0"/>
              <a:t> in </a:t>
            </a:r>
            <a:r>
              <a:rPr lang="en-US" sz="2600" dirty="0" err="1"/>
              <a:t>doua</a:t>
            </a:r>
            <a:r>
              <a:rPr lang="en-US" sz="2600" dirty="0"/>
              <a:t> </a:t>
            </a:r>
            <a:r>
              <a:rPr lang="en-US" sz="2600" dirty="0" err="1"/>
              <a:t>moduri</a:t>
            </a:r>
            <a:r>
              <a:rPr lang="en-US" sz="2600" dirty="0"/>
              <a:t> </a:t>
            </a:r>
            <a:r>
              <a:rPr lang="en-US" sz="2600" dirty="0" err="1"/>
              <a:t>diferite</a:t>
            </a:r>
            <a:r>
              <a:rPr lang="en-US" sz="2600" dirty="0"/>
              <a:t>:</a:t>
            </a:r>
          </a:p>
          <a:p>
            <a:pPr marL="0" indent="234950">
              <a:buNone/>
              <a:defRPr/>
            </a:pPr>
            <a:r>
              <a:rPr lang="en-US" sz="2600" dirty="0"/>
              <a:t>1. Din </a:t>
            </a:r>
            <a:r>
              <a:rPr lang="en-US" sz="2600" dirty="0" err="1"/>
              <a:t>fereastra</a:t>
            </a:r>
            <a:r>
              <a:rPr lang="en-US" sz="2600" dirty="0"/>
              <a:t> ‘Equation’-&gt;’View’-&gt;’Residual Tests’-&gt; ‘</a:t>
            </a:r>
            <a:r>
              <a:rPr lang="en-US" sz="2600" dirty="0" err="1"/>
              <a:t>Correlogram</a:t>
            </a:r>
            <a:r>
              <a:rPr lang="en-US" sz="2600" dirty="0"/>
              <a:t> Q-Statistics’</a:t>
            </a:r>
          </a:p>
          <a:p>
            <a:pPr marL="0" indent="234950">
              <a:buNone/>
              <a:defRPr/>
            </a:pPr>
            <a:r>
              <a:rPr lang="en-US" sz="2600" dirty="0"/>
              <a:t>2. Din </a:t>
            </a:r>
            <a:r>
              <a:rPr lang="en-US" sz="2600" dirty="0" err="1"/>
              <a:t>fisierul</a:t>
            </a:r>
            <a:r>
              <a:rPr lang="en-US" sz="2600" dirty="0"/>
              <a:t> RESID-&gt;’View’-&gt; ‘</a:t>
            </a:r>
            <a:r>
              <a:rPr lang="en-US" sz="2600" dirty="0" err="1"/>
              <a:t>Corelogram</a:t>
            </a:r>
            <a:r>
              <a:rPr lang="en-US" sz="2600" dirty="0"/>
              <a:t>’.</a:t>
            </a:r>
          </a:p>
          <a:p>
            <a:pPr marL="0" indent="234950" algn="just">
              <a:buNone/>
              <a:defRPr/>
            </a:pPr>
            <a:r>
              <a:rPr lang="en-US" sz="2600" dirty="0" err="1"/>
              <a:t>Pentru</a:t>
            </a:r>
            <a:r>
              <a:rPr lang="en-US" sz="2600" dirty="0"/>
              <a:t> </a:t>
            </a:r>
            <a:r>
              <a:rPr lang="en-US" sz="2600" dirty="0" err="1"/>
              <a:t>cazul</a:t>
            </a:r>
            <a:r>
              <a:rPr lang="en-US" sz="2600" dirty="0"/>
              <a:t> in care in </a:t>
            </a:r>
            <a:r>
              <a:rPr lang="en-US" sz="2600" dirty="0" err="1"/>
              <a:t>generarea</a:t>
            </a:r>
            <a:r>
              <a:rPr lang="en-US" sz="2600" dirty="0"/>
              <a:t> </a:t>
            </a:r>
            <a:r>
              <a:rPr lang="en-US" sz="2600" dirty="0" err="1"/>
              <a:t>erorii</a:t>
            </a:r>
            <a:r>
              <a:rPr lang="en-US" sz="2600" dirty="0"/>
              <a:t> a </a:t>
            </a:r>
            <a:r>
              <a:rPr lang="en-US" sz="2600" dirty="0" err="1"/>
              <a:t>fost</a:t>
            </a:r>
            <a:r>
              <a:rPr lang="en-US" sz="2600" dirty="0"/>
              <a:t> </a:t>
            </a:r>
            <a:r>
              <a:rPr lang="en-US" sz="2600" dirty="0" err="1"/>
              <a:t>utilizat</a:t>
            </a:r>
            <a:r>
              <a:rPr lang="en-US" sz="2600" dirty="0"/>
              <a:t> un model </a:t>
            </a:r>
            <a:r>
              <a:rPr lang="en-US" sz="2600" dirty="0" err="1"/>
              <a:t>liniar</a:t>
            </a:r>
            <a:r>
              <a:rPr lang="en-US" sz="2600" dirty="0"/>
              <a:t> </a:t>
            </a:r>
            <a:r>
              <a:rPr lang="en-US" sz="2600" dirty="0" err="1"/>
              <a:t>univariat</a:t>
            </a:r>
            <a:r>
              <a:rPr lang="en-US" sz="2600" dirty="0"/>
              <a:t> nu </a:t>
            </a:r>
            <a:r>
              <a:rPr lang="en-US" sz="2600" dirty="0" err="1"/>
              <a:t>exita</a:t>
            </a:r>
            <a:r>
              <a:rPr lang="en-US" sz="2600" dirty="0"/>
              <a:t> </a:t>
            </a:r>
            <a:r>
              <a:rPr lang="en-US" sz="2600" dirty="0" err="1"/>
              <a:t>diferente</a:t>
            </a:r>
            <a:r>
              <a:rPr lang="en-US" sz="2600" dirty="0"/>
              <a:t> </a:t>
            </a:r>
            <a:r>
              <a:rPr lang="en-US" sz="2600" dirty="0" err="1"/>
              <a:t>intre</a:t>
            </a:r>
            <a:r>
              <a:rPr lang="en-US" sz="2600" dirty="0"/>
              <a:t> </a:t>
            </a:r>
            <a:r>
              <a:rPr lang="en-US" sz="2600" dirty="0" err="1"/>
              <a:t>cele</a:t>
            </a:r>
            <a:r>
              <a:rPr lang="en-US" sz="2600" dirty="0"/>
              <a:t> </a:t>
            </a:r>
            <a:r>
              <a:rPr lang="en-US" sz="2600" dirty="0" err="1"/>
              <a:t>doua</a:t>
            </a:r>
            <a:r>
              <a:rPr lang="en-US" sz="2600" dirty="0"/>
              <a:t> </a:t>
            </a:r>
            <a:r>
              <a:rPr lang="en-US" sz="2600" dirty="0" err="1"/>
              <a:t>rezultate</a:t>
            </a:r>
            <a:r>
              <a:rPr lang="en-US" sz="2600" dirty="0"/>
              <a:t> </a:t>
            </a:r>
            <a:r>
              <a:rPr lang="en-US" sz="2600" dirty="0" err="1"/>
              <a:t>insa</a:t>
            </a:r>
            <a:r>
              <a:rPr lang="en-US" sz="2600" dirty="0"/>
              <a:t> in </a:t>
            </a:r>
            <a:r>
              <a:rPr lang="en-US" sz="2600" dirty="0" err="1"/>
              <a:t>cazul</a:t>
            </a:r>
            <a:r>
              <a:rPr lang="en-US" sz="2600" dirty="0"/>
              <a:t> </a:t>
            </a:r>
            <a:r>
              <a:rPr lang="en-US" sz="2600" dirty="0" err="1"/>
              <a:t>contrar</a:t>
            </a:r>
            <a:r>
              <a:rPr lang="en-US" sz="2600" dirty="0"/>
              <a:t> </a:t>
            </a:r>
            <a:r>
              <a:rPr lang="en-US" sz="2600" dirty="0" err="1"/>
              <a:t>rezultatele</a:t>
            </a:r>
            <a:r>
              <a:rPr lang="en-US" sz="2600" dirty="0"/>
              <a:t> </a:t>
            </a:r>
            <a:r>
              <a:rPr lang="en-US" sz="2600" dirty="0" err="1"/>
              <a:t>vor</a:t>
            </a:r>
            <a:r>
              <a:rPr lang="en-US" sz="2600" dirty="0"/>
              <a:t> </a:t>
            </a:r>
            <a:r>
              <a:rPr lang="en-US" sz="2600" dirty="0" err="1"/>
              <a:t>fi</a:t>
            </a:r>
            <a:r>
              <a:rPr lang="en-US" sz="2600" dirty="0"/>
              <a:t> </a:t>
            </a:r>
            <a:r>
              <a:rPr lang="en-US" sz="2600" dirty="0" err="1"/>
              <a:t>diferite</a:t>
            </a:r>
            <a:r>
              <a:rPr lang="en-US" sz="2600" dirty="0"/>
              <a:t>.  </a:t>
            </a:r>
            <a:r>
              <a:rPr lang="en-US" sz="2600" dirty="0" err="1"/>
              <a:t>Pentru</a:t>
            </a:r>
            <a:r>
              <a:rPr lang="en-US" sz="2600" dirty="0"/>
              <a:t> a </a:t>
            </a:r>
            <a:r>
              <a:rPr lang="en-US" sz="2600" dirty="0" err="1"/>
              <a:t>preintampina</a:t>
            </a:r>
            <a:r>
              <a:rPr lang="en-US" sz="2600" dirty="0"/>
              <a:t> </a:t>
            </a:r>
            <a:r>
              <a:rPr lang="en-US" sz="2600" dirty="0" err="1"/>
              <a:t>aceasta</a:t>
            </a:r>
            <a:r>
              <a:rPr lang="en-US" sz="2600" dirty="0"/>
              <a:t> </a:t>
            </a:r>
            <a:r>
              <a:rPr lang="en-US" sz="2600" dirty="0" err="1"/>
              <a:t>eroare</a:t>
            </a:r>
            <a:r>
              <a:rPr lang="en-US" sz="2600" dirty="0"/>
              <a:t> </a:t>
            </a:r>
            <a:r>
              <a:rPr lang="en-US" sz="2600" dirty="0" err="1"/>
              <a:t>este</a:t>
            </a:r>
            <a:r>
              <a:rPr lang="en-US" sz="2600" dirty="0"/>
              <a:t> </a:t>
            </a:r>
            <a:r>
              <a:rPr lang="en-US" sz="2600" dirty="0" err="1"/>
              <a:t>recomandata</a:t>
            </a:r>
            <a:r>
              <a:rPr lang="en-US" sz="2600" dirty="0"/>
              <a:t> </a:t>
            </a:r>
            <a:r>
              <a:rPr lang="en-US" sz="2600" dirty="0" err="1"/>
              <a:t>accesarea</a:t>
            </a:r>
            <a:r>
              <a:rPr lang="en-US" sz="2600" dirty="0"/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testului</a:t>
            </a:r>
            <a:r>
              <a:rPr lang="en-US" sz="2600" b="1" dirty="0">
                <a:solidFill>
                  <a:srgbClr val="FF0000"/>
                </a:solidFill>
              </a:rPr>
              <a:t> Q</a:t>
            </a:r>
            <a:r>
              <a:rPr lang="en-US" sz="2600" dirty="0"/>
              <a:t> </a:t>
            </a:r>
            <a:r>
              <a:rPr lang="en-US" sz="2600" dirty="0" err="1"/>
              <a:t>doar</a:t>
            </a:r>
            <a:r>
              <a:rPr lang="en-US" sz="2600" dirty="0"/>
              <a:t> din </a:t>
            </a:r>
            <a:r>
              <a:rPr lang="en-US" sz="2600" dirty="0" err="1"/>
              <a:t>fereastra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FF0000"/>
                </a:solidFill>
              </a:rPr>
              <a:t>‘Equation’</a:t>
            </a:r>
            <a:r>
              <a:rPr lang="en-US" sz="2600" dirty="0"/>
              <a:t>!</a:t>
            </a:r>
          </a:p>
          <a:p>
            <a:pPr marL="0" indent="234950">
              <a:buNone/>
              <a:defRPr/>
            </a:pPr>
            <a:r>
              <a:rPr lang="en-US" sz="2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0392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1200" dirty="0" smtClean="0"/>
              <a:t/>
            </a:r>
            <a:br>
              <a:rPr lang="en-US" sz="1200" dirty="0" smtClean="0"/>
            </a:br>
            <a:endParaRPr lang="en-US" sz="1200" dirty="0"/>
          </a:p>
        </p:txBody>
      </p:sp>
      <p:pic>
        <p:nvPicPr>
          <p:cNvPr id="4" name="Picture 3" descr="CORELOGRAMA 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278" y="1557121"/>
            <a:ext cx="6472522" cy="49263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b="1" dirty="0" err="1" smtClean="0"/>
              <a:t>Testul</a:t>
            </a:r>
            <a:r>
              <a:rPr lang="en-US" b="1" dirty="0" smtClean="0"/>
              <a:t> Durbin-Watson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234950" algn="just" eaLnBrk="1" hangingPunct="1">
              <a:buNone/>
            </a:pPr>
            <a:r>
              <a:rPr lang="en-US" sz="2600" b="1" dirty="0" err="1">
                <a:solidFill>
                  <a:srgbClr val="C00000"/>
                </a:solidFill>
              </a:rPr>
              <a:t>Testul</a:t>
            </a:r>
            <a:r>
              <a:rPr lang="en-US" sz="2600" b="1" dirty="0">
                <a:solidFill>
                  <a:srgbClr val="C00000"/>
                </a:solidFill>
              </a:rPr>
              <a:t> Durbin Watson </a:t>
            </a:r>
            <a:r>
              <a:rPr lang="en-US" sz="2600" dirty="0" err="1"/>
              <a:t>pentru</a:t>
            </a:r>
            <a:r>
              <a:rPr lang="en-US" sz="2600" dirty="0"/>
              <a:t> </a:t>
            </a:r>
            <a:r>
              <a:rPr lang="en-US" sz="2600" dirty="0" err="1"/>
              <a:t>seriile</a:t>
            </a:r>
            <a:r>
              <a:rPr lang="en-US" sz="2600" dirty="0"/>
              <a:t> de </a:t>
            </a:r>
            <a:r>
              <a:rPr lang="en-US" sz="2600" dirty="0" err="1"/>
              <a:t>timp</a:t>
            </a:r>
            <a:r>
              <a:rPr lang="en-US" sz="2600" dirty="0"/>
              <a:t> </a:t>
            </a:r>
            <a:r>
              <a:rPr lang="en-US" sz="2600" dirty="0" err="1"/>
              <a:t>este</a:t>
            </a:r>
            <a:r>
              <a:rPr lang="en-US" sz="2600" dirty="0"/>
              <a:t> un test </a:t>
            </a:r>
            <a:r>
              <a:rPr lang="en-US" sz="2600" dirty="0" err="1" smtClean="0"/>
              <a:t>destul</a:t>
            </a:r>
            <a:r>
              <a:rPr lang="en-US" sz="2600" dirty="0" smtClean="0"/>
              <a:t> </a:t>
            </a:r>
            <a:r>
              <a:rPr lang="en-US" sz="2600" dirty="0"/>
              <a:t>de </a:t>
            </a:r>
            <a:r>
              <a:rPr lang="en-US" sz="2600" dirty="0" err="1"/>
              <a:t>restrictiv</a:t>
            </a:r>
            <a:r>
              <a:rPr lang="en-US" sz="2600" dirty="0"/>
              <a:t>, </a:t>
            </a:r>
            <a:r>
              <a:rPr lang="en-US" sz="2600" dirty="0" err="1"/>
              <a:t>atat</a:t>
            </a:r>
            <a:r>
              <a:rPr lang="en-US" sz="2600" dirty="0"/>
              <a:t> sub </a:t>
            </a:r>
            <a:r>
              <a:rPr lang="en-US" sz="2600" dirty="0" err="1"/>
              <a:t>aspectul</a:t>
            </a:r>
            <a:r>
              <a:rPr lang="en-US" sz="2600" dirty="0"/>
              <a:t> </a:t>
            </a:r>
            <a:r>
              <a:rPr lang="en-US" sz="2600" dirty="0" err="1"/>
              <a:t>ordinului</a:t>
            </a:r>
            <a:r>
              <a:rPr lang="en-US" sz="2600" dirty="0"/>
              <a:t> </a:t>
            </a:r>
            <a:r>
              <a:rPr lang="en-US" sz="2600" dirty="0" err="1"/>
              <a:t>autocorelatiei</a:t>
            </a:r>
            <a:r>
              <a:rPr lang="en-US" sz="2600" dirty="0"/>
              <a:t> testate cat </a:t>
            </a:r>
            <a:r>
              <a:rPr lang="en-US" sz="2600" dirty="0" err="1"/>
              <a:t>si</a:t>
            </a:r>
            <a:r>
              <a:rPr lang="en-US" sz="2600" dirty="0"/>
              <a:t> sub </a:t>
            </a:r>
            <a:r>
              <a:rPr lang="en-US" sz="2600" dirty="0" err="1"/>
              <a:t>aspectul</a:t>
            </a:r>
            <a:r>
              <a:rPr lang="en-US" sz="2600" dirty="0"/>
              <a:t> </a:t>
            </a:r>
            <a:r>
              <a:rPr lang="en-US" sz="2600" dirty="0" err="1"/>
              <a:t>restrictiilor</a:t>
            </a:r>
            <a:r>
              <a:rPr lang="en-US" sz="2600" dirty="0"/>
              <a:t> </a:t>
            </a:r>
            <a:r>
              <a:rPr lang="en-US" sz="2600" dirty="0" err="1"/>
              <a:t>impuse</a:t>
            </a:r>
            <a:r>
              <a:rPr lang="en-US" sz="2600" dirty="0"/>
              <a:t> </a:t>
            </a:r>
            <a:r>
              <a:rPr lang="en-US" sz="2600" dirty="0" err="1"/>
              <a:t>modelului</a:t>
            </a:r>
            <a:r>
              <a:rPr lang="en-US" sz="2600" dirty="0"/>
              <a:t> </a:t>
            </a:r>
            <a:r>
              <a:rPr lang="en-US" sz="2600" dirty="0" err="1"/>
              <a:t>pentru</a:t>
            </a:r>
            <a:r>
              <a:rPr lang="en-US" sz="2600" dirty="0"/>
              <a:t> care se poate </a:t>
            </a:r>
            <a:r>
              <a:rPr lang="en-US" sz="2600" dirty="0" err="1"/>
              <a:t>aplica</a:t>
            </a:r>
            <a:r>
              <a:rPr lang="en-US" sz="2600" dirty="0"/>
              <a:t>: </a:t>
            </a:r>
            <a:r>
              <a:rPr lang="en-US" sz="2600" dirty="0" err="1"/>
              <a:t>modelul</a:t>
            </a:r>
            <a:r>
              <a:rPr lang="en-US" sz="2600" dirty="0"/>
              <a:t> </a:t>
            </a:r>
            <a:r>
              <a:rPr lang="en-US" sz="2600" dirty="0" err="1"/>
              <a:t>trebuie</a:t>
            </a:r>
            <a:r>
              <a:rPr lang="en-US" sz="2600" dirty="0"/>
              <a:t> </a:t>
            </a:r>
            <a:r>
              <a:rPr lang="en-US" sz="2600" dirty="0" err="1"/>
              <a:t>sa</a:t>
            </a:r>
            <a:r>
              <a:rPr lang="en-US" sz="2600" dirty="0"/>
              <a:t> </a:t>
            </a:r>
            <a:r>
              <a:rPr lang="en-US" sz="2600" dirty="0" err="1"/>
              <a:t>aiba</a:t>
            </a:r>
            <a:r>
              <a:rPr lang="en-US" sz="2600" dirty="0"/>
              <a:t> </a:t>
            </a:r>
            <a:r>
              <a:rPr lang="en-US" sz="2600" dirty="0" err="1"/>
              <a:t>constatnta</a:t>
            </a:r>
            <a:r>
              <a:rPr lang="en-US" sz="2600" dirty="0"/>
              <a:t> </a:t>
            </a:r>
            <a:r>
              <a:rPr lang="en-US" sz="2600" dirty="0" err="1"/>
              <a:t>inclusa</a:t>
            </a:r>
            <a:r>
              <a:rPr lang="en-US" sz="2600" dirty="0"/>
              <a:t> </a:t>
            </a:r>
            <a:r>
              <a:rPr lang="en-US" sz="2600" dirty="0" err="1"/>
              <a:t>si</a:t>
            </a:r>
            <a:r>
              <a:rPr lang="en-US" sz="2600" dirty="0"/>
              <a:t> </a:t>
            </a:r>
            <a:r>
              <a:rPr lang="en-US" sz="2600" dirty="0" err="1"/>
              <a:t>variabilele</a:t>
            </a:r>
            <a:r>
              <a:rPr lang="en-US" sz="2600" dirty="0"/>
              <a:t> explicative </a:t>
            </a:r>
            <a:r>
              <a:rPr lang="en-US" sz="2600" dirty="0" err="1"/>
              <a:t>trebuie</a:t>
            </a:r>
            <a:r>
              <a:rPr lang="en-US" sz="2600" dirty="0"/>
              <a:t> </a:t>
            </a:r>
            <a:r>
              <a:rPr lang="en-US" sz="2600" dirty="0" err="1"/>
              <a:t>sa</a:t>
            </a:r>
            <a:r>
              <a:rPr lang="en-US" sz="2600" dirty="0"/>
              <a:t> fie </a:t>
            </a:r>
            <a:r>
              <a:rPr lang="en-US" sz="2600" dirty="0" err="1"/>
              <a:t>exogene</a:t>
            </a:r>
            <a:r>
              <a:rPr lang="en-US" sz="2600" dirty="0"/>
              <a:t>.</a:t>
            </a:r>
          </a:p>
          <a:p>
            <a:pPr algn="just" eaLnBrk="1" hangingPunct="1"/>
            <a:endParaRPr lang="en-US" sz="2600" b="1" dirty="0"/>
          </a:p>
          <a:p>
            <a:pPr marL="0" indent="234950" algn="just" eaLnBrk="1" hangingPunct="1">
              <a:buNone/>
            </a:pPr>
            <a:r>
              <a:rPr lang="en-US" sz="2600" b="1" dirty="0">
                <a:solidFill>
                  <a:srgbClr val="C00000"/>
                </a:solidFill>
              </a:rPr>
              <a:t>Nota</a:t>
            </a:r>
            <a:r>
              <a:rPr lang="en-US" sz="2600" dirty="0"/>
              <a:t>: </a:t>
            </a:r>
            <a:r>
              <a:rPr lang="en-US" sz="2600" dirty="0" err="1"/>
              <a:t>Numim</a:t>
            </a:r>
            <a:r>
              <a:rPr lang="en-US" sz="2600" dirty="0"/>
              <a:t> </a:t>
            </a:r>
            <a:r>
              <a:rPr lang="en-US" sz="2600" dirty="0" err="1"/>
              <a:t>variabile</a:t>
            </a:r>
            <a:r>
              <a:rPr lang="en-US" sz="2600" dirty="0"/>
              <a:t> </a:t>
            </a:r>
            <a:r>
              <a:rPr lang="en-US" sz="2600" dirty="0" err="1"/>
              <a:t>exogene</a:t>
            </a:r>
            <a:r>
              <a:rPr lang="en-US" sz="2600" dirty="0"/>
              <a:t> </a:t>
            </a:r>
            <a:r>
              <a:rPr lang="en-US" sz="2600" dirty="0" err="1"/>
              <a:t>acele</a:t>
            </a:r>
            <a:r>
              <a:rPr lang="en-US" sz="2600" dirty="0"/>
              <a:t> </a:t>
            </a:r>
            <a:r>
              <a:rPr lang="en-US" sz="2600" dirty="0" err="1"/>
              <a:t>variabile</a:t>
            </a:r>
            <a:r>
              <a:rPr lang="en-US" sz="2600" dirty="0"/>
              <a:t> care </a:t>
            </a:r>
            <a:r>
              <a:rPr lang="en-US" sz="2600" dirty="0" err="1"/>
              <a:t>influenteaza</a:t>
            </a:r>
            <a:r>
              <a:rPr lang="en-US" sz="2600" dirty="0"/>
              <a:t> </a:t>
            </a:r>
            <a:r>
              <a:rPr lang="en-US" sz="2600" dirty="0" err="1"/>
              <a:t>modelul</a:t>
            </a:r>
            <a:r>
              <a:rPr lang="en-US" sz="2600" dirty="0"/>
              <a:t> </a:t>
            </a:r>
            <a:r>
              <a:rPr lang="en-US" sz="2600" dirty="0" err="1"/>
              <a:t>fara</a:t>
            </a:r>
            <a:r>
              <a:rPr lang="en-US" sz="2600" dirty="0"/>
              <a:t> </a:t>
            </a:r>
            <a:r>
              <a:rPr lang="en-US" sz="2600" dirty="0" err="1"/>
              <a:t>insa</a:t>
            </a:r>
            <a:r>
              <a:rPr lang="en-US" sz="2600" dirty="0"/>
              <a:t> a fi </a:t>
            </a:r>
            <a:r>
              <a:rPr lang="en-US" sz="2600" dirty="0" err="1"/>
              <a:t>afectate</a:t>
            </a:r>
            <a:r>
              <a:rPr lang="en-US" sz="2600" dirty="0"/>
              <a:t> de </a:t>
            </a:r>
            <a:r>
              <a:rPr lang="en-US" sz="2600" dirty="0" err="1"/>
              <a:t>acesta</a:t>
            </a:r>
            <a:r>
              <a:rPr lang="en-US" sz="2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0940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b="1" dirty="0" err="1" smtClean="0"/>
              <a:t>Testarea</a:t>
            </a:r>
            <a:r>
              <a:rPr lang="en-US" b="1" dirty="0" smtClean="0"/>
              <a:t> </a:t>
            </a:r>
            <a:r>
              <a:rPr lang="en-US" b="1" dirty="0" err="1" smtClean="0"/>
              <a:t>Homoscedasticitatii</a:t>
            </a:r>
            <a:endParaRPr lang="en-US" b="1" dirty="0" smtClean="0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1584337" y="1311937"/>
            <a:ext cx="10283813" cy="50665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 smtClean="0"/>
              <a:t>Testarea</a:t>
            </a:r>
            <a:r>
              <a:rPr lang="en-US" sz="2800" dirty="0" smtClean="0"/>
              <a:t> </a:t>
            </a:r>
            <a:r>
              <a:rPr lang="en-US" sz="2800" b="1" dirty="0" err="1">
                <a:solidFill>
                  <a:srgbClr val="002060"/>
                </a:solidFill>
              </a:rPr>
              <a:t>homoscedasticitatii</a:t>
            </a:r>
            <a:r>
              <a:rPr lang="en-US" sz="2800" dirty="0" smtClean="0"/>
              <a:t>: </a:t>
            </a:r>
            <a:r>
              <a:rPr lang="en-US" sz="2800" dirty="0">
                <a:solidFill>
                  <a:srgbClr val="C00000"/>
                </a:solidFill>
              </a:rPr>
              <a:t>H</a:t>
            </a:r>
            <a:r>
              <a:rPr lang="en-US" sz="2800" baseline="-25000" dirty="0">
                <a:solidFill>
                  <a:srgbClr val="C00000"/>
                </a:solidFill>
              </a:rPr>
              <a:t>0</a:t>
            </a:r>
            <a:r>
              <a:rPr lang="en-US" sz="2800" b="1" dirty="0"/>
              <a:t>:</a:t>
            </a:r>
            <a:r>
              <a:rPr lang="en-US" sz="2800" dirty="0"/>
              <a:t> </a:t>
            </a:r>
            <a:r>
              <a:rPr lang="el-GR" sz="2800" dirty="0"/>
              <a:t>σ</a:t>
            </a:r>
            <a:r>
              <a:rPr lang="en-US" sz="2800" baseline="-25000" dirty="0"/>
              <a:t> εt</a:t>
            </a:r>
            <a:r>
              <a:rPr lang="en-US" sz="2800" baseline="30000" dirty="0"/>
              <a:t>2</a:t>
            </a:r>
            <a:r>
              <a:rPr lang="en-US" sz="2800" dirty="0"/>
              <a:t>=ct. </a:t>
            </a:r>
            <a:r>
              <a:rPr lang="en-US" sz="2800" dirty="0" err="1"/>
              <a:t>oricare</a:t>
            </a:r>
            <a:r>
              <a:rPr lang="en-US" sz="2800" dirty="0"/>
              <a:t> </a:t>
            </a:r>
            <a:r>
              <a:rPr lang="en-US" sz="2800" dirty="0" err="1"/>
              <a:t>ar</a:t>
            </a:r>
            <a:r>
              <a:rPr lang="en-US" sz="2800" dirty="0"/>
              <a:t> fi t=1,T.</a:t>
            </a:r>
          </a:p>
          <a:p>
            <a:pPr marL="0" indent="0" eaLnBrk="1" hangingPunct="1">
              <a:buNone/>
            </a:pPr>
            <a:r>
              <a:rPr lang="en-US" sz="2800" b="1" dirty="0" smtClean="0"/>
              <a:t>1.</a:t>
            </a:r>
            <a:r>
              <a:rPr lang="en-US" sz="2800" b="1" dirty="0" smtClean="0">
                <a:solidFill>
                  <a:srgbClr val="C00000"/>
                </a:solidFill>
              </a:rPr>
              <a:t>Berush-Pagan-Godfrey</a:t>
            </a:r>
            <a:endParaRPr lang="en-US" sz="2800" b="1" dirty="0">
              <a:solidFill>
                <a:srgbClr val="C00000"/>
              </a:solidFill>
            </a:endParaRPr>
          </a:p>
          <a:p>
            <a:pPr marL="0" indent="0" eaLnBrk="1" hangingPunct="1">
              <a:buNone/>
            </a:pPr>
            <a:r>
              <a:rPr lang="en-US" sz="2800" b="1" dirty="0">
                <a:solidFill>
                  <a:schemeClr val="tx1"/>
                </a:solidFill>
              </a:rPr>
              <a:t>2.</a:t>
            </a:r>
            <a:r>
              <a:rPr lang="en-US" sz="2800" b="1" dirty="0">
                <a:solidFill>
                  <a:srgbClr val="C00000"/>
                </a:solidFill>
              </a:rPr>
              <a:t>Harvey</a:t>
            </a:r>
          </a:p>
          <a:p>
            <a:pPr marL="0" indent="0" eaLnBrk="1" hangingPunct="1">
              <a:buNone/>
            </a:pPr>
            <a:r>
              <a:rPr lang="en-US" sz="2800" b="1" dirty="0">
                <a:solidFill>
                  <a:schemeClr val="tx1"/>
                </a:solidFill>
              </a:rPr>
              <a:t>3.</a:t>
            </a:r>
            <a:r>
              <a:rPr lang="en-US" sz="2800" b="1" dirty="0">
                <a:solidFill>
                  <a:srgbClr val="C00000"/>
                </a:solidFill>
              </a:rPr>
              <a:t>Glesjer</a:t>
            </a:r>
          </a:p>
          <a:p>
            <a:pPr marL="0" indent="0" eaLnBrk="1" hangingPunct="1">
              <a:buNone/>
            </a:pPr>
            <a:r>
              <a:rPr lang="en-US" sz="2800" b="1" dirty="0">
                <a:solidFill>
                  <a:schemeClr val="tx1"/>
                </a:solidFill>
              </a:rPr>
              <a:t>4. </a:t>
            </a:r>
            <a:r>
              <a:rPr lang="en-US" sz="2800" b="1" dirty="0">
                <a:solidFill>
                  <a:srgbClr val="C00000"/>
                </a:solidFill>
              </a:rPr>
              <a:t>White</a:t>
            </a:r>
          </a:p>
          <a:p>
            <a:pPr marL="0" indent="0" eaLnBrk="1" hangingPunct="1">
              <a:buNone/>
            </a:pPr>
            <a:endParaRPr lang="en-US" sz="2800" dirty="0"/>
          </a:p>
          <a:p>
            <a:pPr marL="0" indent="0" eaLnBrk="1" hangingPunct="1">
              <a:buNone/>
            </a:pPr>
            <a:r>
              <a:rPr lang="en-US" sz="2800" dirty="0" err="1"/>
              <a:t>Testarea</a:t>
            </a:r>
            <a:r>
              <a:rPr lang="en-US" sz="2800" dirty="0"/>
              <a:t> </a:t>
            </a:r>
            <a:r>
              <a:rPr lang="en-US" sz="2800" b="1" dirty="0" err="1">
                <a:solidFill>
                  <a:srgbClr val="002060"/>
                </a:solidFill>
              </a:rPr>
              <a:t>heteroscedaticitatii</a:t>
            </a:r>
            <a:r>
              <a:rPr lang="en-US" sz="2800" b="1" dirty="0">
                <a:solidFill>
                  <a:srgbClr val="002060"/>
                </a:solidFill>
              </a:rPr>
              <a:t> </a:t>
            </a:r>
            <a:r>
              <a:rPr lang="en-US" sz="2800" b="1" dirty="0" err="1">
                <a:solidFill>
                  <a:srgbClr val="002060"/>
                </a:solidFill>
              </a:rPr>
              <a:t>conditionate</a:t>
            </a:r>
            <a:r>
              <a:rPr lang="en-US" sz="2800" dirty="0"/>
              <a:t>:</a:t>
            </a:r>
          </a:p>
          <a:p>
            <a:pPr marL="0" indent="0" eaLnBrk="1" hangingPunct="1">
              <a:buNone/>
            </a:pPr>
            <a:r>
              <a:rPr lang="en-US" sz="2800" b="1" dirty="0"/>
              <a:t>1. </a:t>
            </a:r>
            <a:r>
              <a:rPr lang="en-US" sz="2800" b="1" dirty="0">
                <a:solidFill>
                  <a:srgbClr val="C00000"/>
                </a:solidFill>
              </a:rPr>
              <a:t>ARCH</a:t>
            </a:r>
          </a:p>
          <a:p>
            <a:pPr marL="0" indent="0" eaLnBrk="1" hangingPunct="1">
              <a:buNone/>
            </a:pPr>
            <a:r>
              <a:rPr lang="en-US" sz="2800" b="1" dirty="0"/>
              <a:t>2. </a:t>
            </a:r>
            <a:r>
              <a:rPr lang="en-US" sz="2800" b="1" dirty="0" err="1">
                <a:solidFill>
                  <a:srgbClr val="C00000"/>
                </a:solidFill>
              </a:rPr>
              <a:t>Corelograma</a:t>
            </a:r>
            <a:r>
              <a:rPr lang="en-US" sz="2800" b="1" dirty="0">
                <a:solidFill>
                  <a:srgbClr val="C00000"/>
                </a:solidFill>
              </a:rPr>
              <a:t> </a:t>
            </a:r>
            <a:r>
              <a:rPr lang="en-US" sz="2800" b="1" dirty="0" err="1">
                <a:solidFill>
                  <a:srgbClr val="C00000"/>
                </a:solidFill>
              </a:rPr>
              <a:t>patratului</a:t>
            </a:r>
            <a:r>
              <a:rPr lang="en-US" sz="2800" b="1" dirty="0">
                <a:solidFill>
                  <a:srgbClr val="C00000"/>
                </a:solidFill>
              </a:rPr>
              <a:t> </a:t>
            </a:r>
            <a:r>
              <a:rPr lang="en-US" sz="2800" b="1" dirty="0" err="1" smtClean="0">
                <a:solidFill>
                  <a:srgbClr val="C00000"/>
                </a:solidFill>
              </a:rPr>
              <a:t>erorilor</a:t>
            </a:r>
            <a:endParaRPr lang="en-US" sz="2800" dirty="0"/>
          </a:p>
          <a:p>
            <a:pPr eaLnBrk="1" hangingPunct="1"/>
            <a:endParaRPr lang="en-US" sz="2800" dirty="0"/>
          </a:p>
          <a:p>
            <a:pPr eaLnBrk="1" hangingPunct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4329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1527717" y="698809"/>
            <a:ext cx="9976895" cy="505522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3000" b="1" dirty="0" err="1"/>
              <a:t>Testarea</a:t>
            </a:r>
            <a:r>
              <a:rPr lang="en-US" sz="3000" b="1" dirty="0"/>
              <a:t> </a:t>
            </a:r>
            <a:r>
              <a:rPr lang="en-US" sz="3000" b="1" dirty="0" err="1" smtClean="0"/>
              <a:t>heteroscedasticitatii</a:t>
            </a:r>
            <a:r>
              <a:rPr lang="en-US" sz="3000" b="1" dirty="0" smtClean="0"/>
              <a:t> - </a:t>
            </a:r>
            <a:r>
              <a:rPr lang="en-US" sz="3000" b="1" dirty="0" err="1"/>
              <a:t>Testul</a:t>
            </a:r>
            <a:r>
              <a:rPr lang="en-US" sz="3000" b="1" dirty="0"/>
              <a:t> </a:t>
            </a:r>
            <a:r>
              <a:rPr lang="en-US" sz="3000" b="1" dirty="0" err="1" smtClean="0"/>
              <a:t>Berusch</a:t>
            </a:r>
            <a:r>
              <a:rPr lang="en-US" sz="3000" b="1" dirty="0" smtClean="0"/>
              <a:t> Pagan Godfrey</a:t>
            </a:r>
            <a:endParaRPr lang="en-US" sz="3000" b="1" dirty="0"/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1584337" y="1311937"/>
            <a:ext cx="10492433" cy="4899291"/>
          </a:xfrm>
        </p:spPr>
        <p:txBody>
          <a:bodyPr/>
          <a:lstStyle/>
          <a:p>
            <a:pPr marL="0" indent="234950" eaLnBrk="1" hangingPunct="1">
              <a:buNone/>
            </a:pPr>
            <a:r>
              <a:rPr lang="en-US" sz="2400" dirty="0"/>
              <a:t>Este </a:t>
            </a:r>
            <a:r>
              <a:rPr lang="en-US" sz="2400" dirty="0" smtClean="0"/>
              <a:t>un test </a:t>
            </a:r>
            <a:r>
              <a:rPr lang="en-US" sz="2400" dirty="0"/>
              <a:t>din </a:t>
            </a:r>
            <a:r>
              <a:rPr lang="en-US" sz="2400" b="1" dirty="0" err="1">
                <a:solidFill>
                  <a:srgbClr val="C00000"/>
                </a:solidFill>
              </a:rPr>
              <a:t>familia</a:t>
            </a:r>
            <a:r>
              <a:rPr lang="en-US" sz="2400" b="1" dirty="0">
                <a:solidFill>
                  <a:srgbClr val="C00000"/>
                </a:solidFill>
              </a:rPr>
              <a:t> Lagrange Multiplier </a:t>
            </a:r>
            <a:r>
              <a:rPr lang="en-US" sz="2400" dirty="0"/>
              <a:t>(LM)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utilizeaza</a:t>
            </a:r>
            <a:r>
              <a:rPr lang="en-US" sz="2400" dirty="0"/>
              <a:t> </a:t>
            </a:r>
            <a:r>
              <a:rPr lang="en-US" sz="2400" dirty="0" err="1"/>
              <a:t>statistca</a:t>
            </a:r>
            <a:r>
              <a:rPr lang="en-US" sz="2400" dirty="0"/>
              <a:t>: </a:t>
            </a:r>
            <a:endParaRPr lang="en-US" sz="2400" dirty="0" smtClean="0"/>
          </a:p>
          <a:p>
            <a:pPr marL="0" indent="234950" algn="ctr" eaLnBrk="1" hangingPunct="1">
              <a:buNone/>
            </a:pPr>
            <a:r>
              <a:rPr lang="en-US" sz="2400" b="1" dirty="0" smtClean="0">
                <a:solidFill>
                  <a:srgbClr val="C00000"/>
                </a:solidFill>
              </a:rPr>
              <a:t>LM(p</a:t>
            </a:r>
            <a:r>
              <a:rPr lang="en-US" sz="2400" b="1" dirty="0">
                <a:solidFill>
                  <a:srgbClr val="C00000"/>
                </a:solidFill>
              </a:rPr>
              <a:t>)=nR</a:t>
            </a:r>
            <a:r>
              <a:rPr lang="en-US" sz="2400" b="1" baseline="30000" dirty="0">
                <a:solidFill>
                  <a:srgbClr val="C00000"/>
                </a:solidFill>
              </a:rPr>
              <a:t>2</a:t>
            </a:r>
            <a:r>
              <a:rPr lang="en-US" sz="2400" dirty="0"/>
              <a:t>~</a:t>
            </a:r>
            <a:r>
              <a:rPr lang="el-GR" sz="2400" dirty="0"/>
              <a:t>χ</a:t>
            </a:r>
            <a:r>
              <a:rPr lang="en-US" sz="2400" baseline="30000" dirty="0"/>
              <a:t>2</a:t>
            </a:r>
            <a:r>
              <a:rPr lang="en-US" sz="2400" dirty="0"/>
              <a:t>(p)</a:t>
            </a:r>
          </a:p>
          <a:p>
            <a:pPr marL="0" indent="234950" eaLnBrk="1" hangingPunct="1">
              <a:buNone/>
            </a:pPr>
            <a:r>
              <a:rPr lang="en-US" sz="2400" b="1" dirty="0"/>
              <a:t>BPG</a:t>
            </a:r>
            <a:r>
              <a:rPr lang="en-US" sz="2400" dirty="0"/>
              <a:t> </a:t>
            </a:r>
            <a:r>
              <a:rPr lang="en-US" sz="2400" dirty="0" err="1"/>
              <a:t>efectueaza</a:t>
            </a:r>
            <a:r>
              <a:rPr lang="en-US" sz="2400" dirty="0"/>
              <a:t> o </a:t>
            </a:r>
            <a:r>
              <a:rPr lang="en-US" sz="2400" dirty="0" err="1"/>
              <a:t>regresie</a:t>
            </a:r>
            <a:r>
              <a:rPr lang="en-US" sz="2400" dirty="0"/>
              <a:t>, </a:t>
            </a:r>
            <a:r>
              <a:rPr lang="en-US" sz="2400" dirty="0" err="1"/>
              <a:t>implicita</a:t>
            </a:r>
            <a:r>
              <a:rPr lang="en-US" sz="2400" dirty="0"/>
              <a:t>, </a:t>
            </a:r>
            <a:r>
              <a:rPr lang="en-US" sz="2400" dirty="0" err="1"/>
              <a:t>intre</a:t>
            </a:r>
            <a:r>
              <a:rPr lang="en-US" sz="2400" dirty="0"/>
              <a:t> </a:t>
            </a:r>
            <a:r>
              <a:rPr lang="en-US" sz="2400" dirty="0" err="1"/>
              <a:t>patratul</a:t>
            </a:r>
            <a:r>
              <a:rPr lang="en-US" sz="2400" dirty="0"/>
              <a:t> </a:t>
            </a:r>
            <a:r>
              <a:rPr lang="en-US" sz="2400" dirty="0" err="1"/>
              <a:t>reziduurilor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regresorii</a:t>
            </a:r>
            <a:r>
              <a:rPr lang="en-US" sz="2400" dirty="0"/>
              <a:t> </a:t>
            </a:r>
            <a:r>
              <a:rPr lang="en-US" sz="2400" dirty="0" err="1"/>
              <a:t>modelului</a:t>
            </a:r>
            <a:r>
              <a:rPr lang="en-US" sz="2400" dirty="0"/>
              <a:t> original</a:t>
            </a:r>
          </a:p>
          <a:p>
            <a:pPr marL="0" indent="234950" eaLnBrk="1" hangingPunct="1">
              <a:buNone/>
            </a:pPr>
            <a:r>
              <a:rPr lang="en-US" sz="2400" b="1" dirty="0" err="1">
                <a:solidFill>
                  <a:srgbClr val="C00000"/>
                </a:solidFill>
              </a:rPr>
              <a:t>Ipoteza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nula</a:t>
            </a:r>
            <a:r>
              <a:rPr lang="en-US" sz="2400" dirty="0" smtClean="0"/>
              <a:t> </a:t>
            </a:r>
          </a:p>
          <a:p>
            <a:pPr marL="0" indent="234950" eaLnBrk="1" hangingPunct="1">
              <a:buNone/>
            </a:pPr>
            <a:r>
              <a:rPr lang="en-US" sz="2400" b="1" dirty="0" smtClean="0">
                <a:solidFill>
                  <a:srgbClr val="C00000"/>
                </a:solidFill>
              </a:rPr>
              <a:t>H</a:t>
            </a:r>
            <a:r>
              <a:rPr lang="en-US" sz="2400" b="1" baseline="-25000" dirty="0" smtClean="0">
                <a:solidFill>
                  <a:srgbClr val="C00000"/>
                </a:solidFill>
              </a:rPr>
              <a:t>0</a:t>
            </a:r>
            <a:r>
              <a:rPr lang="en-US" sz="2400" dirty="0"/>
              <a:t>: </a:t>
            </a:r>
            <a:r>
              <a:rPr lang="el-GR" sz="2400" dirty="0">
                <a:latin typeface="Bookman Old Style" pitchFamily="18" charset="0"/>
              </a:rPr>
              <a:t>γ</a:t>
            </a:r>
            <a:r>
              <a:rPr lang="en-US" sz="2400" baseline="-25000" dirty="0"/>
              <a:t>1</a:t>
            </a:r>
            <a:r>
              <a:rPr lang="en-US" sz="2400" dirty="0"/>
              <a:t>=</a:t>
            </a:r>
            <a:r>
              <a:rPr lang="el-GR" sz="2400" dirty="0">
                <a:latin typeface="Bookman Old Style" pitchFamily="18" charset="0"/>
              </a:rPr>
              <a:t>γ</a:t>
            </a:r>
            <a:r>
              <a:rPr lang="en-US" sz="2400" baseline="-25000" dirty="0"/>
              <a:t>2</a:t>
            </a:r>
            <a:r>
              <a:rPr lang="en-US" sz="2400" dirty="0"/>
              <a:t>=….=</a:t>
            </a:r>
            <a:r>
              <a:rPr lang="el-GR" sz="2400" dirty="0">
                <a:latin typeface="Bookman Old Style" pitchFamily="18" charset="0"/>
              </a:rPr>
              <a:t> γ</a:t>
            </a:r>
            <a:r>
              <a:rPr lang="en-US" sz="2400" baseline="-25000" dirty="0"/>
              <a:t>p</a:t>
            </a:r>
            <a:r>
              <a:rPr lang="en-US" sz="2400" dirty="0"/>
              <a:t>=0 (</a:t>
            </a:r>
            <a:r>
              <a:rPr lang="en-US" sz="2400" dirty="0" err="1"/>
              <a:t>fara</a:t>
            </a:r>
            <a:r>
              <a:rPr lang="en-US" sz="2400" dirty="0"/>
              <a:t> </a:t>
            </a:r>
            <a:r>
              <a:rPr lang="en-US" sz="2400" dirty="0" err="1"/>
              <a:t>constanta</a:t>
            </a:r>
            <a:r>
              <a:rPr lang="en-US" sz="2400" dirty="0"/>
              <a:t> </a:t>
            </a:r>
            <a:r>
              <a:rPr lang="el-GR" sz="2400" dirty="0">
                <a:latin typeface="Bookman Old Style" pitchFamily="18" charset="0"/>
              </a:rPr>
              <a:t>γ</a:t>
            </a:r>
            <a:r>
              <a:rPr lang="en-US" sz="2400" baseline="-25000" dirty="0"/>
              <a:t>0</a:t>
            </a:r>
            <a:r>
              <a:rPr lang="en-US" sz="2400" dirty="0"/>
              <a:t>)</a:t>
            </a:r>
          </a:p>
          <a:p>
            <a:pPr marL="0" indent="234950" eaLnBrk="1" hangingPunct="1">
              <a:buNone/>
            </a:pPr>
            <a:r>
              <a:rPr lang="en-US" sz="2400" dirty="0" err="1"/>
              <a:t>Alternativ</a:t>
            </a:r>
            <a:r>
              <a:rPr lang="en-US" sz="2400" dirty="0"/>
              <a:t> </a:t>
            </a:r>
            <a:r>
              <a:rPr lang="en-US" sz="2400" dirty="0" err="1"/>
              <a:t>putem</a:t>
            </a:r>
            <a:r>
              <a:rPr lang="en-US" sz="2400" dirty="0"/>
              <a:t> </a:t>
            </a:r>
            <a:r>
              <a:rPr lang="en-US" sz="2400" dirty="0" err="1"/>
              <a:t>utiliza</a:t>
            </a:r>
            <a:r>
              <a:rPr lang="en-US" sz="2400" dirty="0"/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testul</a:t>
            </a:r>
            <a:r>
              <a:rPr lang="en-US" sz="2400" b="1" dirty="0">
                <a:solidFill>
                  <a:srgbClr val="C00000"/>
                </a:solidFill>
              </a:rPr>
              <a:t> F </a:t>
            </a:r>
            <a:r>
              <a:rPr lang="en-US" sz="2400" dirty="0" err="1"/>
              <a:t>pentru</a:t>
            </a:r>
            <a:r>
              <a:rPr lang="en-US" sz="2400" dirty="0"/>
              <a:t> care </a:t>
            </a:r>
            <a:r>
              <a:rPr lang="en-US" sz="2400" dirty="0" err="1"/>
              <a:t>distributia</a:t>
            </a:r>
            <a:r>
              <a:rPr lang="en-US" sz="2400" dirty="0"/>
              <a:t> </a:t>
            </a:r>
            <a:r>
              <a:rPr lang="en-US" sz="2400" dirty="0" err="1"/>
              <a:t>ramane</a:t>
            </a:r>
            <a:r>
              <a:rPr lang="en-US" sz="2400" dirty="0"/>
              <a:t> </a:t>
            </a:r>
            <a:r>
              <a:rPr lang="en-US" sz="2400" dirty="0" err="1"/>
              <a:t>incerta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esantioane</a:t>
            </a:r>
            <a:r>
              <a:rPr lang="en-US" sz="2400" dirty="0"/>
              <a:t> de </a:t>
            </a:r>
            <a:r>
              <a:rPr lang="en-US" sz="2400" dirty="0" err="1"/>
              <a:t>volum</a:t>
            </a:r>
            <a:r>
              <a:rPr lang="en-US" sz="2400" dirty="0"/>
              <a:t> mic!</a:t>
            </a:r>
          </a:p>
          <a:p>
            <a:pPr marL="0" indent="234950" eaLnBrk="1" hangingPunct="1">
              <a:buNone/>
            </a:pPr>
            <a:r>
              <a:rPr lang="en-US" sz="2400" dirty="0"/>
              <a:t>EXEMPLU: </a:t>
            </a:r>
            <a:r>
              <a:rPr lang="en-US" sz="2400" dirty="0" err="1"/>
              <a:t>Tabla</a:t>
            </a:r>
            <a:r>
              <a:rPr lang="en-US" sz="24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218860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err="1" smtClean="0"/>
              <a:t>Testarea</a:t>
            </a:r>
            <a:r>
              <a:rPr lang="en-US" b="1" dirty="0" smtClean="0"/>
              <a:t> </a:t>
            </a:r>
            <a:r>
              <a:rPr lang="en-US" b="1" dirty="0" err="1" smtClean="0"/>
              <a:t>heteroscedaticitatii</a:t>
            </a:r>
            <a:r>
              <a:rPr lang="en-US" b="1" dirty="0" smtClean="0"/>
              <a:t>- </a:t>
            </a:r>
            <a:r>
              <a:rPr lang="en-US" b="1" dirty="0" err="1" smtClean="0"/>
              <a:t>Testul</a:t>
            </a:r>
            <a:r>
              <a:rPr lang="en-US" b="1" dirty="0" smtClean="0"/>
              <a:t> </a:t>
            </a:r>
            <a:r>
              <a:rPr lang="en-US" b="1" dirty="0" err="1" smtClean="0"/>
              <a:t>Breusch</a:t>
            </a:r>
            <a:r>
              <a:rPr lang="en-US" b="1" dirty="0" smtClean="0"/>
              <a:t> </a:t>
            </a:r>
            <a:r>
              <a:rPr lang="en-US" b="1" dirty="0"/>
              <a:t>Pagan Godfrey</a:t>
            </a:r>
            <a:endParaRPr lang="en-US" b="1" dirty="0" smtClean="0"/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OUTPUT  </a:t>
            </a:r>
            <a:r>
              <a:rPr lang="en-US" dirty="0" err="1" smtClean="0"/>
              <a:t>EViews</a:t>
            </a:r>
            <a:endParaRPr lang="en-US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19301" y="2038351"/>
          <a:ext cx="7871455" cy="2114020"/>
        </p:xfrm>
        <a:graphic>
          <a:graphicData uri="http://schemas.openxmlformats.org/drawingml/2006/table">
            <a:tbl>
              <a:tblPr/>
              <a:tblGrid>
                <a:gridCol w="2414588"/>
                <a:gridCol w="1721288"/>
                <a:gridCol w="954961"/>
                <a:gridCol w="1836055"/>
                <a:gridCol w="944563"/>
              </a:tblGrid>
              <a:tr h="422804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 dirty="0" err="1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Heteroskedasticity</a:t>
                      </a:r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 Test: </a:t>
                      </a:r>
                      <a:r>
                        <a:rPr lang="en-US" sz="2600" b="0" i="0" u="none" strike="noStrike" dirty="0" err="1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Breusch</a:t>
                      </a:r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-Pagan-Godfrey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22804">
                <a:tc>
                  <a:txBody>
                    <a:bodyPr/>
                    <a:lstStyle/>
                    <a:p>
                      <a:pPr algn="l" fontAlgn="b"/>
                      <a:endParaRPr lang="en-US" sz="26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6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6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6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6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2804"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F-statistic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8.5213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    Prob. F(2,269)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0.0003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2804"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Obs*R-squared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16.2059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    Prob. Chi-Square(2)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0.0003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2804"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Scaled explained SS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23.4468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    Prob. Chi-Square(2)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0.0000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7060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95500" y="209549"/>
          <a:ext cx="8833294" cy="6286500"/>
        </p:xfrm>
        <a:graphic>
          <a:graphicData uri="http://schemas.openxmlformats.org/drawingml/2006/table">
            <a:tbl>
              <a:tblPr/>
              <a:tblGrid>
                <a:gridCol w="2872486"/>
                <a:gridCol w="2352675"/>
                <a:gridCol w="1294242"/>
                <a:gridCol w="1004204"/>
                <a:gridCol w="1309687"/>
              </a:tblGrid>
              <a:tr h="20742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Test Equation: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742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Dependent Variable: RESID^2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742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Method: Least Squares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742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Date: 12/16/16   Time: 10:29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742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Sample: 1992M01 2014M08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742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Included observations: 272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7429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742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Variable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Coefficient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Std. Error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t-Statistic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Prob. 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7429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742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-34970.3800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119884.9000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-0.2917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0.7707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742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TDUM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5642.5880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2027.8330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2.7826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0.0058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742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TDUM^2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-13.9205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7.1937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-1.9351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0.0540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7429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742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R-squared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0.0596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    Mean dependent var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390050.0000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742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Adjusted R-squared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0.0526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    S.D. dependent var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672136.1000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742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S.E. of regression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654224.1000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    Akaike info criterion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29.6313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7403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Sum squared resid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115000000000000.0000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    Schwarz criterion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29.6710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742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Log likelihood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-4026.8510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    Hannan-Quinn criter.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29.6472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742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F-statistic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8.5213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    Durbin-Watson stat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1.5694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742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Prob(F-statistic)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0.0003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b="1" dirty="0" err="1"/>
              <a:t>Testarea</a:t>
            </a:r>
            <a:r>
              <a:rPr lang="en-US" b="1" dirty="0"/>
              <a:t> </a:t>
            </a:r>
            <a:r>
              <a:rPr lang="en-US" b="1" dirty="0" err="1"/>
              <a:t>heteroscedaticitatii</a:t>
            </a:r>
            <a:r>
              <a:rPr lang="en-US" b="1" dirty="0"/>
              <a:t>- </a:t>
            </a:r>
            <a:r>
              <a:rPr lang="en-US" b="1" dirty="0" err="1"/>
              <a:t>Testul</a:t>
            </a:r>
            <a:r>
              <a:rPr lang="en-US" b="1" dirty="0"/>
              <a:t> HARVEY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1584338" y="1221672"/>
            <a:ext cx="9920274" cy="4899291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sz="2800" b="1" dirty="0" err="1">
                <a:solidFill>
                  <a:srgbClr val="C00000"/>
                </a:solidFill>
              </a:rPr>
              <a:t>Havrey</a:t>
            </a:r>
            <a:r>
              <a:rPr lang="en-US" sz="2800" dirty="0"/>
              <a:t> </a:t>
            </a:r>
            <a:r>
              <a:rPr lang="en-US" sz="2800" dirty="0" err="1"/>
              <a:t>efectueaza</a:t>
            </a:r>
            <a:r>
              <a:rPr lang="en-US" sz="2800" dirty="0"/>
              <a:t> implicit o </a:t>
            </a:r>
            <a:r>
              <a:rPr lang="en-US" sz="2800" dirty="0" err="1"/>
              <a:t>regresie</a:t>
            </a:r>
            <a:r>
              <a:rPr lang="en-US" sz="2800" dirty="0"/>
              <a:t> </a:t>
            </a:r>
            <a:r>
              <a:rPr lang="en-US" sz="2800" dirty="0" err="1"/>
              <a:t>intre</a:t>
            </a:r>
            <a:r>
              <a:rPr lang="en-US" sz="2800" dirty="0"/>
              <a:t> </a:t>
            </a:r>
            <a:r>
              <a:rPr lang="en-US" sz="2800" i="1" dirty="0" err="1">
                <a:solidFill>
                  <a:srgbClr val="C00000"/>
                </a:solidFill>
              </a:rPr>
              <a:t>logaritm</a:t>
            </a:r>
            <a:r>
              <a:rPr lang="en-US" sz="2800" i="1" dirty="0">
                <a:solidFill>
                  <a:srgbClr val="C00000"/>
                </a:solidFill>
              </a:rPr>
              <a:t> din </a:t>
            </a:r>
            <a:r>
              <a:rPr lang="en-US" sz="2800" i="1" dirty="0" err="1">
                <a:solidFill>
                  <a:srgbClr val="C00000"/>
                </a:solidFill>
              </a:rPr>
              <a:t>patratul</a:t>
            </a:r>
            <a:r>
              <a:rPr lang="en-US" sz="2800" i="1" dirty="0">
                <a:solidFill>
                  <a:srgbClr val="C00000"/>
                </a:solidFill>
              </a:rPr>
              <a:t> </a:t>
            </a:r>
            <a:r>
              <a:rPr lang="en-US" sz="2800" i="1" dirty="0" err="1">
                <a:solidFill>
                  <a:srgbClr val="C00000"/>
                </a:solidFill>
              </a:rPr>
              <a:t>erorilor</a:t>
            </a:r>
            <a:r>
              <a:rPr lang="en-US" sz="2800" i="1" dirty="0">
                <a:solidFill>
                  <a:srgbClr val="C00000"/>
                </a:solidFill>
              </a:rPr>
              <a:t> </a:t>
            </a:r>
            <a:r>
              <a:rPr lang="en-US" sz="2800" dirty="0" err="1"/>
              <a:t>si</a:t>
            </a:r>
            <a:r>
              <a:rPr lang="en-US" sz="2800" dirty="0"/>
              <a:t> </a:t>
            </a:r>
            <a:r>
              <a:rPr lang="en-US" sz="2800" dirty="0" err="1"/>
              <a:t>regresorii</a:t>
            </a:r>
            <a:r>
              <a:rPr lang="en-US" sz="2800" dirty="0"/>
              <a:t> </a:t>
            </a:r>
            <a:r>
              <a:rPr lang="en-US" sz="2800" dirty="0" err="1"/>
              <a:t>modelului</a:t>
            </a:r>
            <a:r>
              <a:rPr lang="en-US" sz="2800" dirty="0"/>
              <a:t> original</a:t>
            </a:r>
          </a:p>
          <a:p>
            <a:pPr marL="0" indent="0" eaLnBrk="1" hangingPunct="1">
              <a:buNone/>
            </a:pPr>
            <a:r>
              <a:rPr lang="en-US" sz="2800" dirty="0"/>
              <a:t>EXEMPLU: </a:t>
            </a:r>
            <a:r>
              <a:rPr lang="en-US" sz="2800" dirty="0" err="1"/>
              <a:t>Tabla</a:t>
            </a:r>
            <a:endParaRPr lang="en-US" sz="2800" dirty="0"/>
          </a:p>
          <a:p>
            <a:pPr marL="0" indent="0" eaLnBrk="1" hangingPunct="1">
              <a:buNone/>
            </a:pPr>
            <a:r>
              <a:rPr lang="en-US" sz="2800" dirty="0"/>
              <a:t>OUTPUT </a:t>
            </a:r>
            <a:r>
              <a:rPr lang="en-US" sz="2800" dirty="0" err="1"/>
              <a:t>EViews</a:t>
            </a:r>
            <a:endParaRPr lang="en-US" sz="2800" dirty="0"/>
          </a:p>
          <a:p>
            <a:pPr eaLnBrk="1" hangingPunct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90844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1584338" y="676317"/>
            <a:ext cx="8763000" cy="63562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200" b="1" dirty="0" err="1"/>
              <a:t>Testarea</a:t>
            </a:r>
            <a:r>
              <a:rPr lang="en-US" sz="3200" b="1" dirty="0"/>
              <a:t> </a:t>
            </a:r>
            <a:r>
              <a:rPr lang="en-US" sz="3200" b="1" dirty="0" err="1"/>
              <a:t>heteroscedasticitatii</a:t>
            </a:r>
            <a:r>
              <a:rPr lang="en-US" sz="3200" b="1" dirty="0"/>
              <a:t> - </a:t>
            </a:r>
            <a:r>
              <a:rPr lang="en-US" sz="3200" b="1" dirty="0" err="1"/>
              <a:t>Testul</a:t>
            </a:r>
            <a:r>
              <a:rPr lang="en-US" sz="3200" b="1" dirty="0"/>
              <a:t> GLEJSER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sz="2800" b="1" dirty="0"/>
              <a:t>- </a:t>
            </a:r>
            <a:r>
              <a:rPr lang="en-US" sz="2800" dirty="0" err="1"/>
              <a:t>efectueaza</a:t>
            </a:r>
            <a:r>
              <a:rPr lang="en-US" sz="2800" dirty="0"/>
              <a:t> o </a:t>
            </a:r>
            <a:r>
              <a:rPr lang="en-US" sz="2800" dirty="0" err="1"/>
              <a:t>regresie</a:t>
            </a:r>
            <a:r>
              <a:rPr lang="en-US" sz="2800" dirty="0"/>
              <a:t> implicit </a:t>
            </a:r>
            <a:r>
              <a:rPr lang="en-US" sz="2800" dirty="0" err="1"/>
              <a:t>intre</a:t>
            </a:r>
            <a:r>
              <a:rPr lang="en-US" sz="2800" dirty="0"/>
              <a:t>  </a:t>
            </a:r>
            <a:r>
              <a:rPr lang="en-US" sz="2800" i="1" dirty="0" err="1" smtClean="0">
                <a:solidFill>
                  <a:srgbClr val="C00000"/>
                </a:solidFill>
              </a:rPr>
              <a:t>reziduul</a:t>
            </a:r>
            <a:r>
              <a:rPr lang="en-US" sz="2800" i="1" dirty="0" smtClean="0">
                <a:solidFill>
                  <a:srgbClr val="C00000"/>
                </a:solidFill>
              </a:rPr>
              <a:t> </a:t>
            </a:r>
            <a:r>
              <a:rPr lang="en-US" sz="2800" i="1" dirty="0">
                <a:solidFill>
                  <a:srgbClr val="C00000"/>
                </a:solidFill>
              </a:rPr>
              <a:t>in </a:t>
            </a:r>
            <a:r>
              <a:rPr lang="en-US" sz="2800" i="1" dirty="0" err="1">
                <a:solidFill>
                  <a:srgbClr val="C00000"/>
                </a:solidFill>
              </a:rPr>
              <a:t>valoare</a:t>
            </a:r>
            <a:r>
              <a:rPr lang="en-US" sz="2800" i="1" dirty="0">
                <a:solidFill>
                  <a:srgbClr val="C00000"/>
                </a:solidFill>
              </a:rPr>
              <a:t> </a:t>
            </a:r>
            <a:r>
              <a:rPr lang="en-US" sz="2800" i="1" dirty="0" err="1">
                <a:solidFill>
                  <a:srgbClr val="C00000"/>
                </a:solidFill>
              </a:rPr>
              <a:t>absoluta</a:t>
            </a:r>
            <a:r>
              <a:rPr lang="en-US" sz="2800" dirty="0"/>
              <a:t> </a:t>
            </a:r>
            <a:r>
              <a:rPr lang="en-US" sz="2800" dirty="0" err="1"/>
              <a:t>si</a:t>
            </a:r>
            <a:r>
              <a:rPr lang="en-US" sz="2800" dirty="0"/>
              <a:t> </a:t>
            </a:r>
            <a:r>
              <a:rPr lang="en-US" sz="2800" dirty="0" err="1"/>
              <a:t>regresorii</a:t>
            </a:r>
            <a:r>
              <a:rPr lang="en-US" sz="2800" dirty="0"/>
              <a:t> </a:t>
            </a:r>
            <a:r>
              <a:rPr lang="en-US" sz="2800" dirty="0" err="1"/>
              <a:t>modelului</a:t>
            </a:r>
            <a:r>
              <a:rPr lang="en-US" sz="2800" dirty="0"/>
              <a:t> original</a:t>
            </a:r>
          </a:p>
          <a:p>
            <a:pPr eaLnBrk="1" hangingPunct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01273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b="1" dirty="0" err="1">
                <a:solidFill>
                  <a:srgbClr val="C00000"/>
                </a:solidFill>
              </a:rPr>
              <a:t>Testarea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homoscedasticitatii</a:t>
            </a:r>
            <a:r>
              <a:rPr lang="en-US" b="1" dirty="0">
                <a:solidFill>
                  <a:srgbClr val="C00000"/>
                </a:solidFill>
              </a:rPr>
              <a:t>- </a:t>
            </a:r>
            <a:r>
              <a:rPr lang="en-US" b="1" dirty="0" err="1">
                <a:solidFill>
                  <a:srgbClr val="C00000"/>
                </a:solidFill>
              </a:rPr>
              <a:t>Testul</a:t>
            </a:r>
            <a:r>
              <a:rPr lang="en-US" b="1" dirty="0">
                <a:solidFill>
                  <a:srgbClr val="C00000"/>
                </a:solidFill>
              </a:rPr>
              <a:t> White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1037063" y="1143000"/>
            <a:ext cx="10983952" cy="5181600"/>
          </a:xfrm>
        </p:spPr>
        <p:txBody>
          <a:bodyPr rtlCol="0">
            <a:noAutofit/>
          </a:bodyPr>
          <a:lstStyle/>
          <a:p>
            <a:pPr marL="0" indent="0">
              <a:spcBef>
                <a:spcPts val="0"/>
              </a:spcBef>
              <a:buNone/>
              <a:defRPr/>
            </a:pPr>
            <a:r>
              <a:rPr lang="en-US" sz="2600" b="1" dirty="0"/>
              <a:t>-</a:t>
            </a:r>
            <a:r>
              <a:rPr lang="en-US" sz="2600" dirty="0"/>
              <a:t> </a:t>
            </a:r>
            <a:r>
              <a:rPr lang="en-US" sz="2600" dirty="0" err="1"/>
              <a:t>este</a:t>
            </a:r>
            <a:r>
              <a:rPr lang="en-US" sz="2600" dirty="0"/>
              <a:t> </a:t>
            </a:r>
            <a:r>
              <a:rPr lang="en-US" sz="2600" dirty="0" err="1"/>
              <a:t>considerat</a:t>
            </a:r>
            <a:r>
              <a:rPr lang="en-US" sz="2600" dirty="0"/>
              <a:t> </a:t>
            </a:r>
            <a:r>
              <a:rPr lang="en-US" sz="2600" b="1" dirty="0" err="1">
                <a:solidFill>
                  <a:srgbClr val="C00000"/>
                </a:solidFill>
              </a:rPr>
              <a:t>cel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  <a:r>
              <a:rPr lang="en-US" sz="2600" b="1" dirty="0" err="1">
                <a:solidFill>
                  <a:srgbClr val="C00000"/>
                </a:solidFill>
              </a:rPr>
              <a:t>mai</a:t>
            </a:r>
            <a:r>
              <a:rPr lang="en-US" sz="2600" b="1" dirty="0">
                <a:solidFill>
                  <a:srgbClr val="C00000"/>
                </a:solidFill>
              </a:rPr>
              <a:t> general test al </a:t>
            </a:r>
            <a:r>
              <a:rPr lang="en-US" sz="2600" b="1" dirty="0" err="1">
                <a:solidFill>
                  <a:srgbClr val="C00000"/>
                </a:solidFill>
              </a:rPr>
              <a:t>homoscedasticitatii</a:t>
            </a:r>
            <a:r>
              <a:rPr lang="en-US" sz="2600" dirty="0"/>
              <a:t>. Este </a:t>
            </a:r>
            <a:r>
              <a:rPr lang="en-US" sz="2600" dirty="0" err="1"/>
              <a:t>considerat</a:t>
            </a:r>
            <a:r>
              <a:rPr lang="en-US" sz="2600" dirty="0"/>
              <a:t> a </a:t>
            </a:r>
            <a:r>
              <a:rPr lang="en-US" sz="2600" dirty="0" err="1"/>
              <a:t>fi</a:t>
            </a:r>
            <a:r>
              <a:rPr lang="en-US" sz="2600" dirty="0"/>
              <a:t> </a:t>
            </a:r>
            <a:r>
              <a:rPr lang="en-US" sz="2600" dirty="0" err="1"/>
              <a:t>unicul</a:t>
            </a:r>
            <a:r>
              <a:rPr lang="en-US" sz="2600" dirty="0"/>
              <a:t> test al </a:t>
            </a:r>
            <a:r>
              <a:rPr lang="en-US" sz="2600" dirty="0" err="1"/>
              <a:t>heteroscedasticitatii</a:t>
            </a:r>
            <a:r>
              <a:rPr lang="en-US" sz="2600" dirty="0"/>
              <a:t>, in </a:t>
            </a:r>
            <a:r>
              <a:rPr lang="en-US" sz="2600" dirty="0" err="1"/>
              <a:t>adevaratul</a:t>
            </a:r>
            <a:r>
              <a:rPr lang="en-US" sz="2600" dirty="0"/>
              <a:t> </a:t>
            </a:r>
            <a:r>
              <a:rPr lang="en-US" sz="2600" dirty="0" err="1"/>
              <a:t>sens</a:t>
            </a:r>
            <a:r>
              <a:rPr lang="en-US" sz="2600" dirty="0"/>
              <a:t> al </a:t>
            </a:r>
            <a:r>
              <a:rPr lang="en-US" sz="2600" dirty="0" err="1"/>
              <a:t>cuvantului</a:t>
            </a:r>
            <a:r>
              <a:rPr lang="en-US" sz="2600" dirty="0"/>
              <a:t>, din </a:t>
            </a:r>
            <a:r>
              <a:rPr lang="en-US" sz="2600" dirty="0" err="1"/>
              <a:t>Eviews</a:t>
            </a:r>
            <a:r>
              <a:rPr lang="en-US" sz="2600" dirty="0"/>
              <a:t>.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2600" b="1" dirty="0"/>
              <a:t>- </a:t>
            </a:r>
            <a:r>
              <a:rPr lang="en-US" sz="2600" dirty="0"/>
              <a:t>face o </a:t>
            </a:r>
            <a:r>
              <a:rPr lang="en-US" sz="2600" dirty="0" err="1"/>
              <a:t>regresie</a:t>
            </a:r>
            <a:r>
              <a:rPr lang="en-US" sz="2600" dirty="0"/>
              <a:t> </a:t>
            </a:r>
            <a:r>
              <a:rPr lang="en-US" sz="2600" dirty="0" err="1"/>
              <a:t>dupa</a:t>
            </a:r>
            <a:r>
              <a:rPr lang="en-US" sz="2600" dirty="0"/>
              <a:t> </a:t>
            </a:r>
            <a:r>
              <a:rPr lang="en-US" sz="2600" b="1" dirty="0" err="1">
                <a:solidFill>
                  <a:srgbClr val="C00000"/>
                </a:solidFill>
              </a:rPr>
              <a:t>patratul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  <a:r>
              <a:rPr lang="en-US" sz="2600" b="1" dirty="0" err="1">
                <a:solidFill>
                  <a:srgbClr val="C00000"/>
                </a:solidFill>
              </a:rPr>
              <a:t>erorilor</a:t>
            </a:r>
            <a:r>
              <a:rPr lang="en-US" sz="2600" b="1" dirty="0">
                <a:solidFill>
                  <a:srgbClr val="C00000"/>
                </a:solidFill>
              </a:rPr>
              <a:t> de </a:t>
            </a:r>
            <a:r>
              <a:rPr lang="en-US" sz="2600" b="1" dirty="0" err="1">
                <a:solidFill>
                  <a:srgbClr val="C00000"/>
                </a:solidFill>
              </a:rPr>
              <a:t>modelare</a:t>
            </a:r>
            <a:r>
              <a:rPr lang="en-US" sz="2600" b="1" dirty="0">
                <a:solidFill>
                  <a:srgbClr val="C00000"/>
                </a:solidFill>
              </a:rPr>
              <a:t>  </a:t>
            </a:r>
            <a:r>
              <a:rPr lang="en-US" sz="2600" dirty="0"/>
              <a:t>si </a:t>
            </a:r>
            <a:r>
              <a:rPr lang="en-US" sz="2600" b="1" dirty="0" err="1">
                <a:solidFill>
                  <a:srgbClr val="C00000"/>
                </a:solidFill>
              </a:rPr>
              <a:t>combinatii</a:t>
            </a:r>
            <a:r>
              <a:rPr lang="en-US" sz="2600" b="1" dirty="0">
                <a:solidFill>
                  <a:srgbClr val="C00000"/>
                </a:solidFill>
              </a:rPr>
              <a:t> ale </a:t>
            </a:r>
            <a:r>
              <a:rPr lang="en-US" sz="2600" b="1" dirty="0" err="1">
                <a:solidFill>
                  <a:srgbClr val="C00000"/>
                </a:solidFill>
              </a:rPr>
              <a:t>regresorilor</a:t>
            </a:r>
            <a:r>
              <a:rPr lang="en-US" sz="2600" b="1" dirty="0">
                <a:solidFill>
                  <a:srgbClr val="C00000"/>
                </a:solidFill>
              </a:rPr>
              <a:t> din </a:t>
            </a:r>
            <a:r>
              <a:rPr lang="en-US" sz="2600" b="1" dirty="0" err="1">
                <a:solidFill>
                  <a:srgbClr val="C00000"/>
                </a:solidFill>
              </a:rPr>
              <a:t>modelul</a:t>
            </a:r>
            <a:r>
              <a:rPr lang="en-US" sz="2600" b="1" dirty="0">
                <a:solidFill>
                  <a:srgbClr val="C00000"/>
                </a:solidFill>
              </a:rPr>
              <a:t> original</a:t>
            </a:r>
            <a:r>
              <a:rPr lang="en-US" sz="2600" dirty="0"/>
              <a:t>, </a:t>
            </a:r>
            <a:r>
              <a:rPr lang="en-US" sz="2600" b="1" dirty="0" err="1">
                <a:solidFill>
                  <a:srgbClr val="C00000"/>
                </a:solidFill>
              </a:rPr>
              <a:t>inclusiv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  <a:r>
              <a:rPr lang="en-US" sz="2600" b="1" dirty="0" err="1">
                <a:solidFill>
                  <a:srgbClr val="C00000"/>
                </a:solidFill>
              </a:rPr>
              <a:t>combinatii</a:t>
            </a:r>
            <a:r>
              <a:rPr lang="en-US" sz="2600" b="1" dirty="0">
                <a:solidFill>
                  <a:srgbClr val="C00000"/>
                </a:solidFill>
              </a:rPr>
              <a:t> cu </a:t>
            </a:r>
            <a:r>
              <a:rPr lang="en-US" sz="2600" b="1" dirty="0" err="1">
                <a:solidFill>
                  <a:srgbClr val="C00000"/>
                </a:solidFill>
              </a:rPr>
              <a:t>ele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  <a:r>
              <a:rPr lang="en-US" sz="2600" b="1" dirty="0" err="1">
                <a:solidFill>
                  <a:srgbClr val="C00000"/>
                </a:solidFill>
              </a:rPr>
              <a:t>insele</a:t>
            </a:r>
            <a:r>
              <a:rPr lang="en-US" sz="2600" dirty="0"/>
              <a:t>, si o </a:t>
            </a:r>
            <a:r>
              <a:rPr lang="en-US" sz="2600" b="1" dirty="0" err="1">
                <a:solidFill>
                  <a:srgbClr val="C00000"/>
                </a:solidFill>
              </a:rPr>
              <a:t>constanta</a:t>
            </a:r>
            <a:r>
              <a:rPr lang="en-US" sz="2600" dirty="0"/>
              <a:t>. Optional pot </a:t>
            </a:r>
            <a:r>
              <a:rPr lang="en-US" sz="2600" dirty="0" err="1"/>
              <a:t>fi</a:t>
            </a:r>
            <a:r>
              <a:rPr lang="en-US" sz="2600" dirty="0"/>
              <a:t> </a:t>
            </a:r>
            <a:r>
              <a:rPr lang="en-US" sz="2600" dirty="0" err="1"/>
              <a:t>incluse</a:t>
            </a:r>
            <a:r>
              <a:rPr lang="en-US" sz="2600" dirty="0"/>
              <a:t>/</a:t>
            </a:r>
            <a:r>
              <a:rPr lang="en-US" sz="2600" dirty="0" err="1"/>
              <a:t>exluse</a:t>
            </a:r>
            <a:r>
              <a:rPr lang="en-US" sz="2600" dirty="0"/>
              <a:t> </a:t>
            </a:r>
            <a:r>
              <a:rPr lang="en-US" sz="2600" dirty="0" err="1"/>
              <a:t>combinatiile</a:t>
            </a:r>
            <a:r>
              <a:rPr lang="en-US" sz="2600" dirty="0"/>
              <a:t> </a:t>
            </a:r>
            <a:r>
              <a:rPr lang="en-US" sz="2600" dirty="0" err="1"/>
              <a:t>intre</a:t>
            </a:r>
            <a:r>
              <a:rPr lang="en-US" sz="2600" dirty="0"/>
              <a:t> </a:t>
            </a:r>
            <a:r>
              <a:rPr lang="en-US" sz="2600" dirty="0" err="1"/>
              <a:t>termeni</a:t>
            </a:r>
            <a:r>
              <a:rPr lang="en-US" sz="2600" dirty="0"/>
              <a:t> </a:t>
            </a:r>
            <a:r>
              <a:rPr lang="en-US" sz="2600" dirty="0" err="1"/>
              <a:t>diferiti</a:t>
            </a:r>
            <a:r>
              <a:rPr lang="en-US" sz="2600" dirty="0"/>
              <a:t> (White cross terms).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2600" dirty="0"/>
              <a:t>- </a:t>
            </a:r>
            <a:r>
              <a:rPr lang="en-US" sz="2600" dirty="0" err="1"/>
              <a:t>este</a:t>
            </a:r>
            <a:r>
              <a:rPr lang="en-US" sz="2600" dirty="0"/>
              <a:t> un test de tip </a:t>
            </a:r>
            <a:r>
              <a:rPr lang="en-US" sz="2600" dirty="0">
                <a:solidFill>
                  <a:srgbClr val="C00000"/>
                </a:solidFill>
              </a:rPr>
              <a:t>LM</a:t>
            </a:r>
            <a:r>
              <a:rPr lang="en-US" sz="2600" dirty="0"/>
              <a:t> </a:t>
            </a:r>
            <a:r>
              <a:rPr lang="en-US" sz="2600" dirty="0" err="1"/>
              <a:t>bazat</a:t>
            </a:r>
            <a:r>
              <a:rPr lang="en-US" sz="2600" dirty="0"/>
              <a:t> </a:t>
            </a:r>
            <a:r>
              <a:rPr lang="en-US" sz="2600" dirty="0" err="1"/>
              <a:t>pe</a:t>
            </a:r>
            <a:r>
              <a:rPr lang="en-US" sz="2600" dirty="0"/>
              <a:t> </a:t>
            </a:r>
            <a:r>
              <a:rPr lang="en-US" sz="2600" dirty="0" err="1"/>
              <a:t>statistica</a:t>
            </a:r>
            <a:r>
              <a:rPr lang="en-US" sz="2600" dirty="0"/>
              <a:t>:</a:t>
            </a:r>
            <a:r>
              <a:rPr lang="en-US" sz="2600" b="1" dirty="0"/>
              <a:t> </a:t>
            </a:r>
            <a:r>
              <a:rPr lang="en-US" sz="2600" b="1" dirty="0">
                <a:solidFill>
                  <a:srgbClr val="C00000"/>
                </a:solidFill>
              </a:rPr>
              <a:t>LM(p)=nR</a:t>
            </a:r>
            <a:r>
              <a:rPr lang="en-US" sz="2600" b="1" baseline="30000" dirty="0">
                <a:solidFill>
                  <a:srgbClr val="C00000"/>
                </a:solidFill>
              </a:rPr>
              <a:t>2</a:t>
            </a:r>
            <a:r>
              <a:rPr lang="en-US" sz="2600" dirty="0"/>
              <a:t>~</a:t>
            </a:r>
            <a:r>
              <a:rPr lang="el-GR" sz="2600" dirty="0"/>
              <a:t>χ</a:t>
            </a:r>
            <a:r>
              <a:rPr lang="en-US" sz="2600" baseline="30000" dirty="0"/>
              <a:t>2</a:t>
            </a:r>
            <a:r>
              <a:rPr lang="en-US" sz="2600" dirty="0"/>
              <a:t>(p)</a:t>
            </a: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sz="2600" b="1" dirty="0">
                <a:solidFill>
                  <a:srgbClr val="C00000"/>
                </a:solidFill>
              </a:rPr>
              <a:t>OBS</a:t>
            </a:r>
            <a:r>
              <a:rPr lang="en-US" sz="2600" dirty="0"/>
              <a:t>: </a:t>
            </a:r>
            <a:r>
              <a:rPr lang="en-US" sz="2600" dirty="0" err="1"/>
              <a:t>Interpretarea</a:t>
            </a:r>
            <a:r>
              <a:rPr lang="en-US" sz="2600" dirty="0"/>
              <a:t> </a:t>
            </a:r>
            <a:r>
              <a:rPr lang="en-US" sz="2600" dirty="0" err="1"/>
              <a:t>lui</a:t>
            </a:r>
            <a:r>
              <a:rPr lang="en-US" sz="2600" dirty="0"/>
              <a:t> LM se face cu </a:t>
            </a:r>
            <a:r>
              <a:rPr lang="en-US" sz="2600" dirty="0" err="1"/>
              <a:t>anumite</a:t>
            </a:r>
            <a:r>
              <a:rPr lang="en-US" sz="2600" dirty="0"/>
              <a:t> </a:t>
            </a:r>
            <a:r>
              <a:rPr lang="en-US" sz="2600" dirty="0" err="1"/>
              <a:t>rezerve</a:t>
            </a:r>
            <a:r>
              <a:rPr lang="en-US" sz="2600" dirty="0"/>
              <a:t>, </a:t>
            </a:r>
            <a:r>
              <a:rPr lang="en-US" sz="2600" dirty="0" err="1"/>
              <a:t>vezi</a:t>
            </a:r>
            <a:r>
              <a:rPr lang="en-US" sz="2600" dirty="0"/>
              <a:t> </a:t>
            </a:r>
            <a:r>
              <a:rPr lang="en-US" sz="2600" dirty="0" err="1"/>
              <a:t>observatiile</a:t>
            </a:r>
            <a:r>
              <a:rPr lang="en-US" sz="2600" dirty="0"/>
              <a:t> de la </a:t>
            </a:r>
            <a:r>
              <a:rPr lang="en-US" sz="2600" dirty="0" err="1"/>
              <a:t>testul</a:t>
            </a:r>
            <a:r>
              <a:rPr lang="en-US" sz="2600" dirty="0"/>
              <a:t> </a:t>
            </a:r>
            <a:r>
              <a:rPr lang="en-US" sz="2600" dirty="0" err="1"/>
              <a:t>independentei</a:t>
            </a:r>
            <a:r>
              <a:rPr lang="en-US" sz="2600" dirty="0"/>
              <a:t> BG. </a:t>
            </a:r>
            <a:r>
              <a:rPr lang="en-US" sz="2600" b="1" dirty="0" err="1">
                <a:solidFill>
                  <a:srgbClr val="C00000"/>
                </a:solidFill>
              </a:rPr>
              <a:t>Testul</a:t>
            </a:r>
            <a:r>
              <a:rPr lang="en-US" sz="2600" b="1" dirty="0">
                <a:solidFill>
                  <a:srgbClr val="C00000"/>
                </a:solidFill>
              </a:rPr>
              <a:t> W </a:t>
            </a:r>
            <a:r>
              <a:rPr lang="en-US" sz="2600" dirty="0" err="1"/>
              <a:t>este</a:t>
            </a:r>
            <a:r>
              <a:rPr lang="en-US" sz="2600" dirty="0"/>
              <a:t> f. general </a:t>
            </a:r>
            <a:r>
              <a:rPr lang="en-US" sz="2600" dirty="0" err="1"/>
              <a:t>deoarece</a:t>
            </a:r>
            <a:r>
              <a:rPr lang="en-US" sz="2600" dirty="0"/>
              <a:t> </a:t>
            </a:r>
            <a:r>
              <a:rPr lang="en-US" sz="2600" dirty="0" err="1"/>
              <a:t>odata</a:t>
            </a:r>
            <a:r>
              <a:rPr lang="en-US" sz="2600" dirty="0"/>
              <a:t> </a:t>
            </a:r>
            <a:r>
              <a:rPr lang="en-US" sz="2600" dirty="0" err="1"/>
              <a:t>respinsa</a:t>
            </a:r>
            <a:r>
              <a:rPr lang="en-US" sz="2600" dirty="0"/>
              <a:t> </a:t>
            </a:r>
            <a:r>
              <a:rPr lang="en-US" sz="2600" dirty="0" err="1"/>
              <a:t>ipoteza</a:t>
            </a:r>
            <a:r>
              <a:rPr lang="en-US" sz="2600" dirty="0"/>
              <a:t> </a:t>
            </a:r>
            <a:r>
              <a:rPr lang="en-US" sz="2600" dirty="0" err="1"/>
              <a:t>nula</a:t>
            </a:r>
            <a:r>
              <a:rPr lang="en-US" sz="2600" dirty="0"/>
              <a:t> nu </a:t>
            </a:r>
            <a:r>
              <a:rPr lang="en-US" sz="2600" dirty="0" err="1"/>
              <a:t>ofera</a:t>
            </a:r>
            <a:r>
              <a:rPr lang="en-US" sz="2600" dirty="0"/>
              <a:t> </a:t>
            </a:r>
            <a:r>
              <a:rPr lang="en-US" sz="2600" dirty="0" err="1"/>
              <a:t>informatii</a:t>
            </a:r>
            <a:r>
              <a:rPr lang="en-US" sz="2600" dirty="0"/>
              <a:t> cu </a:t>
            </a:r>
            <a:r>
              <a:rPr lang="en-US" sz="2600" dirty="0" err="1"/>
              <a:t>privire</a:t>
            </a:r>
            <a:r>
              <a:rPr lang="en-US" sz="2600" dirty="0"/>
              <a:t> la </a:t>
            </a:r>
            <a:r>
              <a:rPr lang="en-US" sz="2600" dirty="0" err="1"/>
              <a:t>identificarea</a:t>
            </a:r>
            <a:r>
              <a:rPr lang="en-US" sz="2600" dirty="0"/>
              <a:t> </a:t>
            </a:r>
            <a:r>
              <a:rPr lang="en-US" sz="2600" dirty="0" err="1"/>
              <a:t>cauzei</a:t>
            </a:r>
            <a:r>
              <a:rPr lang="en-US" sz="2600" dirty="0"/>
              <a:t> </a:t>
            </a:r>
            <a:r>
              <a:rPr lang="en-US" sz="2600" dirty="0" err="1"/>
              <a:t>heteroscedasticitatii</a:t>
            </a:r>
            <a:r>
              <a:rPr lang="en-US" sz="2600" dirty="0"/>
              <a:t>. </a:t>
            </a:r>
            <a:r>
              <a:rPr lang="en-US" sz="2600" dirty="0" err="1"/>
              <a:t>Testul</a:t>
            </a:r>
            <a:r>
              <a:rPr lang="en-US" sz="2600" dirty="0"/>
              <a:t> t </a:t>
            </a:r>
            <a:r>
              <a:rPr lang="en-US" sz="2600" dirty="0" err="1"/>
              <a:t>poate</a:t>
            </a:r>
            <a:r>
              <a:rPr lang="en-US" sz="2600" dirty="0"/>
              <a:t> </a:t>
            </a:r>
            <a:r>
              <a:rPr lang="en-US" sz="2600" dirty="0" err="1"/>
              <a:t>oferi</a:t>
            </a:r>
            <a:r>
              <a:rPr lang="en-US" sz="2600" dirty="0"/>
              <a:t> </a:t>
            </a:r>
            <a:r>
              <a:rPr lang="en-US" sz="2600" dirty="0" err="1"/>
              <a:t>orientativ</a:t>
            </a:r>
            <a:r>
              <a:rPr lang="en-US" sz="2600" dirty="0"/>
              <a:t> </a:t>
            </a:r>
            <a:r>
              <a:rPr lang="en-US" sz="2600" dirty="0" err="1"/>
              <a:t>informatii</a:t>
            </a:r>
            <a:r>
              <a:rPr lang="en-US" sz="2600" dirty="0"/>
              <a:t> cu </a:t>
            </a:r>
            <a:r>
              <a:rPr lang="en-US" sz="2600" dirty="0" err="1"/>
              <a:t>privire</a:t>
            </a:r>
            <a:r>
              <a:rPr lang="en-US" sz="2600" dirty="0"/>
              <a:t> la </a:t>
            </a:r>
            <a:r>
              <a:rPr lang="en-US" sz="2600" dirty="0" err="1"/>
              <a:t>sursa</a:t>
            </a:r>
            <a:r>
              <a:rPr lang="en-US" sz="2600" dirty="0"/>
              <a:t> </a:t>
            </a:r>
            <a:r>
              <a:rPr lang="en-US" sz="2600" dirty="0" err="1"/>
              <a:t>heteroscedasticitatii</a:t>
            </a:r>
            <a:r>
              <a:rPr lang="en-US" sz="2600" dirty="0"/>
              <a:t> cu </a:t>
            </a:r>
            <a:r>
              <a:rPr lang="en-US" sz="2600" dirty="0" err="1"/>
              <a:t>aceleasi</a:t>
            </a:r>
            <a:r>
              <a:rPr lang="en-US" sz="2600" dirty="0"/>
              <a:t> </a:t>
            </a:r>
            <a:r>
              <a:rPr lang="en-US" sz="2600" dirty="0" err="1"/>
              <a:t>rezerve</a:t>
            </a:r>
            <a:r>
              <a:rPr lang="en-US" sz="2600" dirty="0"/>
              <a:t> ca in </a:t>
            </a:r>
            <a:r>
              <a:rPr lang="en-US" sz="2600" dirty="0" err="1"/>
              <a:t>cazul</a:t>
            </a:r>
            <a:r>
              <a:rPr lang="en-US" sz="2600" dirty="0"/>
              <a:t> </a:t>
            </a:r>
            <a:r>
              <a:rPr lang="en-US" sz="2600" dirty="0" err="1"/>
              <a:t>testului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C00000"/>
                </a:solidFill>
              </a:rPr>
              <a:t>BG</a:t>
            </a:r>
            <a:r>
              <a:rPr lang="en-US" sz="2600" dirty="0"/>
              <a:t>.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2600" dirty="0"/>
              <a:t>- </a:t>
            </a:r>
            <a:r>
              <a:rPr lang="en-US" sz="2600" dirty="0" err="1"/>
              <a:t>mai</a:t>
            </a:r>
            <a:r>
              <a:rPr lang="en-US" sz="2600" dirty="0"/>
              <a:t> </a:t>
            </a:r>
            <a:r>
              <a:rPr lang="en-US" sz="2600" dirty="0" err="1"/>
              <a:t>multe</a:t>
            </a:r>
            <a:r>
              <a:rPr lang="en-US" sz="2600" dirty="0"/>
              <a:t> </a:t>
            </a:r>
            <a:r>
              <a:rPr lang="en-US" sz="2600" dirty="0" err="1"/>
              <a:t>informatii</a:t>
            </a:r>
            <a:r>
              <a:rPr lang="en-US" sz="2600" dirty="0"/>
              <a:t> pot </a:t>
            </a:r>
            <a:r>
              <a:rPr lang="en-US" sz="2600" dirty="0" err="1"/>
              <a:t>fi</a:t>
            </a:r>
            <a:r>
              <a:rPr lang="en-US" sz="2600" dirty="0"/>
              <a:t> </a:t>
            </a:r>
            <a:r>
              <a:rPr lang="en-US" sz="2600" dirty="0" err="1"/>
              <a:t>obtinute</a:t>
            </a:r>
            <a:r>
              <a:rPr lang="en-US" sz="2600" dirty="0"/>
              <a:t> in </a:t>
            </a:r>
            <a:r>
              <a:rPr lang="en-US" sz="2600" dirty="0" err="1"/>
              <a:t>cazul</a:t>
            </a:r>
            <a:r>
              <a:rPr lang="en-US" sz="2600" dirty="0"/>
              <a:t> </a:t>
            </a:r>
            <a:r>
              <a:rPr lang="en-US" sz="2600" dirty="0" err="1"/>
              <a:t>utilizarii</a:t>
            </a:r>
            <a:r>
              <a:rPr lang="en-US" sz="2600" dirty="0"/>
              <a:t> </a:t>
            </a:r>
            <a:r>
              <a:rPr lang="en-US" sz="2600" dirty="0" err="1"/>
              <a:t>testului</a:t>
            </a:r>
            <a:r>
              <a:rPr lang="en-US" sz="2600" dirty="0"/>
              <a:t> BP. 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2600" b="1" dirty="0" err="1"/>
              <a:t>Exemplu</a:t>
            </a:r>
            <a:r>
              <a:rPr lang="en-US" sz="2600" dirty="0"/>
              <a:t>: TABLA</a:t>
            </a:r>
          </a:p>
          <a:p>
            <a:pPr marL="0" indent="0">
              <a:spcBef>
                <a:spcPts val="0"/>
              </a:spcBef>
              <a:buNone/>
              <a:defRPr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835187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mtClean="0"/>
              <a:t> 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 eaLnBrk="1" hangingPunct="1"/>
            <a:endParaRPr lang="en-US" sz="4000" b="1" dirty="0"/>
          </a:p>
          <a:p>
            <a:pPr algn="ctr" eaLnBrk="1" hangingPunct="1"/>
            <a:endParaRPr lang="en-US" sz="4000" b="1" dirty="0"/>
          </a:p>
          <a:p>
            <a:pPr marL="0" indent="0" algn="ctr" eaLnBrk="1" hangingPunct="1">
              <a:buNone/>
            </a:pPr>
            <a:r>
              <a:rPr lang="en-US" sz="4000" b="1" dirty="0" smtClean="0">
                <a:solidFill>
                  <a:srgbClr val="C00000"/>
                </a:solidFill>
              </a:rPr>
              <a:t>CURS 12</a:t>
            </a:r>
          </a:p>
          <a:p>
            <a:pPr marL="0" indent="0" algn="ctr" eaLnBrk="1" hangingPunct="1">
              <a:buNone/>
            </a:pPr>
            <a:r>
              <a:rPr lang="en-US" sz="4000" b="1" dirty="0" smtClean="0"/>
              <a:t>HETEROSCEDASTICITATEA </a:t>
            </a:r>
            <a:r>
              <a:rPr lang="en-US" sz="4000" b="1" dirty="0"/>
              <a:t>CONDITIONATA</a:t>
            </a:r>
          </a:p>
        </p:txBody>
      </p:sp>
    </p:spTree>
    <p:extLst>
      <p:ext uri="{BB962C8B-B14F-4D97-AF65-F5344CB8AC3E}">
        <p14:creationId xmlns:p14="http://schemas.microsoft.com/office/powerpoint/2010/main" val="2112759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/>
              <a:t>Testarea heteroscedaticitatii- Testul ARCH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1009650" y="1311937"/>
            <a:ext cx="10533062" cy="4899291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sz="2800" b="1" dirty="0"/>
              <a:t>ARCH - </a:t>
            </a:r>
            <a:r>
              <a:rPr lang="en-US" sz="2800" dirty="0" err="1"/>
              <a:t>variabila</a:t>
            </a:r>
            <a:r>
              <a:rPr lang="en-US" sz="2800" dirty="0"/>
              <a:t> </a:t>
            </a:r>
            <a:r>
              <a:rPr lang="en-US" sz="2800" dirty="0" err="1"/>
              <a:t>dependenta</a:t>
            </a:r>
            <a:r>
              <a:rPr lang="en-US" sz="2800" dirty="0"/>
              <a:t> </a:t>
            </a:r>
            <a:r>
              <a:rPr lang="en-US" sz="2800" b="1" dirty="0"/>
              <a:t>resid</a:t>
            </a:r>
            <a:r>
              <a:rPr lang="en-US" sz="2800" b="1" baseline="30000" dirty="0"/>
              <a:t>2</a:t>
            </a:r>
            <a:endParaRPr lang="en-US" sz="2800" b="1" dirty="0"/>
          </a:p>
          <a:p>
            <a:pPr marL="0" indent="342900" eaLnBrk="1" hangingPunct="1">
              <a:buNone/>
            </a:pPr>
            <a:r>
              <a:rPr lang="en-US" sz="2800" dirty="0" err="1"/>
              <a:t>Testul</a:t>
            </a:r>
            <a:r>
              <a:rPr lang="en-US" sz="2800" dirty="0"/>
              <a:t> ARCH </a:t>
            </a:r>
            <a:r>
              <a:rPr lang="en-US" sz="2800" dirty="0" err="1"/>
              <a:t>efectueaza</a:t>
            </a:r>
            <a:r>
              <a:rPr lang="en-US" sz="2800" dirty="0"/>
              <a:t> o </a:t>
            </a:r>
            <a:r>
              <a:rPr lang="en-US" sz="2800" dirty="0" err="1"/>
              <a:t>regresie</a:t>
            </a:r>
            <a:r>
              <a:rPr lang="en-US" sz="2800" dirty="0"/>
              <a:t> </a:t>
            </a:r>
            <a:r>
              <a:rPr lang="en-US" sz="2800" dirty="0" err="1"/>
              <a:t>dupa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resid</a:t>
            </a:r>
            <a:r>
              <a:rPr lang="en-US" sz="2800" b="1" baseline="30000" dirty="0">
                <a:solidFill>
                  <a:srgbClr val="C00000"/>
                </a:solidFill>
              </a:rPr>
              <a:t>2</a:t>
            </a:r>
            <a:r>
              <a:rPr lang="en-US" sz="2800" b="1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si </a:t>
            </a:r>
            <a:r>
              <a:rPr lang="en-US" sz="2800" dirty="0">
                <a:solidFill>
                  <a:srgbClr val="C00000"/>
                </a:solidFill>
              </a:rPr>
              <a:t>resid</a:t>
            </a:r>
            <a:r>
              <a:rPr lang="en-US" sz="2800" baseline="30000" dirty="0">
                <a:solidFill>
                  <a:srgbClr val="C00000"/>
                </a:solidFill>
              </a:rPr>
              <a:t>2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decalate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pe</a:t>
            </a:r>
            <a:r>
              <a:rPr lang="en-US" sz="2800" dirty="0">
                <a:solidFill>
                  <a:srgbClr val="C00000"/>
                </a:solidFill>
              </a:rPr>
              <a:t> un </a:t>
            </a:r>
            <a:r>
              <a:rPr lang="en-US" sz="2800" dirty="0" err="1">
                <a:solidFill>
                  <a:srgbClr val="C00000"/>
                </a:solidFill>
              </a:rPr>
              <a:t>numar</a:t>
            </a:r>
            <a:r>
              <a:rPr lang="en-US" sz="2800" dirty="0">
                <a:solidFill>
                  <a:srgbClr val="C00000"/>
                </a:solidFill>
              </a:rPr>
              <a:t> de </a:t>
            </a:r>
            <a:r>
              <a:rPr lang="en-US" sz="2800" dirty="0" err="1">
                <a:solidFill>
                  <a:srgbClr val="C00000"/>
                </a:solidFill>
              </a:rPr>
              <a:t>perioade</a:t>
            </a:r>
            <a:r>
              <a:rPr lang="en-US" sz="2800" dirty="0">
                <a:solidFill>
                  <a:srgbClr val="C00000"/>
                </a:solidFill>
              </a:rPr>
              <a:t> de </a:t>
            </a:r>
            <a:r>
              <a:rPr lang="en-US" sz="2800" dirty="0" err="1">
                <a:solidFill>
                  <a:srgbClr val="C00000"/>
                </a:solidFill>
              </a:rPr>
              <a:t>timp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(</a:t>
            </a:r>
            <a:r>
              <a:rPr lang="en-US" sz="2800" dirty="0" err="1"/>
              <a:t>fixat</a:t>
            </a:r>
            <a:r>
              <a:rPr lang="en-US" sz="2800" dirty="0"/>
              <a:t> </a:t>
            </a:r>
            <a:r>
              <a:rPr lang="en-US" sz="2800" dirty="0" err="1"/>
              <a:t>printr</a:t>
            </a:r>
            <a:r>
              <a:rPr lang="en-US" sz="2800" dirty="0"/>
              <a:t>-o </a:t>
            </a:r>
            <a:r>
              <a:rPr lang="en-US" sz="2800" dirty="0" err="1"/>
              <a:t>fereastra</a:t>
            </a:r>
            <a:r>
              <a:rPr lang="en-US" sz="2800" dirty="0"/>
              <a:t> de dialog)  si o </a:t>
            </a:r>
            <a:r>
              <a:rPr lang="en-US" sz="2800" dirty="0" err="1" smtClean="0"/>
              <a:t>constanta</a:t>
            </a:r>
            <a:r>
              <a:rPr lang="en-US" sz="2800" dirty="0" smtClean="0"/>
              <a:t>.</a:t>
            </a:r>
            <a:endParaRPr lang="ro-RO" sz="2800" dirty="0" smtClean="0"/>
          </a:p>
          <a:p>
            <a:pPr marL="0" indent="342900" eaLnBrk="1" hangingPunct="1">
              <a:buNone/>
            </a:pPr>
            <a:endParaRPr lang="en-US" sz="2800" dirty="0" smtClean="0"/>
          </a:p>
          <a:p>
            <a:pPr marL="0" indent="0" eaLnBrk="1" hangingPunct="1">
              <a:buNone/>
            </a:pPr>
            <a:r>
              <a:rPr lang="en-US" sz="2800" b="1" dirty="0" smtClean="0">
                <a:solidFill>
                  <a:srgbClr val="C00000"/>
                </a:solidFill>
              </a:rPr>
              <a:t>H</a:t>
            </a:r>
            <a:r>
              <a:rPr lang="en-US" sz="2800" b="1" baseline="-25000" dirty="0" smtClean="0">
                <a:solidFill>
                  <a:srgbClr val="C00000"/>
                </a:solidFill>
              </a:rPr>
              <a:t>0</a:t>
            </a:r>
            <a:r>
              <a:rPr lang="en-US" sz="2800" dirty="0" smtClean="0"/>
              <a:t>: Nu </a:t>
            </a:r>
            <a:r>
              <a:rPr lang="en-US" sz="2800" dirty="0" err="1" smtClean="0"/>
              <a:t>exista</a:t>
            </a:r>
            <a:r>
              <a:rPr lang="en-US" sz="2800" dirty="0" smtClean="0"/>
              <a:t> </a:t>
            </a:r>
            <a:r>
              <a:rPr lang="en-US" sz="2800" dirty="0" err="1" smtClean="0"/>
              <a:t>componente</a:t>
            </a:r>
            <a:r>
              <a:rPr lang="en-US" sz="2800" dirty="0" smtClean="0"/>
              <a:t> ARCH de </a:t>
            </a:r>
            <a:r>
              <a:rPr lang="en-US" sz="2800" dirty="0" err="1" smtClean="0"/>
              <a:t>ordin</a:t>
            </a:r>
            <a:r>
              <a:rPr lang="en-US" sz="2800" dirty="0" smtClean="0"/>
              <a:t> </a:t>
            </a:r>
            <a:r>
              <a:rPr lang="en-US" sz="2800" dirty="0" err="1" smtClean="0"/>
              <a:t>mai</a:t>
            </a:r>
            <a:r>
              <a:rPr lang="en-US" sz="2800" dirty="0" smtClean="0"/>
              <a:t> mare </a:t>
            </a:r>
            <a:r>
              <a:rPr lang="en-US" sz="2800" dirty="0" err="1" smtClean="0"/>
              <a:t>decat</a:t>
            </a:r>
            <a:r>
              <a:rPr lang="en-US" sz="2800" dirty="0" smtClean="0"/>
              <a:t> </a:t>
            </a:r>
            <a:r>
              <a:rPr lang="en-US" sz="2800" dirty="0" err="1" smtClean="0"/>
              <a:t>ordinul</a:t>
            </a:r>
            <a:r>
              <a:rPr lang="en-US" sz="2800" dirty="0" smtClean="0"/>
              <a:t> </a:t>
            </a:r>
            <a:r>
              <a:rPr lang="en-US" sz="2800" dirty="0" err="1" smtClean="0"/>
              <a:t>precizat</a:t>
            </a:r>
            <a:r>
              <a:rPr lang="en-US" sz="2800" dirty="0" smtClean="0"/>
              <a:t> (q)</a:t>
            </a:r>
            <a:endParaRPr lang="en-US" sz="2800" dirty="0"/>
          </a:p>
          <a:p>
            <a:pPr eaLnBrk="1" hangingPunct="1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96796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647949" y="495297"/>
          <a:ext cx="6580934" cy="6114013"/>
        </p:xfrm>
        <a:graphic>
          <a:graphicData uri="http://schemas.openxmlformats.org/drawingml/2006/table">
            <a:tbl>
              <a:tblPr/>
              <a:tblGrid>
                <a:gridCol w="1706181"/>
                <a:gridCol w="663493"/>
                <a:gridCol w="1247805"/>
                <a:gridCol w="1079530"/>
                <a:gridCol w="1002390"/>
                <a:gridCol w="881535"/>
              </a:tblGrid>
              <a:tr h="256832">
                <a:tc gridSpan="6"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Heteroskedasticity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 Test: ARCH</a:t>
                      </a: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683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F-statistic</a:t>
                      </a: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19.723</a:t>
                      </a: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    Prob. F(1,269)</a:t>
                      </a: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 </a:t>
                      </a: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0</a:t>
                      </a: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2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Obs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*R-squared</a:t>
                      </a: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18.512</a:t>
                      </a: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    Prob. Chi-Square(1)</a:t>
                      </a: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 </a:t>
                      </a: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0</a:t>
                      </a: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832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56832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6832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Test Equation:</a:t>
                      </a: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6832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Dependent Variable: RESID^2</a:t>
                      </a: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6832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Method: Least Squares</a:t>
                      </a: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6832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Date: 12/16/16   Time: 10:51</a:t>
                      </a: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6832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Sample (adjusted): 1992M02 2014M08</a:t>
                      </a: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6832">
                <a:tc gridSpan="6"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Included observations: 271 after adjustments</a:t>
                      </a: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334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Variable</a:t>
                      </a: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Coefficient</a:t>
                      </a: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1" i="0" u="none" strike="noStrike">
                        <a:solidFill>
                          <a:srgbClr val="000000"/>
                        </a:solidFill>
                        <a:latin typeface="Perpetua"/>
                      </a:endParaRP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Std. Error</a:t>
                      </a: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t-Statistic</a:t>
                      </a: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Prob.  </a:t>
                      </a: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83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C</a:t>
                      </a: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288855</a:t>
                      </a: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/>
                      </a:endParaRP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45764.03</a:t>
                      </a: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6.312</a:t>
                      </a: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0</a:t>
                      </a: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83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RESID^2(-1)</a:t>
                      </a: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0.2614</a:t>
                      </a: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/>
                      </a:endParaRP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0.058862</a:t>
                      </a: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4.441</a:t>
                      </a: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0</a:t>
                      </a:r>
                    </a:p>
                  </a:txBody>
                  <a:tcPr marL="6790" marR="6790" marT="679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63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R-squared</a:t>
                      </a: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0.0683</a:t>
                      </a: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    Mean dependent var</a:t>
                      </a: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/>
                        </a:rPr>
                        <a:t>391176.8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632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Adjusted R-squared</a:t>
                      </a: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0.0648</a:t>
                      </a: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    S.D. dependent var</a:t>
                      </a: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/>
                        </a:rPr>
                        <a:t>673122.2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32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S.E. of regression</a:t>
                      </a: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650931</a:t>
                      </a: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    Akaike info criterion</a:t>
                      </a: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/>
                        </a:rPr>
                        <a:t>29.61755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32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Sum squared resid</a:t>
                      </a: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‘</a:t>
                      </a:r>
                      <a:r>
                        <a:rPr lang="ro-RO" sz="1600" b="0" i="0" u="none" strike="noStrike" dirty="0" smtClean="0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1.14E+14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    Schwarz criterion</a:t>
                      </a: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/>
                        </a:rPr>
                        <a:t>29.64413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32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Log likelihood</a:t>
                      </a: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-4011.2</a:t>
                      </a: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    Hannan-Quinn criter.</a:t>
                      </a: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/>
                        </a:rPr>
                        <a:t>29.62822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963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F-statistic</a:t>
                      </a: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19.723</a:t>
                      </a: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    Durbin-Watson stat</a:t>
                      </a: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Perpetua"/>
                        </a:rPr>
                        <a:t>2.023609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32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Prob(F-statistic)</a:t>
                      </a: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Perpetua" pitchFamily="18" charset="0"/>
                        </a:rPr>
                        <a:t>1E-05</a:t>
                      </a: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Perpetua" pitchFamily="18" charset="0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Perpetua" pitchFamily="18" charset="0"/>
                      </a:endParaRPr>
                    </a:p>
                  </a:txBody>
                  <a:tcPr marL="6790" marR="6790" marT="679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0949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b="1" dirty="0" err="1">
                <a:solidFill>
                  <a:srgbClr val="C00000"/>
                </a:solidFill>
              </a:rPr>
              <a:t>Testarea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heteroscedaticitatii</a:t>
            </a:r>
            <a:r>
              <a:rPr lang="en-US" b="1" dirty="0">
                <a:solidFill>
                  <a:srgbClr val="C00000"/>
                </a:solidFill>
              </a:rPr>
              <a:t>- CORELOGRAMA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285750" algn="just" eaLnBrk="1" hangingPunct="1">
              <a:buNone/>
            </a:pPr>
            <a:endParaRPr lang="en-US" sz="2600" dirty="0" smtClean="0"/>
          </a:p>
          <a:p>
            <a:pPr marL="0" indent="285750" algn="just" eaLnBrk="1" hangingPunct="1">
              <a:buNone/>
            </a:pPr>
            <a:endParaRPr lang="en-US" sz="2600" dirty="0" smtClean="0"/>
          </a:p>
          <a:p>
            <a:pPr marL="0" indent="285750" algn="just" eaLnBrk="1" hangingPunct="1">
              <a:buNone/>
            </a:pPr>
            <a:r>
              <a:rPr lang="en-US" sz="2600" dirty="0" err="1" smtClean="0"/>
              <a:t>Correlogram</a:t>
            </a:r>
            <a:r>
              <a:rPr lang="ro-RO" sz="2600" dirty="0"/>
              <a:t>a erorilor de modelare la patrat</a:t>
            </a:r>
            <a:r>
              <a:rPr lang="en-US" sz="2600" dirty="0"/>
              <a:t> (resid</a:t>
            </a:r>
            <a:r>
              <a:rPr lang="en-US" sz="2600" baseline="30000" dirty="0"/>
              <a:t>2</a:t>
            </a:r>
            <a:r>
              <a:rPr lang="en-US" sz="2600" dirty="0"/>
              <a:t>).</a:t>
            </a:r>
          </a:p>
          <a:p>
            <a:pPr eaLnBrk="1" hangingPunct="1">
              <a:buNone/>
            </a:pPr>
            <a:r>
              <a:rPr lang="en-US" sz="2600" b="1" dirty="0" smtClean="0"/>
              <a:t>	</a:t>
            </a:r>
            <a:endParaRPr lang="en-US" sz="2600" b="1" dirty="0"/>
          </a:p>
          <a:p>
            <a:pPr marL="0" indent="228600" algn="just" eaLnBrk="1" hangingPunct="1">
              <a:buNone/>
            </a:pPr>
            <a:r>
              <a:rPr lang="en-US" sz="2600" b="1" dirty="0"/>
              <a:t>OBS: </a:t>
            </a:r>
            <a:r>
              <a:rPr lang="en-US" sz="2600" dirty="0" err="1">
                <a:solidFill>
                  <a:srgbClr val="C00000"/>
                </a:solidFill>
              </a:rPr>
              <a:t>Rezultatul</a:t>
            </a:r>
            <a:r>
              <a:rPr lang="en-US" sz="2600" dirty="0">
                <a:solidFill>
                  <a:srgbClr val="C00000"/>
                </a:solidFill>
              </a:rPr>
              <a:t> </a:t>
            </a:r>
            <a:r>
              <a:rPr lang="en-US" sz="2600" dirty="0" err="1">
                <a:solidFill>
                  <a:srgbClr val="C00000"/>
                </a:solidFill>
              </a:rPr>
              <a:t>produs</a:t>
            </a:r>
            <a:r>
              <a:rPr lang="en-US" sz="2600" dirty="0">
                <a:solidFill>
                  <a:srgbClr val="C00000"/>
                </a:solidFill>
              </a:rPr>
              <a:t> se </a:t>
            </a:r>
            <a:r>
              <a:rPr lang="en-US" sz="2600" dirty="0" err="1">
                <a:solidFill>
                  <a:srgbClr val="C00000"/>
                </a:solidFill>
              </a:rPr>
              <a:t>suprapune</a:t>
            </a:r>
            <a:r>
              <a:rPr lang="en-US" sz="2600" dirty="0">
                <a:solidFill>
                  <a:srgbClr val="C00000"/>
                </a:solidFill>
              </a:rPr>
              <a:t> cu </a:t>
            </a:r>
            <a:r>
              <a:rPr lang="en-US" sz="2600" dirty="0" err="1">
                <a:solidFill>
                  <a:srgbClr val="C00000"/>
                </a:solidFill>
              </a:rPr>
              <a:t>rezultatul</a:t>
            </a:r>
            <a:r>
              <a:rPr lang="en-US" sz="2600" dirty="0">
                <a:solidFill>
                  <a:srgbClr val="C00000"/>
                </a:solidFill>
              </a:rPr>
              <a:t> </a:t>
            </a:r>
            <a:r>
              <a:rPr lang="en-US" sz="2600" dirty="0" err="1">
                <a:solidFill>
                  <a:srgbClr val="C00000"/>
                </a:solidFill>
              </a:rPr>
              <a:t>furnizat</a:t>
            </a:r>
            <a:r>
              <a:rPr lang="en-US" sz="2600" dirty="0">
                <a:solidFill>
                  <a:srgbClr val="C00000"/>
                </a:solidFill>
              </a:rPr>
              <a:t> de </a:t>
            </a:r>
            <a:r>
              <a:rPr lang="en-US" sz="2600" dirty="0" err="1">
                <a:solidFill>
                  <a:srgbClr val="C00000"/>
                </a:solidFill>
              </a:rPr>
              <a:t>testul</a:t>
            </a:r>
            <a:r>
              <a:rPr lang="en-US" sz="2600" dirty="0">
                <a:solidFill>
                  <a:srgbClr val="C00000"/>
                </a:solidFill>
              </a:rPr>
              <a:t> ARCH in </a:t>
            </a:r>
            <a:r>
              <a:rPr lang="en-US" sz="2600" dirty="0" err="1">
                <a:solidFill>
                  <a:srgbClr val="C00000"/>
                </a:solidFill>
              </a:rPr>
              <a:t>tabelul</a:t>
            </a:r>
            <a:r>
              <a:rPr lang="en-US" sz="2600" dirty="0">
                <a:solidFill>
                  <a:srgbClr val="C00000"/>
                </a:solidFill>
              </a:rPr>
              <a:t> </a:t>
            </a:r>
            <a:r>
              <a:rPr lang="en-US" sz="2600" dirty="0" err="1">
                <a:solidFill>
                  <a:srgbClr val="C00000"/>
                </a:solidFill>
              </a:rPr>
              <a:t>modelului</a:t>
            </a:r>
            <a:r>
              <a:rPr lang="en-US" sz="2600" dirty="0">
                <a:solidFill>
                  <a:srgbClr val="C00000"/>
                </a:solidFill>
              </a:rPr>
              <a:t> de </a:t>
            </a:r>
            <a:r>
              <a:rPr lang="en-US" sz="2600" dirty="0" err="1">
                <a:solidFill>
                  <a:srgbClr val="C00000"/>
                </a:solidFill>
              </a:rPr>
              <a:t>regresie</a:t>
            </a:r>
            <a:r>
              <a:rPr lang="en-US" sz="2600" dirty="0">
                <a:solidFill>
                  <a:srgbClr val="C00000"/>
                </a:solidFill>
              </a:rPr>
              <a:t>!!!</a:t>
            </a:r>
          </a:p>
        </p:txBody>
      </p:sp>
    </p:spTree>
    <p:extLst>
      <p:ext uri="{BB962C8B-B14F-4D97-AF65-F5344CB8AC3E}">
        <p14:creationId xmlns:p14="http://schemas.microsoft.com/office/powerpoint/2010/main" val="3645221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RELOGRAMA sq e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2" y="2286000"/>
            <a:ext cx="7524748" cy="3762375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rot="5400000">
            <a:off x="3905250" y="2400300"/>
            <a:ext cx="16383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734798" y="3276600"/>
            <a:ext cx="1847850" cy="2686050"/>
          </a:xfrm>
          <a:prstGeom prst="rect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438400" y="952500"/>
            <a:ext cx="4629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Informatiile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pentru</a:t>
            </a:r>
            <a:r>
              <a:rPr lang="en-US" b="1" dirty="0" smtClean="0">
                <a:solidFill>
                  <a:srgbClr val="FF0000"/>
                </a:solidFill>
              </a:rPr>
              <a:t> PACF se </a:t>
            </a:r>
            <a:r>
              <a:rPr lang="en-US" b="1" dirty="0" err="1" smtClean="0">
                <a:solidFill>
                  <a:srgbClr val="FF0000"/>
                </a:solidFill>
              </a:rPr>
              <a:t>coreleaza</a:t>
            </a:r>
            <a:r>
              <a:rPr lang="en-US" b="1" dirty="0" smtClean="0">
                <a:solidFill>
                  <a:srgbClr val="FF0000"/>
                </a:solidFill>
              </a:rPr>
              <a:t> cu </a:t>
            </a:r>
            <a:r>
              <a:rPr lang="en-US" b="1" dirty="0" err="1" smtClean="0">
                <a:solidFill>
                  <a:srgbClr val="FF0000"/>
                </a:solidFill>
              </a:rPr>
              <a:t>informatiile</a:t>
            </a:r>
            <a:r>
              <a:rPr lang="en-US" b="1" dirty="0" smtClean="0">
                <a:solidFill>
                  <a:srgbClr val="FF0000"/>
                </a:solidFill>
              </a:rPr>
              <a:t> de la </a:t>
            </a:r>
            <a:r>
              <a:rPr lang="en-US" b="1" dirty="0" err="1" smtClean="0">
                <a:solidFill>
                  <a:srgbClr val="FF0000"/>
                </a:solidFill>
              </a:rPr>
              <a:t>testul</a:t>
            </a:r>
            <a:r>
              <a:rPr lang="en-US" b="1" dirty="0" smtClean="0">
                <a:solidFill>
                  <a:srgbClr val="FF0000"/>
                </a:solidFill>
              </a:rPr>
              <a:t> ARCH ????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>
          <a:xfrm>
            <a:off x="1431938" y="1311937"/>
            <a:ext cx="9920274" cy="489929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Font typeface="Arial" charset="0"/>
              <a:buAutoNum type="arabicPeriod"/>
            </a:pPr>
            <a:endParaRPr lang="en-US" sz="3600" b="1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buFont typeface="Arial" charset="0"/>
              <a:buAutoNum type="arabicPeriod"/>
            </a:pPr>
            <a:r>
              <a:rPr lang="en-US" sz="3600" b="1" dirty="0" err="1">
                <a:solidFill>
                  <a:schemeClr val="tx1"/>
                </a:solidFill>
              </a:rPr>
              <a:t>Operatorul</a:t>
            </a:r>
            <a:r>
              <a:rPr lang="en-US" sz="3600" b="1" dirty="0">
                <a:solidFill>
                  <a:schemeClr val="tx1"/>
                </a:solidFill>
              </a:rPr>
              <a:t> de </a:t>
            </a:r>
            <a:r>
              <a:rPr lang="en-US" sz="3600" b="1" dirty="0" err="1">
                <a:solidFill>
                  <a:schemeClr val="tx1"/>
                </a:solidFill>
              </a:rPr>
              <a:t>intarziere</a:t>
            </a:r>
            <a:r>
              <a:rPr lang="en-US" sz="3600" b="1" dirty="0">
                <a:solidFill>
                  <a:schemeClr val="tx1"/>
                </a:solidFill>
              </a:rPr>
              <a:t> </a:t>
            </a:r>
            <a:r>
              <a:rPr lang="en-US" sz="3600" b="1" dirty="0" err="1">
                <a:solidFill>
                  <a:schemeClr val="tx1"/>
                </a:solidFill>
              </a:rPr>
              <a:t>si</a:t>
            </a:r>
            <a:r>
              <a:rPr lang="en-US" sz="3600" b="1" dirty="0">
                <a:solidFill>
                  <a:schemeClr val="tx1"/>
                </a:solidFill>
              </a:rPr>
              <a:t> </a:t>
            </a:r>
            <a:r>
              <a:rPr lang="en-US" sz="3600" b="1" dirty="0" err="1">
                <a:solidFill>
                  <a:schemeClr val="tx1"/>
                </a:solidFill>
              </a:rPr>
              <a:t>operatorul</a:t>
            </a:r>
            <a:r>
              <a:rPr lang="en-US" sz="3600" b="1" dirty="0">
                <a:solidFill>
                  <a:schemeClr val="tx1"/>
                </a:solidFill>
              </a:rPr>
              <a:t> </a:t>
            </a:r>
            <a:r>
              <a:rPr lang="en-US" sz="3600" b="1" dirty="0" err="1">
                <a:solidFill>
                  <a:schemeClr val="tx1"/>
                </a:solidFill>
              </a:rPr>
              <a:t>diferenta</a:t>
            </a:r>
            <a:endParaRPr lang="en-US" sz="3600" b="1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buFont typeface="Arial" charset="0"/>
              <a:buAutoNum type="arabicPeriod"/>
            </a:pPr>
            <a:endParaRPr lang="en-US" sz="3600" b="1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buFont typeface="Arial" charset="0"/>
              <a:buAutoNum type="arabicPeriod"/>
            </a:pPr>
            <a:r>
              <a:rPr lang="en-US" sz="3600" b="1" dirty="0" err="1">
                <a:solidFill>
                  <a:schemeClr val="tx1"/>
                </a:solidFill>
              </a:rPr>
              <a:t>Trenduri</a:t>
            </a:r>
            <a:r>
              <a:rPr lang="en-US" sz="3600" b="1" dirty="0">
                <a:solidFill>
                  <a:schemeClr val="tx1"/>
                </a:solidFill>
              </a:rPr>
              <a:t> </a:t>
            </a:r>
            <a:r>
              <a:rPr lang="en-US" sz="3600" b="1" dirty="0" err="1">
                <a:solidFill>
                  <a:schemeClr val="tx1"/>
                </a:solidFill>
              </a:rPr>
              <a:t>deterministe</a:t>
            </a:r>
            <a:r>
              <a:rPr lang="en-US" sz="3600" b="1" dirty="0">
                <a:solidFill>
                  <a:schemeClr val="tx1"/>
                </a:solidFill>
              </a:rPr>
              <a:t> </a:t>
            </a:r>
            <a:r>
              <a:rPr lang="en-US" sz="3600" b="1" dirty="0" err="1">
                <a:solidFill>
                  <a:schemeClr val="tx1"/>
                </a:solidFill>
              </a:rPr>
              <a:t>si</a:t>
            </a:r>
            <a:r>
              <a:rPr lang="en-US" sz="3600" b="1" dirty="0">
                <a:solidFill>
                  <a:schemeClr val="tx1"/>
                </a:solidFill>
              </a:rPr>
              <a:t> </a:t>
            </a:r>
            <a:r>
              <a:rPr lang="en-US" sz="3600" b="1" dirty="0" err="1">
                <a:solidFill>
                  <a:schemeClr val="tx1"/>
                </a:solidFill>
              </a:rPr>
              <a:t>trenduri</a:t>
            </a:r>
            <a:r>
              <a:rPr lang="en-US" sz="3600" b="1" dirty="0">
                <a:solidFill>
                  <a:schemeClr val="tx1"/>
                </a:solidFill>
              </a:rPr>
              <a:t> </a:t>
            </a:r>
            <a:r>
              <a:rPr lang="en-US" sz="3600" b="1" dirty="0" err="1">
                <a:solidFill>
                  <a:schemeClr val="tx1"/>
                </a:solidFill>
              </a:rPr>
              <a:t>stohastice</a:t>
            </a:r>
            <a:endParaRPr lang="en-US" sz="3600" b="1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buFont typeface="Arial" charset="0"/>
              <a:buAutoNum type="arabicPeriod"/>
            </a:pPr>
            <a:endParaRPr lang="en-US" sz="3600" b="1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buFont typeface="Arial" charset="0"/>
              <a:buAutoNum type="arabicPeriod"/>
            </a:pPr>
            <a:r>
              <a:rPr lang="en-US" sz="3600" b="1" dirty="0" err="1">
                <a:solidFill>
                  <a:schemeClr val="tx1"/>
                </a:solidFill>
              </a:rPr>
              <a:t>Testarea</a:t>
            </a:r>
            <a:r>
              <a:rPr lang="en-US" sz="3600" b="1" dirty="0">
                <a:solidFill>
                  <a:schemeClr val="tx1"/>
                </a:solidFill>
              </a:rPr>
              <a:t> </a:t>
            </a:r>
            <a:r>
              <a:rPr lang="en-US" sz="3600" b="1" dirty="0" err="1">
                <a:solidFill>
                  <a:schemeClr val="tx1"/>
                </a:solidFill>
              </a:rPr>
              <a:t>radacinii</a:t>
            </a:r>
            <a:r>
              <a:rPr lang="en-US" sz="3600" b="1" dirty="0">
                <a:solidFill>
                  <a:schemeClr val="tx1"/>
                </a:solidFill>
              </a:rPr>
              <a:t> </a:t>
            </a:r>
            <a:r>
              <a:rPr lang="en-US" sz="3600" b="1" dirty="0" err="1">
                <a:solidFill>
                  <a:schemeClr val="tx1"/>
                </a:solidFill>
              </a:rPr>
              <a:t>unitate</a:t>
            </a:r>
            <a:r>
              <a:rPr lang="en-US" sz="3600" b="1" dirty="0">
                <a:solidFill>
                  <a:schemeClr val="tx1"/>
                </a:solidFill>
              </a:rPr>
              <a:t> </a:t>
            </a:r>
            <a:r>
              <a:rPr lang="en-US" sz="3600" b="1" dirty="0" err="1">
                <a:solidFill>
                  <a:schemeClr val="tx1"/>
                </a:solidFill>
              </a:rPr>
              <a:t>testul</a:t>
            </a:r>
            <a:r>
              <a:rPr lang="en-US" sz="3600" b="1" dirty="0">
                <a:solidFill>
                  <a:schemeClr val="tx1"/>
                </a:solidFill>
              </a:rPr>
              <a:t> DF </a:t>
            </a:r>
            <a:r>
              <a:rPr lang="en-US" sz="3600" b="1" dirty="0" err="1">
                <a:solidFill>
                  <a:schemeClr val="tx1"/>
                </a:solidFill>
              </a:rPr>
              <a:t>si</a:t>
            </a:r>
            <a:r>
              <a:rPr lang="en-US" sz="3600" b="1" dirty="0">
                <a:solidFill>
                  <a:schemeClr val="tx1"/>
                </a:solidFill>
              </a:rPr>
              <a:t> </a:t>
            </a:r>
            <a:r>
              <a:rPr lang="en-US" sz="3600" b="1" dirty="0" err="1">
                <a:solidFill>
                  <a:schemeClr val="tx1"/>
                </a:solidFill>
              </a:rPr>
              <a:t>testul</a:t>
            </a:r>
            <a:r>
              <a:rPr lang="en-US" sz="3600" b="1" dirty="0">
                <a:solidFill>
                  <a:schemeClr val="tx1"/>
                </a:solidFill>
              </a:rPr>
              <a:t> ADF</a:t>
            </a:r>
          </a:p>
        </p:txBody>
      </p:sp>
    </p:spTree>
    <p:extLst>
      <p:ext uri="{BB962C8B-B14F-4D97-AF65-F5344CB8AC3E}">
        <p14:creationId xmlns:p14="http://schemas.microsoft.com/office/powerpoint/2010/main" val="1770281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604024"/>
            <a:ext cx="10177346" cy="615176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US" b="1" dirty="0"/>
              <a:t>1. </a:t>
            </a:r>
            <a:r>
              <a:rPr lang="en-US" b="1" dirty="0" err="1"/>
              <a:t>Operatorul</a:t>
            </a:r>
            <a:r>
              <a:rPr lang="en-US" b="1" dirty="0"/>
              <a:t> de </a:t>
            </a:r>
            <a:r>
              <a:rPr lang="en-US" b="1" dirty="0" err="1"/>
              <a:t>Intarziere</a:t>
            </a:r>
            <a:r>
              <a:rPr lang="en-US" b="1" dirty="0"/>
              <a:t> (lag) </a:t>
            </a:r>
            <a:r>
              <a:rPr lang="en-US" b="1" dirty="0" err="1"/>
              <a:t>si</a:t>
            </a:r>
            <a:r>
              <a:rPr lang="en-US" b="1" dirty="0"/>
              <a:t> </a:t>
            </a:r>
            <a:r>
              <a:rPr lang="en-US" b="1" dirty="0" err="1"/>
              <a:t>Operatorul</a:t>
            </a:r>
            <a:r>
              <a:rPr lang="en-US" b="1" dirty="0"/>
              <a:t> </a:t>
            </a:r>
            <a:r>
              <a:rPr lang="en-US" b="1" dirty="0" err="1"/>
              <a:t>Diferenta</a:t>
            </a:r>
            <a:endParaRPr lang="en-US" b="1" dirty="0"/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>
          <a:xfrm>
            <a:off x="724829" y="1219200"/>
            <a:ext cx="11251581" cy="5334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b="1" dirty="0" err="1"/>
              <a:t>Operatorul</a:t>
            </a:r>
            <a:r>
              <a:rPr lang="en-US" sz="2600" b="1" dirty="0"/>
              <a:t> de </a:t>
            </a:r>
            <a:r>
              <a:rPr lang="en-US" sz="2600" b="1" dirty="0" err="1">
                <a:solidFill>
                  <a:srgbClr val="FF0000"/>
                </a:solidFill>
              </a:rPr>
              <a:t>intarziere</a:t>
            </a:r>
            <a:r>
              <a:rPr lang="en-US" sz="2600" b="1" dirty="0"/>
              <a:t> </a:t>
            </a:r>
            <a:r>
              <a:rPr lang="en-US" sz="2600" dirty="0" err="1"/>
              <a:t>sau</a:t>
            </a:r>
            <a:r>
              <a:rPr lang="en-US" sz="2600" dirty="0"/>
              <a:t> </a:t>
            </a:r>
            <a:r>
              <a:rPr lang="en-US" sz="2600" b="1" dirty="0"/>
              <a:t>de </a:t>
            </a:r>
            <a:r>
              <a:rPr lang="en-US" sz="2600" b="1" dirty="0" err="1">
                <a:solidFill>
                  <a:srgbClr val="FF0000"/>
                </a:solidFill>
              </a:rPr>
              <a:t>decalaj</a:t>
            </a:r>
            <a:r>
              <a:rPr lang="en-US" sz="2600" b="1" dirty="0"/>
              <a:t> </a:t>
            </a:r>
            <a:r>
              <a:rPr lang="en-US" sz="2600" dirty="0"/>
              <a:t>(</a:t>
            </a:r>
            <a:r>
              <a:rPr lang="en-US" sz="2600" dirty="0" err="1"/>
              <a:t>engl.</a:t>
            </a:r>
            <a:r>
              <a:rPr lang="en-US" sz="2600" dirty="0"/>
              <a:t> </a:t>
            </a:r>
            <a:r>
              <a:rPr lang="en-US" sz="2600" i="1" dirty="0"/>
              <a:t>lag operator </a:t>
            </a:r>
            <a:r>
              <a:rPr lang="en-US" sz="2600" dirty="0" err="1"/>
              <a:t>sau</a:t>
            </a:r>
            <a:r>
              <a:rPr lang="en-US" sz="2600" dirty="0"/>
              <a:t> </a:t>
            </a:r>
            <a:r>
              <a:rPr lang="en-US" sz="2600" i="1" dirty="0"/>
              <a:t>backward-shift operator)</a:t>
            </a:r>
            <a:r>
              <a:rPr lang="en-US" sz="2600" dirty="0"/>
              <a:t>  </a:t>
            </a:r>
            <a:r>
              <a:rPr lang="en-US" sz="2600" dirty="0" err="1" smtClean="0"/>
              <a:t>este</a:t>
            </a:r>
            <a:r>
              <a:rPr lang="en-US" sz="2600" dirty="0" smtClean="0"/>
              <a:t> </a:t>
            </a:r>
            <a:r>
              <a:rPr lang="en-US" sz="2600" dirty="0" err="1" smtClean="0"/>
              <a:t>notat</a:t>
            </a:r>
            <a:r>
              <a:rPr lang="en-US" sz="2600" dirty="0" smtClean="0"/>
              <a:t> cu </a:t>
            </a:r>
            <a:r>
              <a:rPr lang="en-US" sz="2600" b="1" dirty="0">
                <a:solidFill>
                  <a:srgbClr val="FF0000"/>
                </a:solidFill>
              </a:rPr>
              <a:t>L</a:t>
            </a:r>
            <a:r>
              <a:rPr lang="en-US" sz="2600" dirty="0"/>
              <a:t> </a:t>
            </a:r>
            <a:r>
              <a:rPr lang="en-US" sz="2600" dirty="0" err="1" smtClean="0"/>
              <a:t>sau</a:t>
            </a:r>
            <a:r>
              <a:rPr lang="en-US" sz="2600" dirty="0" smtClean="0"/>
              <a:t> </a:t>
            </a:r>
            <a:r>
              <a:rPr lang="en-US" sz="2600" b="1" dirty="0" smtClean="0">
                <a:solidFill>
                  <a:srgbClr val="FF0000"/>
                </a:solidFill>
              </a:rPr>
              <a:t>B </a:t>
            </a:r>
            <a:r>
              <a:rPr lang="en-US" sz="2600" dirty="0" err="1" smtClean="0"/>
              <a:t>si</a:t>
            </a:r>
            <a:r>
              <a:rPr lang="en-US" sz="2600" dirty="0" smtClean="0"/>
              <a:t> are </a:t>
            </a:r>
            <a:r>
              <a:rPr lang="en-US" sz="2600" dirty="0" err="1" smtClean="0"/>
              <a:t>proprietatea</a:t>
            </a:r>
            <a:r>
              <a:rPr lang="en-US" sz="2600" dirty="0"/>
              <a:t>:</a:t>
            </a:r>
            <a:endParaRPr lang="en-US" sz="2600" b="1" dirty="0"/>
          </a:p>
          <a:p>
            <a:pPr marL="0" indent="0" algn="ctr">
              <a:buNone/>
            </a:pPr>
            <a:r>
              <a:rPr lang="en-US" sz="2600" b="1" dirty="0" err="1" smtClean="0">
                <a:solidFill>
                  <a:srgbClr val="C00000"/>
                </a:solidFill>
              </a:rPr>
              <a:t>LY</a:t>
            </a:r>
            <a:r>
              <a:rPr lang="en-US" sz="2600" b="1" baseline="-25000" dirty="0" err="1" smtClean="0">
                <a:solidFill>
                  <a:srgbClr val="C00000"/>
                </a:solidFill>
              </a:rPr>
              <a:t>t</a:t>
            </a:r>
            <a:r>
              <a:rPr lang="en-US" sz="2600" b="1" dirty="0" smtClean="0">
                <a:solidFill>
                  <a:srgbClr val="C00000"/>
                </a:solidFill>
              </a:rPr>
              <a:t>=Y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t-1</a:t>
            </a:r>
            <a:r>
              <a:rPr lang="en-US" sz="2600" b="1" dirty="0" smtClean="0">
                <a:solidFill>
                  <a:srgbClr val="C00000"/>
                </a:solidFill>
              </a:rPr>
              <a:t> </a:t>
            </a:r>
            <a:r>
              <a:rPr lang="en-US" sz="2600" b="1" dirty="0">
                <a:solidFill>
                  <a:srgbClr val="C00000"/>
                </a:solidFill>
              </a:rPr>
              <a:t>, </a:t>
            </a:r>
            <a:r>
              <a:rPr lang="en-US" sz="2600" b="1" dirty="0" smtClean="0">
                <a:solidFill>
                  <a:srgbClr val="C00000"/>
                </a:solidFill>
              </a:rPr>
              <a:t>L</a:t>
            </a:r>
            <a:r>
              <a:rPr lang="en-US" sz="26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2600" b="1" dirty="0" smtClean="0">
                <a:solidFill>
                  <a:srgbClr val="C00000"/>
                </a:solidFill>
              </a:rPr>
              <a:t>Y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t</a:t>
            </a:r>
            <a:r>
              <a:rPr lang="en-US" sz="2600" b="1" dirty="0" smtClean="0">
                <a:solidFill>
                  <a:srgbClr val="C00000"/>
                </a:solidFill>
              </a:rPr>
              <a:t>=Y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t-2</a:t>
            </a:r>
            <a:r>
              <a:rPr lang="en-US" sz="2600" b="1" dirty="0">
                <a:solidFill>
                  <a:srgbClr val="C00000"/>
                </a:solidFill>
              </a:rPr>
              <a:t>, …, </a:t>
            </a:r>
            <a:r>
              <a:rPr lang="en-US" sz="2600" b="1" dirty="0" err="1" smtClean="0">
                <a:solidFill>
                  <a:srgbClr val="C00000"/>
                </a:solidFill>
              </a:rPr>
              <a:t>L</a:t>
            </a:r>
            <a:r>
              <a:rPr lang="en-US" sz="2600" b="1" baseline="30000" dirty="0" err="1" smtClean="0">
                <a:solidFill>
                  <a:srgbClr val="C00000"/>
                </a:solidFill>
              </a:rPr>
              <a:t>p</a:t>
            </a:r>
            <a:r>
              <a:rPr lang="en-US" sz="2600" b="1" dirty="0" err="1" smtClean="0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 smtClean="0">
                <a:solidFill>
                  <a:srgbClr val="C00000"/>
                </a:solidFill>
              </a:rPr>
              <a:t>t</a:t>
            </a:r>
            <a:r>
              <a:rPr lang="en-US" sz="2600" b="1" dirty="0" smtClean="0">
                <a:solidFill>
                  <a:srgbClr val="C00000"/>
                </a:solidFill>
              </a:rPr>
              <a:t>=</a:t>
            </a:r>
            <a:r>
              <a:rPr lang="en-US" sz="2600" b="1" dirty="0" err="1" smtClean="0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 smtClean="0">
                <a:solidFill>
                  <a:srgbClr val="C00000"/>
                </a:solidFill>
              </a:rPr>
              <a:t>t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-p</a:t>
            </a:r>
            <a:endParaRPr lang="en-US" sz="26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600" dirty="0"/>
              <a:t>Specific </a:t>
            </a:r>
            <a:r>
              <a:rPr lang="en-US" sz="2600" dirty="0" err="1"/>
              <a:t>seriilor</a:t>
            </a:r>
            <a:r>
              <a:rPr lang="en-US" sz="2600" dirty="0"/>
              <a:t> de </a:t>
            </a:r>
            <a:r>
              <a:rPr lang="en-US" sz="2600" dirty="0" err="1"/>
              <a:t>timp</a:t>
            </a:r>
            <a:r>
              <a:rPr lang="en-US" sz="2600" dirty="0"/>
              <a:t> </a:t>
            </a:r>
            <a:r>
              <a:rPr lang="en-US" sz="2600" dirty="0" err="1"/>
              <a:t>este</a:t>
            </a:r>
            <a:r>
              <a:rPr lang="en-US" sz="2600" dirty="0"/>
              <a:t> </a:t>
            </a:r>
            <a:r>
              <a:rPr lang="en-US" sz="2600" dirty="0" err="1"/>
              <a:t>sa</a:t>
            </a:r>
            <a:r>
              <a:rPr lang="en-US" sz="2600" dirty="0"/>
              <a:t> </a:t>
            </a:r>
            <a:r>
              <a:rPr lang="en-US" sz="2600" dirty="0" err="1"/>
              <a:t>utilizam</a:t>
            </a:r>
            <a:r>
              <a:rPr lang="en-US" sz="2600" dirty="0"/>
              <a:t> nu  </a:t>
            </a:r>
            <a:r>
              <a:rPr lang="en-US" sz="2600" dirty="0" err="1"/>
              <a:t>atat</a:t>
            </a:r>
            <a:r>
              <a:rPr lang="en-US" sz="2600" dirty="0"/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operatorul</a:t>
            </a:r>
            <a:r>
              <a:rPr lang="en-US" sz="2600" b="1" dirty="0">
                <a:solidFill>
                  <a:srgbClr val="FF0000"/>
                </a:solidFill>
              </a:rPr>
              <a:t> de </a:t>
            </a:r>
            <a:r>
              <a:rPr lang="en-US" sz="2600" b="1" dirty="0" err="1">
                <a:solidFill>
                  <a:srgbClr val="FF0000"/>
                </a:solidFill>
              </a:rPr>
              <a:t>intarziere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ci </a:t>
            </a:r>
            <a:r>
              <a:rPr lang="en-US" sz="2600" b="1" dirty="0" err="1">
                <a:solidFill>
                  <a:srgbClr val="FF0000"/>
                </a:solidFill>
              </a:rPr>
              <a:t>operatorul</a:t>
            </a:r>
            <a:r>
              <a:rPr lang="en-US" sz="2600" b="1" dirty="0">
                <a:solidFill>
                  <a:srgbClr val="FF0000"/>
                </a:solidFill>
              </a:rPr>
              <a:t> de </a:t>
            </a:r>
            <a:r>
              <a:rPr lang="en-US" sz="2600" b="1" dirty="0" err="1">
                <a:solidFill>
                  <a:srgbClr val="FF0000"/>
                </a:solidFill>
              </a:rPr>
              <a:t>intarziere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polinomial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i="1" dirty="0"/>
              <a:t>:</a:t>
            </a:r>
            <a:endParaRPr lang="en-US" sz="2600" dirty="0"/>
          </a:p>
          <a:p>
            <a:pPr marL="0" indent="0" algn="ctr">
              <a:buNone/>
            </a:pP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dirty="0">
                <a:solidFill>
                  <a:srgbClr val="C00000"/>
                </a:solidFill>
              </a:rPr>
              <a:t>(L)= 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>
                <a:solidFill>
                  <a:srgbClr val="C00000"/>
                </a:solidFill>
              </a:rPr>
              <a:t>0</a:t>
            </a:r>
            <a:r>
              <a:rPr lang="en-US" sz="2600" b="1" dirty="0">
                <a:solidFill>
                  <a:srgbClr val="C00000"/>
                </a:solidFill>
              </a:rPr>
              <a:t> + 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>
                <a:solidFill>
                  <a:srgbClr val="C00000"/>
                </a:solidFill>
              </a:rPr>
              <a:t>1</a:t>
            </a:r>
            <a:r>
              <a:rPr lang="en-US" sz="2600" b="1" dirty="0">
                <a:solidFill>
                  <a:srgbClr val="C00000"/>
                </a:solidFill>
              </a:rPr>
              <a:t> L+</a:t>
            </a:r>
            <a:r>
              <a:rPr lang="el-GR" sz="2600" b="1" dirty="0">
                <a:solidFill>
                  <a:srgbClr val="C00000"/>
                </a:solidFill>
              </a:rPr>
              <a:t> β</a:t>
            </a:r>
            <a:r>
              <a:rPr lang="en-US" sz="2600" b="1" baseline="-25000" dirty="0">
                <a:solidFill>
                  <a:srgbClr val="C00000"/>
                </a:solidFill>
              </a:rPr>
              <a:t>2 </a:t>
            </a:r>
            <a:r>
              <a:rPr lang="en-US" sz="2600" b="1" dirty="0">
                <a:solidFill>
                  <a:srgbClr val="C00000"/>
                </a:solidFill>
              </a:rPr>
              <a:t>L</a:t>
            </a:r>
            <a:r>
              <a:rPr lang="en-US" sz="2600" b="1" baseline="30000" dirty="0">
                <a:solidFill>
                  <a:srgbClr val="C00000"/>
                </a:solidFill>
              </a:rPr>
              <a:t>2</a:t>
            </a:r>
            <a:r>
              <a:rPr lang="en-US" sz="2600" b="1" dirty="0">
                <a:solidFill>
                  <a:srgbClr val="C00000"/>
                </a:solidFill>
              </a:rPr>
              <a:t>+…+</a:t>
            </a:r>
            <a:r>
              <a:rPr lang="el-GR" sz="2600" b="1" dirty="0">
                <a:solidFill>
                  <a:srgbClr val="C00000"/>
                </a:solidFill>
              </a:rPr>
              <a:t> β</a:t>
            </a:r>
            <a:r>
              <a:rPr lang="en-US" sz="2600" b="1" baseline="-25000" dirty="0" err="1">
                <a:solidFill>
                  <a:srgbClr val="C00000"/>
                </a:solidFill>
              </a:rPr>
              <a:t>p</a:t>
            </a:r>
            <a:r>
              <a:rPr lang="en-US" sz="2600" b="1" dirty="0" err="1">
                <a:solidFill>
                  <a:srgbClr val="C00000"/>
                </a:solidFill>
              </a:rPr>
              <a:t>L</a:t>
            </a:r>
            <a:r>
              <a:rPr lang="en-US" sz="2600" b="1" baseline="30000" dirty="0" err="1">
                <a:solidFill>
                  <a:srgbClr val="C00000"/>
                </a:solidFill>
              </a:rPr>
              <a:t>p</a:t>
            </a:r>
            <a:r>
              <a:rPr lang="en-US" sz="2600" b="1" dirty="0">
                <a:solidFill>
                  <a:srgbClr val="C00000"/>
                </a:solidFill>
              </a:rPr>
              <a:t>+…</a:t>
            </a:r>
          </a:p>
          <a:p>
            <a:pPr marL="0" indent="0">
              <a:buNone/>
            </a:pPr>
            <a:r>
              <a:rPr lang="en-US" sz="2600" dirty="0" err="1"/>
              <a:t>si</a:t>
            </a:r>
            <a:r>
              <a:rPr lang="en-US" sz="2600" dirty="0"/>
              <a:t> </a:t>
            </a:r>
            <a:r>
              <a:rPr lang="en-US" sz="2600" dirty="0" err="1"/>
              <a:t>acesta</a:t>
            </a:r>
            <a:r>
              <a:rPr lang="en-US" sz="2600" dirty="0"/>
              <a:t> </a:t>
            </a:r>
            <a:r>
              <a:rPr lang="en-US" sz="2600" dirty="0" err="1"/>
              <a:t>este</a:t>
            </a:r>
            <a:r>
              <a:rPr lang="en-US" sz="2600" dirty="0"/>
              <a:t> </a:t>
            </a:r>
            <a:r>
              <a:rPr lang="en-US" sz="2600" dirty="0" err="1"/>
              <a:t>utilizat</a:t>
            </a:r>
            <a:r>
              <a:rPr lang="en-US" sz="2600" dirty="0"/>
              <a:t> in </a:t>
            </a:r>
            <a:r>
              <a:rPr lang="en-US" sz="2600" b="1" dirty="0" err="1">
                <a:solidFill>
                  <a:srgbClr val="FF0000"/>
                </a:solidFill>
              </a:rPr>
              <a:t>definirea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modelelor</a:t>
            </a:r>
            <a:r>
              <a:rPr lang="en-US" sz="2600" b="1" dirty="0">
                <a:solidFill>
                  <a:srgbClr val="FF0000"/>
                </a:solidFill>
              </a:rPr>
              <a:t> cu </a:t>
            </a:r>
            <a:r>
              <a:rPr lang="en-US" sz="2600" b="1" dirty="0" err="1">
                <a:solidFill>
                  <a:srgbClr val="FF0000"/>
                </a:solidFill>
              </a:rPr>
              <a:t>decalaj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distribuit</a:t>
            </a:r>
            <a:r>
              <a:rPr lang="en-US" sz="2600" dirty="0"/>
              <a:t>: </a:t>
            </a:r>
          </a:p>
          <a:p>
            <a:pPr marL="0" indent="0" algn="ctr">
              <a:buNone/>
            </a:pPr>
            <a:r>
              <a:rPr lang="en-US" sz="2600" b="1" dirty="0" err="1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>
                <a:solidFill>
                  <a:srgbClr val="C00000"/>
                </a:solidFill>
              </a:rPr>
              <a:t>t</a:t>
            </a:r>
            <a:r>
              <a:rPr lang="en-US" sz="2600" b="1" baseline="-25000" dirty="0">
                <a:solidFill>
                  <a:srgbClr val="C00000"/>
                </a:solidFill>
              </a:rPr>
              <a:t> </a:t>
            </a:r>
            <a:r>
              <a:rPr lang="en-US" sz="2600" b="1" dirty="0">
                <a:solidFill>
                  <a:srgbClr val="C00000"/>
                </a:solidFill>
              </a:rPr>
              <a:t>=B’(</a:t>
            </a:r>
            <a:r>
              <a:rPr lang="en-US" sz="2600" b="1" dirty="0" smtClean="0">
                <a:solidFill>
                  <a:srgbClr val="C00000"/>
                </a:solidFill>
              </a:rPr>
              <a:t>L)</a:t>
            </a:r>
            <a:r>
              <a:rPr lang="en-US" sz="2600" b="1" dirty="0" err="1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 smtClean="0">
                <a:solidFill>
                  <a:srgbClr val="C00000"/>
                </a:solidFill>
              </a:rPr>
              <a:t>t</a:t>
            </a:r>
            <a:r>
              <a:rPr lang="en-US" sz="2600" b="1" dirty="0" smtClean="0">
                <a:solidFill>
                  <a:srgbClr val="C00000"/>
                </a:solidFill>
              </a:rPr>
              <a:t>+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=(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>
                <a:solidFill>
                  <a:srgbClr val="C00000"/>
                </a:solidFill>
              </a:rPr>
              <a:t>1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  <a:r>
              <a:rPr lang="en-US" sz="2600" b="1" dirty="0" smtClean="0">
                <a:solidFill>
                  <a:srgbClr val="C00000"/>
                </a:solidFill>
              </a:rPr>
              <a:t>Y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t-1</a:t>
            </a:r>
            <a:r>
              <a:rPr lang="en-US" sz="2600" b="1" dirty="0">
                <a:solidFill>
                  <a:srgbClr val="C00000"/>
                </a:solidFill>
              </a:rPr>
              <a:t>+</a:t>
            </a:r>
            <a:r>
              <a:rPr lang="el-GR" sz="2600" b="1" dirty="0">
                <a:solidFill>
                  <a:srgbClr val="C00000"/>
                </a:solidFill>
              </a:rPr>
              <a:t> β</a:t>
            </a:r>
            <a:r>
              <a:rPr lang="en-US" sz="2600" b="1" baseline="-25000" dirty="0">
                <a:solidFill>
                  <a:srgbClr val="C00000"/>
                </a:solidFill>
              </a:rPr>
              <a:t>2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  <a:r>
              <a:rPr lang="en-US" sz="2600" b="1" dirty="0" smtClean="0">
                <a:solidFill>
                  <a:srgbClr val="C00000"/>
                </a:solidFill>
              </a:rPr>
              <a:t>Y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t-2</a:t>
            </a:r>
            <a:r>
              <a:rPr lang="en-US" sz="2600" b="1" dirty="0">
                <a:solidFill>
                  <a:srgbClr val="C00000"/>
                </a:solidFill>
              </a:rPr>
              <a:t>+ …+</a:t>
            </a:r>
            <a:r>
              <a:rPr lang="el-GR" sz="2600" b="1" dirty="0">
                <a:solidFill>
                  <a:srgbClr val="C00000"/>
                </a:solidFill>
              </a:rPr>
              <a:t> β</a:t>
            </a:r>
            <a:r>
              <a:rPr lang="en-US" sz="2600" b="1" baseline="-25000" dirty="0">
                <a:solidFill>
                  <a:srgbClr val="C00000"/>
                </a:solidFill>
              </a:rPr>
              <a:t>p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  <a:r>
              <a:rPr lang="en-US" sz="2600" b="1" dirty="0" err="1" smtClean="0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 smtClean="0">
                <a:solidFill>
                  <a:srgbClr val="C00000"/>
                </a:solidFill>
              </a:rPr>
              <a:t>t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-p </a:t>
            </a:r>
            <a:r>
              <a:rPr lang="en-US" sz="2600" b="1" dirty="0">
                <a:solidFill>
                  <a:srgbClr val="C00000"/>
                </a:solidFill>
              </a:rPr>
              <a:t>+…)+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>
                <a:solidFill>
                  <a:srgbClr val="C00000"/>
                </a:solidFill>
              </a:rPr>
              <a:t>t</a:t>
            </a:r>
            <a:endParaRPr lang="en-US" sz="2600" b="1" dirty="0">
              <a:solidFill>
                <a:srgbClr val="C00000"/>
              </a:solidFill>
            </a:endParaRPr>
          </a:p>
          <a:p>
            <a:pPr marL="0" indent="0" algn="just">
              <a:buNone/>
            </a:pPr>
            <a:r>
              <a:rPr lang="en-US" sz="2600" dirty="0" err="1"/>
              <a:t>unde</a:t>
            </a:r>
            <a:r>
              <a:rPr lang="en-US" sz="2600" dirty="0"/>
              <a:t> </a:t>
            </a:r>
            <a:r>
              <a:rPr lang="en-US" sz="2600" dirty="0" err="1"/>
              <a:t>prin</a:t>
            </a:r>
            <a:r>
              <a:rPr lang="en-US" sz="2600" dirty="0"/>
              <a:t> B’(L) am </a:t>
            </a:r>
            <a:r>
              <a:rPr lang="en-US" sz="2600" dirty="0" err="1"/>
              <a:t>notat</a:t>
            </a:r>
            <a:r>
              <a:rPr lang="en-US" sz="2600" dirty="0"/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operatorul</a:t>
            </a:r>
            <a:r>
              <a:rPr lang="en-US" sz="2600" b="1" dirty="0">
                <a:solidFill>
                  <a:srgbClr val="FF0000"/>
                </a:solidFill>
              </a:rPr>
              <a:t> de </a:t>
            </a:r>
            <a:r>
              <a:rPr lang="en-US" sz="2600" b="1" dirty="0" err="1">
                <a:solidFill>
                  <a:srgbClr val="FF0000"/>
                </a:solidFill>
              </a:rPr>
              <a:t>intarziere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polinomial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fara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constanta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l-GR" sz="2600" b="1" dirty="0">
                <a:solidFill>
                  <a:srgbClr val="FF0000"/>
                </a:solidFill>
              </a:rPr>
              <a:t>β</a:t>
            </a:r>
            <a:r>
              <a:rPr lang="en-US" sz="2600" b="1" baseline="-25000" dirty="0">
                <a:solidFill>
                  <a:srgbClr val="FF0000"/>
                </a:solidFill>
              </a:rPr>
              <a:t>0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.</a:t>
            </a:r>
          </a:p>
          <a:p>
            <a:pPr marL="0" indent="0" algn="just">
              <a:buNone/>
            </a:pPr>
            <a:r>
              <a:rPr lang="en-US" sz="2600" b="1" dirty="0" err="1">
                <a:solidFill>
                  <a:srgbClr val="FF0000"/>
                </a:solidFill>
              </a:rPr>
              <a:t>Modelele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autoregresive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si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modelele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medie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mobila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dirty="0" err="1"/>
              <a:t>sunt</a:t>
            </a:r>
            <a:r>
              <a:rPr lang="en-US" sz="2600" dirty="0"/>
              <a:t> un </a:t>
            </a:r>
            <a:r>
              <a:rPr lang="en-US" sz="2600" dirty="0" err="1"/>
              <a:t>caz</a:t>
            </a:r>
            <a:r>
              <a:rPr lang="en-US" sz="2600" dirty="0"/>
              <a:t> particular de </a:t>
            </a:r>
            <a:r>
              <a:rPr lang="en-US" sz="2600" b="1" dirty="0" err="1"/>
              <a:t>modele</a:t>
            </a:r>
            <a:r>
              <a:rPr lang="en-US" sz="2600" b="1" dirty="0"/>
              <a:t> cu </a:t>
            </a:r>
            <a:r>
              <a:rPr lang="en-US" sz="2600" b="1" dirty="0" err="1"/>
              <a:t>decalaj</a:t>
            </a:r>
            <a:r>
              <a:rPr lang="en-US" sz="2600" b="1" dirty="0"/>
              <a:t> </a:t>
            </a:r>
            <a:r>
              <a:rPr lang="en-US" sz="2600" b="1" dirty="0" err="1"/>
              <a:t>distribuit</a:t>
            </a:r>
            <a:r>
              <a:rPr lang="en-US" sz="2600" dirty="0"/>
              <a:t>.</a:t>
            </a:r>
          </a:p>
          <a:p>
            <a:pPr marL="0" indent="0" algn="ctr"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16416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>
          <a:xfrm>
            <a:off x="936704" y="1600201"/>
            <a:ext cx="10920761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600" b="1" dirty="0" err="1" smtClean="0">
                <a:solidFill>
                  <a:srgbClr val="C00000"/>
                </a:solidFill>
              </a:rPr>
              <a:t>Operatorul</a:t>
            </a:r>
            <a:r>
              <a:rPr lang="en-US" sz="2600" b="1" dirty="0" smtClean="0">
                <a:solidFill>
                  <a:srgbClr val="C00000"/>
                </a:solidFill>
              </a:rPr>
              <a:t> </a:t>
            </a:r>
            <a:r>
              <a:rPr lang="en-US" sz="2600" b="1" dirty="0" err="1" smtClean="0">
                <a:solidFill>
                  <a:srgbClr val="C00000"/>
                </a:solidFill>
              </a:rPr>
              <a:t>diferenta</a:t>
            </a:r>
            <a:r>
              <a:rPr lang="en-US" sz="2600" b="1" dirty="0" smtClean="0">
                <a:solidFill>
                  <a:srgbClr val="C00000"/>
                </a:solidFill>
              </a:rPr>
              <a:t> de </a:t>
            </a:r>
            <a:r>
              <a:rPr lang="en-US" sz="2600" b="1" dirty="0" err="1" smtClean="0">
                <a:solidFill>
                  <a:srgbClr val="C00000"/>
                </a:solidFill>
              </a:rPr>
              <a:t>ordinul</a:t>
            </a:r>
            <a:r>
              <a:rPr lang="en-US" sz="2600" b="1" dirty="0" smtClean="0">
                <a:solidFill>
                  <a:srgbClr val="C00000"/>
                </a:solidFill>
              </a:rPr>
              <a:t> I</a:t>
            </a:r>
            <a:r>
              <a:rPr lang="en-US" sz="2600" dirty="0" smtClean="0">
                <a:solidFill>
                  <a:srgbClr val="C00000"/>
                </a:solidFill>
              </a:rPr>
              <a:t> </a:t>
            </a:r>
            <a:r>
              <a:rPr lang="en-US" sz="2600" dirty="0" err="1" smtClean="0"/>
              <a:t>este</a:t>
            </a:r>
            <a:r>
              <a:rPr lang="en-US" sz="2600" dirty="0" smtClean="0"/>
              <a:t> </a:t>
            </a:r>
            <a:r>
              <a:rPr lang="en-US" sz="2600" dirty="0" err="1" smtClean="0"/>
              <a:t>reprezentat</a:t>
            </a:r>
            <a:r>
              <a:rPr lang="en-US" sz="2600" dirty="0" smtClean="0"/>
              <a:t> de </a:t>
            </a:r>
            <a:r>
              <a:rPr lang="en-US" sz="2600" dirty="0" err="1" smtClean="0"/>
              <a:t>diferenta</a:t>
            </a:r>
            <a:r>
              <a:rPr lang="en-US" sz="2600" dirty="0" smtClean="0"/>
              <a:t> </a:t>
            </a:r>
            <a:r>
              <a:rPr lang="en-US" sz="2600" dirty="0" err="1" smtClean="0"/>
              <a:t>dintre</a:t>
            </a:r>
            <a:r>
              <a:rPr lang="en-US" sz="2600" dirty="0" smtClean="0"/>
              <a:t> </a:t>
            </a:r>
            <a:r>
              <a:rPr lang="en-US" sz="2600" dirty="0" err="1" smtClean="0"/>
              <a:t>doi</a:t>
            </a:r>
            <a:r>
              <a:rPr lang="en-US" sz="2600" dirty="0" smtClean="0"/>
              <a:t> </a:t>
            </a:r>
            <a:r>
              <a:rPr lang="en-US" sz="2600" dirty="0" err="1" smtClean="0"/>
              <a:t>termeni</a:t>
            </a:r>
            <a:r>
              <a:rPr lang="en-US" sz="2600" dirty="0" smtClean="0"/>
              <a:t> </a:t>
            </a:r>
            <a:r>
              <a:rPr lang="en-US" sz="2600" dirty="0" err="1" smtClean="0"/>
              <a:t>succesivi</a:t>
            </a:r>
            <a:r>
              <a:rPr lang="en-US" sz="2600" dirty="0" smtClean="0"/>
              <a:t>, </a:t>
            </a:r>
            <a:r>
              <a:rPr lang="en-US" sz="2600" dirty="0" err="1" smtClean="0"/>
              <a:t>decalati</a:t>
            </a:r>
            <a:r>
              <a:rPr lang="en-US" sz="2600" dirty="0" smtClean="0"/>
              <a:t> cu o </a:t>
            </a:r>
            <a:r>
              <a:rPr lang="en-US" sz="2600" dirty="0" err="1" smtClean="0"/>
              <a:t>perioada</a:t>
            </a:r>
            <a:r>
              <a:rPr lang="en-US" sz="2600" dirty="0" smtClean="0"/>
              <a:t> de </a:t>
            </a:r>
            <a:r>
              <a:rPr lang="en-US" sz="2600" dirty="0" err="1" smtClean="0"/>
              <a:t>timp.</a:t>
            </a:r>
            <a:r>
              <a:rPr lang="en-US" sz="2600" dirty="0" smtClean="0"/>
              <a:t> </a:t>
            </a:r>
            <a:r>
              <a:rPr lang="en-US" sz="2600" dirty="0" err="1" smtClean="0"/>
              <a:t>Acesta</a:t>
            </a:r>
            <a:r>
              <a:rPr lang="en-US" sz="2600" dirty="0" smtClean="0"/>
              <a:t> poate </a:t>
            </a:r>
            <a:r>
              <a:rPr lang="en-US" sz="2600" dirty="0" err="1" smtClean="0"/>
              <a:t>si</a:t>
            </a:r>
            <a:r>
              <a:rPr lang="en-US" sz="2600" dirty="0" smtClean="0"/>
              <a:t> fi </a:t>
            </a:r>
            <a:r>
              <a:rPr lang="en-US" sz="2600" dirty="0" err="1" smtClean="0"/>
              <a:t>exprimat</a:t>
            </a:r>
            <a:r>
              <a:rPr lang="en-US" sz="2600" dirty="0" smtClean="0"/>
              <a:t> cu </a:t>
            </a:r>
            <a:r>
              <a:rPr lang="en-US" sz="2600" dirty="0" err="1" smtClean="0"/>
              <a:t>ajutorul</a:t>
            </a:r>
            <a:r>
              <a:rPr lang="en-US" sz="2600" dirty="0" smtClean="0"/>
              <a:t> </a:t>
            </a:r>
            <a:r>
              <a:rPr lang="en-US" sz="2600" dirty="0" err="1" smtClean="0"/>
              <a:t>operatorului</a:t>
            </a:r>
            <a:r>
              <a:rPr lang="en-US" sz="2600" dirty="0" smtClean="0"/>
              <a:t> lag: </a:t>
            </a:r>
          </a:p>
          <a:p>
            <a:pPr marL="0" indent="0" algn="ctr">
              <a:buNone/>
            </a:pPr>
            <a:r>
              <a:rPr lang="en-US" sz="2600" b="1" dirty="0" err="1" smtClean="0">
                <a:solidFill>
                  <a:srgbClr val="C00000"/>
                </a:solidFill>
              </a:rPr>
              <a:t>Δy</a:t>
            </a:r>
            <a:r>
              <a:rPr lang="en-US" sz="2600" b="1" baseline="-25000" dirty="0" err="1" smtClean="0">
                <a:solidFill>
                  <a:srgbClr val="C00000"/>
                </a:solidFill>
              </a:rPr>
              <a:t>t</a:t>
            </a:r>
            <a:r>
              <a:rPr lang="en-US" sz="2600" b="1" dirty="0" smtClean="0">
                <a:solidFill>
                  <a:srgbClr val="C00000"/>
                </a:solidFill>
              </a:rPr>
              <a:t>=y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t</a:t>
            </a:r>
            <a:r>
              <a:rPr lang="en-US" sz="2600" b="1" dirty="0" smtClean="0">
                <a:solidFill>
                  <a:srgbClr val="C00000"/>
                </a:solidFill>
              </a:rPr>
              <a:t>-y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t-1</a:t>
            </a:r>
            <a:r>
              <a:rPr lang="en-US" sz="2600" b="1" dirty="0" smtClean="0">
                <a:solidFill>
                  <a:srgbClr val="C00000"/>
                </a:solidFill>
              </a:rPr>
              <a:t>=(1-L)</a:t>
            </a:r>
            <a:r>
              <a:rPr lang="en-US" sz="2600" b="1" dirty="0" err="1" smtClean="0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 smtClean="0">
                <a:solidFill>
                  <a:srgbClr val="C00000"/>
                </a:solidFill>
              </a:rPr>
              <a:t>t</a:t>
            </a:r>
            <a:endParaRPr lang="en-US" sz="2600" b="1" baseline="-25000" dirty="0" smtClean="0">
              <a:solidFill>
                <a:srgbClr val="C00000"/>
              </a:solidFill>
            </a:endParaRPr>
          </a:p>
          <a:p>
            <a:pPr marL="0" indent="0" algn="just">
              <a:buNone/>
            </a:pPr>
            <a:r>
              <a:rPr lang="en-US" sz="2600" b="1" dirty="0" err="1" smtClean="0">
                <a:solidFill>
                  <a:srgbClr val="C00000"/>
                </a:solidFill>
              </a:rPr>
              <a:t>Operatorul</a:t>
            </a:r>
            <a:r>
              <a:rPr lang="en-US" sz="2600" b="1" dirty="0" smtClean="0">
                <a:solidFill>
                  <a:srgbClr val="C00000"/>
                </a:solidFill>
              </a:rPr>
              <a:t> </a:t>
            </a:r>
            <a:r>
              <a:rPr lang="en-US" sz="2600" b="1" dirty="0" err="1" smtClean="0">
                <a:solidFill>
                  <a:srgbClr val="C00000"/>
                </a:solidFill>
              </a:rPr>
              <a:t>diferenta</a:t>
            </a:r>
            <a:r>
              <a:rPr lang="en-US" sz="2600" b="1" dirty="0" smtClean="0">
                <a:solidFill>
                  <a:srgbClr val="C00000"/>
                </a:solidFill>
              </a:rPr>
              <a:t> de </a:t>
            </a:r>
            <a:r>
              <a:rPr lang="en-US" sz="2600" b="1" dirty="0" err="1" smtClean="0">
                <a:solidFill>
                  <a:srgbClr val="C00000"/>
                </a:solidFill>
              </a:rPr>
              <a:t>ordinul</a:t>
            </a:r>
            <a:r>
              <a:rPr lang="en-US" sz="2600" b="1" dirty="0" smtClean="0">
                <a:solidFill>
                  <a:srgbClr val="C00000"/>
                </a:solidFill>
              </a:rPr>
              <a:t> II </a:t>
            </a:r>
            <a:r>
              <a:rPr lang="en-US" sz="2600" dirty="0" err="1" smtClean="0"/>
              <a:t>este</a:t>
            </a:r>
            <a:r>
              <a:rPr lang="en-US" sz="2600" dirty="0" smtClean="0"/>
              <a:t> </a:t>
            </a:r>
            <a:r>
              <a:rPr lang="en-US" sz="2600" dirty="0" err="1" smtClean="0"/>
              <a:t>reprezentat</a:t>
            </a:r>
            <a:r>
              <a:rPr lang="en-US" sz="2600" dirty="0" smtClean="0"/>
              <a:t> de </a:t>
            </a:r>
            <a:r>
              <a:rPr lang="en-US" sz="2600" dirty="0" err="1" smtClean="0"/>
              <a:t>diferenta</a:t>
            </a:r>
            <a:r>
              <a:rPr lang="en-US" sz="2600" dirty="0" smtClean="0"/>
              <a:t> </a:t>
            </a:r>
            <a:r>
              <a:rPr lang="en-US" sz="2600" dirty="0" err="1" smtClean="0"/>
              <a:t>dintre</a:t>
            </a:r>
            <a:r>
              <a:rPr lang="en-US" sz="2600" dirty="0" smtClean="0"/>
              <a:t> </a:t>
            </a:r>
            <a:r>
              <a:rPr lang="en-US" sz="2600" dirty="0" err="1" smtClean="0"/>
              <a:t>doi</a:t>
            </a:r>
            <a:r>
              <a:rPr lang="en-US" sz="2600" dirty="0" smtClean="0"/>
              <a:t> </a:t>
            </a:r>
            <a:r>
              <a:rPr lang="en-US" sz="2600" dirty="0" err="1" smtClean="0"/>
              <a:t>termeni</a:t>
            </a:r>
            <a:r>
              <a:rPr lang="en-US" sz="2600" dirty="0" smtClean="0"/>
              <a:t> </a:t>
            </a:r>
            <a:r>
              <a:rPr lang="en-US" sz="2600" dirty="0" err="1" smtClean="0"/>
              <a:t>succesivi</a:t>
            </a:r>
            <a:r>
              <a:rPr lang="en-US" sz="2600" dirty="0" smtClean="0"/>
              <a:t>, </a:t>
            </a:r>
            <a:r>
              <a:rPr lang="en-US" sz="2600" dirty="0" err="1" smtClean="0"/>
              <a:t>decalati</a:t>
            </a:r>
            <a:r>
              <a:rPr lang="en-US" sz="2600" dirty="0" smtClean="0"/>
              <a:t> cu 2 </a:t>
            </a:r>
            <a:r>
              <a:rPr lang="en-US" sz="2600" dirty="0" err="1" smtClean="0"/>
              <a:t>perioade</a:t>
            </a:r>
            <a:r>
              <a:rPr lang="en-US" sz="2600" dirty="0" smtClean="0"/>
              <a:t> de </a:t>
            </a:r>
            <a:r>
              <a:rPr lang="en-US" sz="2600" dirty="0" err="1" smtClean="0"/>
              <a:t>timp</a:t>
            </a:r>
            <a:r>
              <a:rPr lang="en-US" sz="2600" dirty="0" smtClean="0"/>
              <a:t>:</a:t>
            </a:r>
          </a:p>
          <a:p>
            <a:pPr marL="0" indent="0" algn="ctr">
              <a:buNone/>
            </a:pPr>
            <a:r>
              <a:rPr lang="en-US" sz="2600" b="1" dirty="0" smtClean="0">
                <a:solidFill>
                  <a:srgbClr val="C00000"/>
                </a:solidFill>
              </a:rPr>
              <a:t> Δ</a:t>
            </a:r>
            <a:r>
              <a:rPr lang="en-US" sz="26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2600" b="1" dirty="0" smtClean="0">
                <a:solidFill>
                  <a:srgbClr val="C00000"/>
                </a:solidFill>
              </a:rPr>
              <a:t>y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t</a:t>
            </a:r>
            <a:r>
              <a:rPr lang="en-US" sz="2600" b="1" dirty="0" smtClean="0">
                <a:solidFill>
                  <a:srgbClr val="C00000"/>
                </a:solidFill>
              </a:rPr>
              <a:t>=Δy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t</a:t>
            </a:r>
            <a:r>
              <a:rPr lang="en-US" sz="2600" b="1" dirty="0" smtClean="0">
                <a:solidFill>
                  <a:srgbClr val="C00000"/>
                </a:solidFill>
              </a:rPr>
              <a:t>-Δy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t-1</a:t>
            </a:r>
            <a:r>
              <a:rPr lang="en-US" sz="2600" b="1" dirty="0" smtClean="0">
                <a:solidFill>
                  <a:srgbClr val="C00000"/>
                </a:solidFill>
              </a:rPr>
              <a:t>=(y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t</a:t>
            </a:r>
            <a:r>
              <a:rPr lang="en-US" sz="2600" b="1" dirty="0" smtClean="0">
                <a:solidFill>
                  <a:srgbClr val="C00000"/>
                </a:solidFill>
              </a:rPr>
              <a:t>-y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t-1 </a:t>
            </a:r>
            <a:r>
              <a:rPr lang="en-US" sz="2600" b="1" dirty="0" smtClean="0">
                <a:solidFill>
                  <a:srgbClr val="C00000"/>
                </a:solidFill>
              </a:rPr>
              <a:t>)-(y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t-2</a:t>
            </a:r>
            <a:r>
              <a:rPr lang="en-US" sz="2600" b="1" dirty="0" smtClean="0">
                <a:solidFill>
                  <a:srgbClr val="C00000"/>
                </a:solidFill>
              </a:rPr>
              <a:t>-y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t-1</a:t>
            </a:r>
            <a:r>
              <a:rPr lang="en-US" sz="2600" b="1" dirty="0" smtClean="0">
                <a:solidFill>
                  <a:srgbClr val="C00000"/>
                </a:solidFill>
              </a:rPr>
              <a:t>) =y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t</a:t>
            </a:r>
            <a:r>
              <a:rPr lang="en-US" sz="2600" b="1" dirty="0" smtClean="0">
                <a:solidFill>
                  <a:srgbClr val="C00000"/>
                </a:solidFill>
              </a:rPr>
              <a:t>-y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t-2</a:t>
            </a:r>
            <a:r>
              <a:rPr lang="en-US" sz="2600" b="1" dirty="0" smtClean="0">
                <a:solidFill>
                  <a:srgbClr val="C00000"/>
                </a:solidFill>
              </a:rPr>
              <a:t>=(1-L</a:t>
            </a:r>
            <a:r>
              <a:rPr lang="en-US" sz="26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2600" b="1" dirty="0" smtClean="0">
                <a:solidFill>
                  <a:srgbClr val="C00000"/>
                </a:solidFill>
              </a:rPr>
              <a:t>)</a:t>
            </a:r>
            <a:r>
              <a:rPr lang="en-US" sz="2600" b="1" dirty="0" err="1" smtClean="0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 smtClean="0">
                <a:solidFill>
                  <a:srgbClr val="C00000"/>
                </a:solidFill>
              </a:rPr>
              <a:t>t</a:t>
            </a:r>
            <a:endParaRPr lang="en-US" sz="2600" dirty="0" smtClean="0">
              <a:solidFill>
                <a:srgbClr val="C00000"/>
              </a:solidFill>
            </a:endParaRPr>
          </a:p>
          <a:p>
            <a:endParaRPr lang="en-US" sz="2600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5910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/>
              <a:t>2.Trenduri </a:t>
            </a:r>
            <a:r>
              <a:rPr lang="en-US" b="1" dirty="0" err="1" smtClean="0"/>
              <a:t>deterministe</a:t>
            </a:r>
            <a:r>
              <a:rPr lang="en-US" b="1" dirty="0" smtClean="0"/>
              <a:t> (trend </a:t>
            </a:r>
            <a:r>
              <a:rPr lang="en-US" b="1" dirty="0"/>
              <a:t>stationary)</a:t>
            </a:r>
          </a:p>
        </p:txBody>
      </p:sp>
      <p:sp>
        <p:nvSpPr>
          <p:cNvPr id="7172" name="Content Placeholder 2"/>
          <p:cNvSpPr>
            <a:spLocks noGrp="1"/>
          </p:cNvSpPr>
          <p:nvPr>
            <p:ph idx="1"/>
          </p:nvPr>
        </p:nvSpPr>
        <p:spPr>
          <a:xfrm>
            <a:off x="625643" y="1479205"/>
            <a:ext cx="11428826" cy="51111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 err="1"/>
              <a:t>Spunem</a:t>
            </a:r>
            <a:r>
              <a:rPr lang="en-US" sz="2600" dirty="0"/>
              <a:t> </a:t>
            </a:r>
            <a:r>
              <a:rPr lang="en-US" sz="2600" dirty="0" err="1"/>
              <a:t>despre</a:t>
            </a:r>
            <a:r>
              <a:rPr lang="en-US" sz="2600" dirty="0"/>
              <a:t> o ST (</a:t>
            </a:r>
            <a:r>
              <a:rPr lang="en-US" sz="2600" dirty="0" err="1"/>
              <a:t>Y</a:t>
            </a:r>
            <a:r>
              <a:rPr lang="en-US" sz="2600" baseline="-25000" dirty="0" err="1"/>
              <a:t>t</a:t>
            </a:r>
            <a:r>
              <a:rPr lang="en-US" sz="2600" dirty="0"/>
              <a:t>) ca </a:t>
            </a:r>
            <a:r>
              <a:rPr lang="en-US" sz="2600" dirty="0" err="1"/>
              <a:t>prezinta</a:t>
            </a:r>
            <a:r>
              <a:rPr lang="en-US" sz="2600" dirty="0"/>
              <a:t> trend determinist </a:t>
            </a:r>
            <a:r>
              <a:rPr lang="en-US" sz="2600" dirty="0" err="1"/>
              <a:t>daca</a:t>
            </a:r>
            <a:r>
              <a:rPr lang="en-US" sz="2600" dirty="0"/>
              <a:t> </a:t>
            </a:r>
            <a:r>
              <a:rPr lang="en-US" sz="2600" dirty="0" err="1"/>
              <a:t>seria</a:t>
            </a:r>
            <a:r>
              <a:rPr lang="en-US" sz="2600" dirty="0"/>
              <a:t> poate fi </a:t>
            </a:r>
            <a:r>
              <a:rPr lang="en-US" sz="2600" dirty="0" err="1"/>
              <a:t>exprimata</a:t>
            </a:r>
            <a:r>
              <a:rPr lang="en-US" sz="2600" dirty="0"/>
              <a:t> </a:t>
            </a:r>
            <a:r>
              <a:rPr lang="en-US" sz="2600" dirty="0" err="1"/>
              <a:t>printr</a:t>
            </a:r>
            <a:r>
              <a:rPr lang="en-US" sz="2600" dirty="0"/>
              <a:t>-o </a:t>
            </a:r>
            <a:r>
              <a:rPr lang="en-US" sz="2600" dirty="0" err="1"/>
              <a:t>functie</a:t>
            </a:r>
            <a:r>
              <a:rPr lang="en-US" sz="2600" dirty="0"/>
              <a:t> </a:t>
            </a:r>
            <a:r>
              <a:rPr lang="en-US" sz="2600" dirty="0" err="1"/>
              <a:t>determinista</a:t>
            </a:r>
            <a:r>
              <a:rPr lang="en-US" sz="2600" dirty="0"/>
              <a:t> in </a:t>
            </a:r>
            <a:r>
              <a:rPr lang="en-US" sz="2600" dirty="0" err="1"/>
              <a:t>functie</a:t>
            </a:r>
            <a:r>
              <a:rPr lang="en-US" sz="2600" dirty="0"/>
              <a:t> de </a:t>
            </a:r>
            <a:r>
              <a:rPr lang="en-US" sz="2600" dirty="0" err="1"/>
              <a:t>timp</a:t>
            </a:r>
            <a:r>
              <a:rPr lang="en-US" sz="2600" dirty="0"/>
              <a:t> (f(t)):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600" dirty="0" err="1">
                <a:solidFill>
                  <a:srgbClr val="C00000"/>
                </a:solidFill>
              </a:rPr>
              <a:t>Y</a:t>
            </a:r>
            <a:r>
              <a:rPr lang="en-US" sz="2600" baseline="-25000" dirty="0" err="1">
                <a:solidFill>
                  <a:srgbClr val="C00000"/>
                </a:solidFill>
              </a:rPr>
              <a:t>t</a:t>
            </a:r>
            <a:r>
              <a:rPr lang="en-US" sz="2600" baseline="-25000" dirty="0">
                <a:solidFill>
                  <a:srgbClr val="C00000"/>
                </a:solidFill>
              </a:rPr>
              <a:t> </a:t>
            </a:r>
            <a:r>
              <a:rPr lang="en-US" sz="2600" b="1" dirty="0">
                <a:solidFill>
                  <a:srgbClr val="C00000"/>
                </a:solidFill>
              </a:rPr>
              <a:t>=f(t)+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  </a:t>
            </a:r>
            <a:r>
              <a:rPr lang="en-US" sz="2600" b="1" dirty="0"/>
              <a:t>, </a:t>
            </a:r>
            <a:r>
              <a:rPr lang="en-US" sz="2600" dirty="0"/>
              <a:t>cu </a:t>
            </a:r>
            <a:r>
              <a:rPr lang="en-US" sz="2600" b="1" dirty="0"/>
              <a:t>                   </a:t>
            </a:r>
            <a:r>
              <a:rPr lang="en-US" sz="2600" dirty="0" err="1" smtClean="0"/>
              <a:t>numita</a:t>
            </a:r>
            <a:r>
              <a:rPr lang="en-US" sz="2600" dirty="0" smtClean="0"/>
              <a:t> </a:t>
            </a:r>
            <a:r>
              <a:rPr lang="en-US" sz="2600" dirty="0" err="1"/>
              <a:t>si</a:t>
            </a:r>
            <a:r>
              <a:rPr lang="en-US" sz="2600" dirty="0"/>
              <a:t> </a:t>
            </a:r>
            <a:r>
              <a:rPr lang="en-US" sz="2600" dirty="0" err="1"/>
              <a:t>proces</a:t>
            </a:r>
            <a:r>
              <a:rPr lang="en-US" sz="2600" dirty="0"/>
              <a:t> de tip </a:t>
            </a:r>
            <a:r>
              <a:rPr lang="en-US" sz="2600" dirty="0" err="1"/>
              <a:t>zgomot</a:t>
            </a:r>
            <a:r>
              <a:rPr lang="en-US" sz="2600" dirty="0"/>
              <a:t> </a:t>
            </a:r>
            <a:r>
              <a:rPr lang="en-US" sz="2600" dirty="0" err="1"/>
              <a:t>alb</a:t>
            </a:r>
            <a:r>
              <a:rPr lang="en-US" sz="2600" dirty="0"/>
              <a:t> </a:t>
            </a:r>
            <a:r>
              <a:rPr lang="en-US" sz="2600" dirty="0" err="1"/>
              <a:t>Gausian</a:t>
            </a:r>
            <a:r>
              <a:rPr lang="en-US" sz="2600" dirty="0"/>
              <a:t> (</a:t>
            </a:r>
            <a:r>
              <a:rPr lang="en-US" sz="2600" b="1" dirty="0"/>
              <a:t>N</a:t>
            </a:r>
            <a:r>
              <a:rPr lang="en-US" sz="2600" dirty="0"/>
              <a:t>ormal </a:t>
            </a:r>
            <a:r>
              <a:rPr lang="en-US" sz="2600" b="1" dirty="0"/>
              <a:t>I</a:t>
            </a:r>
            <a:r>
              <a:rPr lang="en-US" sz="2600" dirty="0"/>
              <a:t>ndependent </a:t>
            </a:r>
            <a:r>
              <a:rPr lang="en-US" sz="2600" b="1" dirty="0" err="1"/>
              <a:t>D</a:t>
            </a:r>
            <a:r>
              <a:rPr lang="en-US" sz="2600" dirty="0" err="1"/>
              <a:t>istribuita</a:t>
            </a:r>
            <a:r>
              <a:rPr lang="en-US" sz="2600" dirty="0"/>
              <a:t> de </a:t>
            </a:r>
            <a:r>
              <a:rPr lang="en-US" sz="2600" dirty="0" err="1"/>
              <a:t>medie</a:t>
            </a:r>
            <a:r>
              <a:rPr lang="en-US" sz="2600" dirty="0"/>
              <a:t> 0) (Gaussian White Noise).</a:t>
            </a:r>
          </a:p>
          <a:p>
            <a:pPr marL="0" indent="0">
              <a:buNone/>
            </a:pPr>
            <a:r>
              <a:rPr lang="en-US" sz="2600" dirty="0" err="1"/>
              <a:t>Exemplul</a:t>
            </a:r>
            <a:r>
              <a:rPr lang="en-US" sz="2600" dirty="0"/>
              <a:t> </a:t>
            </a:r>
            <a:r>
              <a:rPr lang="en-US" sz="2600" dirty="0" err="1"/>
              <a:t>cel</a:t>
            </a:r>
            <a:r>
              <a:rPr lang="en-US" sz="2600" dirty="0"/>
              <a:t> </a:t>
            </a:r>
            <a:r>
              <a:rPr lang="en-US" sz="2600" dirty="0" err="1"/>
              <a:t>mai</a:t>
            </a:r>
            <a:r>
              <a:rPr lang="en-US" sz="2600" dirty="0"/>
              <a:t> </a:t>
            </a:r>
            <a:r>
              <a:rPr lang="en-US" sz="2600" dirty="0" err="1"/>
              <a:t>simplu</a:t>
            </a:r>
            <a:r>
              <a:rPr lang="en-US" sz="2600" dirty="0"/>
              <a:t> de </a:t>
            </a:r>
            <a:r>
              <a:rPr lang="en-US" sz="2600" dirty="0" err="1"/>
              <a:t>functie</a:t>
            </a:r>
            <a:r>
              <a:rPr lang="en-US" sz="2600" dirty="0"/>
              <a:t> </a:t>
            </a:r>
            <a:r>
              <a:rPr lang="en-US" sz="2600" dirty="0" err="1"/>
              <a:t>determinista</a:t>
            </a:r>
            <a:r>
              <a:rPr lang="en-US" sz="2600" dirty="0"/>
              <a:t> </a:t>
            </a:r>
            <a:r>
              <a:rPr lang="en-US" sz="2600" dirty="0" err="1"/>
              <a:t>este</a:t>
            </a:r>
            <a:r>
              <a:rPr lang="en-US" sz="2600" dirty="0"/>
              <a:t>: </a:t>
            </a:r>
          </a:p>
          <a:p>
            <a:pPr marL="0" indent="0" algn="ctr">
              <a:buNone/>
            </a:pPr>
            <a:r>
              <a:rPr lang="en-US" sz="2600" b="1" dirty="0" err="1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=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>
                <a:solidFill>
                  <a:srgbClr val="C00000"/>
                </a:solidFill>
              </a:rPr>
              <a:t>0</a:t>
            </a:r>
            <a:r>
              <a:rPr lang="en-US" sz="2600" b="1" dirty="0">
                <a:solidFill>
                  <a:srgbClr val="C00000"/>
                </a:solidFill>
              </a:rPr>
              <a:t> +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>
                <a:solidFill>
                  <a:srgbClr val="C00000"/>
                </a:solidFill>
              </a:rPr>
              <a:t>1</a:t>
            </a:r>
            <a:r>
              <a:rPr lang="en-US" sz="2600" b="1" dirty="0">
                <a:solidFill>
                  <a:srgbClr val="C00000"/>
                </a:solidFill>
              </a:rPr>
              <a:t>t+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 , 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  <a:r>
              <a:rPr lang="en-US" sz="2600" b="1" dirty="0" smtClean="0">
                <a:solidFill>
                  <a:srgbClr val="C00000"/>
                </a:solidFill>
              </a:rPr>
              <a:t>~IIDN(0,</a:t>
            </a:r>
            <a:r>
              <a:rPr lang="el-GR" sz="2600" b="1" dirty="0">
                <a:solidFill>
                  <a:srgbClr val="C00000"/>
                </a:solidFill>
                <a:latin typeface="Georgia" pitchFamily="18" charset="0"/>
              </a:rPr>
              <a:t>σ</a:t>
            </a:r>
            <a:r>
              <a:rPr lang="en-US" sz="2600" b="1" baseline="30000" dirty="0">
                <a:solidFill>
                  <a:srgbClr val="C00000"/>
                </a:solidFill>
              </a:rPr>
              <a:t>2</a:t>
            </a:r>
            <a:r>
              <a:rPr lang="el-GR" sz="2600" b="1" baseline="-25000" dirty="0">
                <a:solidFill>
                  <a:srgbClr val="C00000"/>
                </a:solidFill>
                <a:latin typeface="Georgia" pitchFamily="18" charset="0"/>
              </a:rPr>
              <a:t>ε</a:t>
            </a:r>
            <a:r>
              <a:rPr lang="en-US" sz="2600" b="1" dirty="0" smtClean="0">
                <a:solidFill>
                  <a:srgbClr val="C00000"/>
                </a:solidFill>
              </a:rPr>
              <a:t>) -&gt;</a:t>
            </a:r>
            <a:r>
              <a:rPr lang="en-US" sz="2600" dirty="0" err="1" smtClean="0">
                <a:solidFill>
                  <a:srgbClr val="C00000"/>
                </a:solidFill>
              </a:rPr>
              <a:t>Independenta</a:t>
            </a:r>
            <a:r>
              <a:rPr lang="en-US" sz="2600" dirty="0" smtClean="0">
                <a:solidFill>
                  <a:srgbClr val="C00000"/>
                </a:solidFill>
              </a:rPr>
              <a:t> </a:t>
            </a:r>
            <a:r>
              <a:rPr lang="en-US" sz="2600" dirty="0" err="1" smtClean="0">
                <a:solidFill>
                  <a:srgbClr val="C00000"/>
                </a:solidFill>
              </a:rPr>
              <a:t>Identica</a:t>
            </a:r>
            <a:r>
              <a:rPr lang="en-US" sz="2600" dirty="0" smtClean="0">
                <a:solidFill>
                  <a:srgbClr val="C00000"/>
                </a:solidFill>
              </a:rPr>
              <a:t> Normal </a:t>
            </a:r>
            <a:r>
              <a:rPr lang="en-US" sz="2600" dirty="0" err="1" smtClean="0">
                <a:solidFill>
                  <a:srgbClr val="C00000"/>
                </a:solidFill>
              </a:rPr>
              <a:t>Distribuita</a:t>
            </a:r>
            <a:r>
              <a:rPr lang="en-US" sz="2600" dirty="0" smtClean="0">
                <a:solidFill>
                  <a:srgbClr val="C00000"/>
                </a:solidFill>
              </a:rPr>
              <a:t> de </a:t>
            </a:r>
            <a:r>
              <a:rPr lang="en-US" sz="2600" dirty="0" err="1" smtClean="0">
                <a:solidFill>
                  <a:srgbClr val="C00000"/>
                </a:solidFill>
              </a:rPr>
              <a:t>medie</a:t>
            </a:r>
            <a:r>
              <a:rPr lang="en-US" sz="2600" dirty="0" smtClean="0">
                <a:solidFill>
                  <a:srgbClr val="C00000"/>
                </a:solidFill>
              </a:rPr>
              <a:t> 0</a:t>
            </a:r>
            <a:endParaRPr lang="en-US" sz="26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600" dirty="0"/>
              <a:t>Este evident ca </a:t>
            </a:r>
            <a:r>
              <a:rPr lang="en-US" sz="2600" b="1" dirty="0" err="1"/>
              <a:t>Y</a:t>
            </a:r>
            <a:r>
              <a:rPr lang="en-US" sz="2600" b="1" baseline="-25000" dirty="0" err="1"/>
              <a:t>t</a:t>
            </a:r>
            <a:r>
              <a:rPr lang="en-US" sz="2600" dirty="0"/>
              <a:t> </a:t>
            </a:r>
            <a:r>
              <a:rPr lang="en-US" sz="2600" dirty="0" err="1"/>
              <a:t>este</a:t>
            </a:r>
            <a:r>
              <a:rPr lang="en-US" sz="2600" dirty="0"/>
              <a:t> un </a:t>
            </a:r>
            <a:r>
              <a:rPr lang="en-US" sz="2600" dirty="0" err="1"/>
              <a:t>proces</a:t>
            </a:r>
            <a:r>
              <a:rPr lang="en-US" sz="2600" dirty="0"/>
              <a:t> </a:t>
            </a:r>
            <a:r>
              <a:rPr lang="en-US" sz="2600" dirty="0" err="1"/>
              <a:t>nestationar</a:t>
            </a:r>
            <a:r>
              <a:rPr lang="en-US" sz="2600" dirty="0"/>
              <a:t> in </a:t>
            </a:r>
            <a:r>
              <a:rPr lang="en-US" sz="2600" dirty="0" err="1"/>
              <a:t>medie</a:t>
            </a:r>
            <a:r>
              <a:rPr lang="en-US" sz="2600" dirty="0"/>
              <a:t> </a:t>
            </a:r>
            <a:r>
              <a:rPr lang="en-US" sz="2600" dirty="0" err="1"/>
              <a:t>deoarece</a:t>
            </a:r>
            <a:r>
              <a:rPr lang="en-US" sz="2600" b="1" dirty="0"/>
              <a:t> </a:t>
            </a:r>
            <a:endParaRPr lang="en-US" sz="2600" b="1" dirty="0" smtClean="0"/>
          </a:p>
          <a:p>
            <a:pPr marL="0" indent="0" algn="ctr">
              <a:buNone/>
            </a:pPr>
            <a:r>
              <a:rPr lang="en-US" sz="2600" b="1" dirty="0" smtClean="0">
                <a:solidFill>
                  <a:srgbClr val="C00000"/>
                </a:solidFill>
              </a:rPr>
              <a:t>M(</a:t>
            </a:r>
            <a:r>
              <a:rPr lang="en-US" sz="2600" b="1" dirty="0" err="1" smtClean="0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 smtClean="0">
                <a:solidFill>
                  <a:srgbClr val="C00000"/>
                </a:solidFill>
              </a:rPr>
              <a:t>t</a:t>
            </a:r>
            <a:r>
              <a:rPr lang="en-US" sz="2600" b="1" dirty="0" err="1" smtClean="0">
                <a:solidFill>
                  <a:srgbClr val="C00000"/>
                </a:solidFill>
              </a:rPr>
              <a:t>|t</a:t>
            </a:r>
            <a:r>
              <a:rPr lang="en-US" sz="2600" b="1" dirty="0">
                <a:solidFill>
                  <a:srgbClr val="C00000"/>
                </a:solidFill>
              </a:rPr>
              <a:t>)= 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>
                <a:solidFill>
                  <a:srgbClr val="C00000"/>
                </a:solidFill>
              </a:rPr>
              <a:t>0</a:t>
            </a:r>
            <a:r>
              <a:rPr lang="en-US" sz="2600" b="1" dirty="0">
                <a:solidFill>
                  <a:srgbClr val="C00000"/>
                </a:solidFill>
              </a:rPr>
              <a:t> +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>
                <a:solidFill>
                  <a:srgbClr val="C00000"/>
                </a:solidFill>
              </a:rPr>
              <a:t>1</a:t>
            </a:r>
            <a:r>
              <a:rPr lang="en-US" sz="2600" b="1" dirty="0">
                <a:solidFill>
                  <a:srgbClr val="C00000"/>
                </a:solidFill>
              </a:rPr>
              <a:t>t-&gt;f(t) </a:t>
            </a:r>
            <a:r>
              <a:rPr lang="en-US" sz="2600" dirty="0"/>
              <a:t>media </a:t>
            </a:r>
            <a:r>
              <a:rPr lang="en-US" sz="2600" dirty="0" err="1"/>
              <a:t>sa</a:t>
            </a:r>
            <a:r>
              <a:rPr lang="en-US" sz="2600" dirty="0"/>
              <a:t> </a:t>
            </a:r>
            <a:r>
              <a:rPr lang="en-US" sz="2600" dirty="0" err="1"/>
              <a:t>fiind</a:t>
            </a:r>
            <a:r>
              <a:rPr lang="en-US" sz="2600" dirty="0"/>
              <a:t> </a:t>
            </a:r>
            <a:r>
              <a:rPr lang="en-US" sz="2600" dirty="0" err="1"/>
              <a:t>conditionata</a:t>
            </a:r>
            <a:r>
              <a:rPr lang="en-US" sz="2600" dirty="0"/>
              <a:t> de </a:t>
            </a:r>
            <a:r>
              <a:rPr lang="en-US" sz="2600" dirty="0" err="1"/>
              <a:t>valoarea</a:t>
            </a:r>
            <a:r>
              <a:rPr lang="en-US" sz="2600" dirty="0"/>
              <a:t> </a:t>
            </a:r>
            <a:r>
              <a:rPr lang="en-US" sz="2600" dirty="0" err="1"/>
              <a:t>lui</a:t>
            </a:r>
            <a:r>
              <a:rPr lang="en-US" sz="2600" dirty="0"/>
              <a:t> t.</a:t>
            </a:r>
          </a:p>
          <a:p>
            <a:pPr marL="0" indent="0">
              <a:buNone/>
            </a:pPr>
            <a:endParaRPr lang="en-US" sz="2600" dirty="0"/>
          </a:p>
        </p:txBody>
      </p:sp>
      <p:graphicFrame>
        <p:nvGraphicFramePr>
          <p:cNvPr id="71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148365"/>
              </p:ext>
            </p:extLst>
          </p:nvPr>
        </p:nvGraphicFramePr>
        <p:xfrm>
          <a:off x="2798747" y="2461311"/>
          <a:ext cx="1419922" cy="56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Equation" r:id="rId3" imgW="787058" imgH="317362" progId="">
                  <p:embed/>
                </p:oleObj>
              </mc:Choice>
              <mc:Fallback>
                <p:oleObj name="Equation" r:id="rId3" imgW="787058" imgH="317362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8747" y="2461311"/>
                        <a:ext cx="1419922" cy="5616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5515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>
          <a:xfrm>
            <a:off x="1126270" y="1143000"/>
            <a:ext cx="10928195" cy="54102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600" dirty="0">
                <a:solidFill>
                  <a:schemeClr val="tx1"/>
                </a:solidFill>
              </a:rPr>
              <a:t>O ST cu </a:t>
            </a:r>
            <a:r>
              <a:rPr lang="en-US" sz="2600" i="1" dirty="0">
                <a:solidFill>
                  <a:schemeClr val="tx1"/>
                </a:solidFill>
              </a:rPr>
              <a:t>trend determinist </a:t>
            </a:r>
            <a:r>
              <a:rPr lang="en-US" sz="2600" dirty="0">
                <a:solidFill>
                  <a:schemeClr val="tx1"/>
                </a:solidFill>
              </a:rPr>
              <a:t>poate fi </a:t>
            </a:r>
            <a:r>
              <a:rPr lang="en-US" sz="2600" dirty="0" err="1">
                <a:solidFill>
                  <a:schemeClr val="tx1"/>
                </a:solidFill>
              </a:rPr>
              <a:t>usor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b="1" dirty="0" err="1">
                <a:solidFill>
                  <a:schemeClr val="tx1"/>
                </a:solidFill>
              </a:rPr>
              <a:t>stationarizata</a:t>
            </a:r>
            <a:r>
              <a:rPr lang="en-US" sz="2600" b="1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prin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scaderea</a:t>
            </a:r>
            <a:r>
              <a:rPr lang="en-US" sz="2600" dirty="0">
                <a:solidFill>
                  <a:schemeClr val="tx1"/>
                </a:solidFill>
              </a:rPr>
              <a:t> din </a:t>
            </a:r>
            <a:r>
              <a:rPr lang="en-US" sz="2600" i="1" dirty="0" err="1">
                <a:solidFill>
                  <a:schemeClr val="tx1"/>
                </a:solidFill>
              </a:rPr>
              <a:t>valorile</a:t>
            </a:r>
            <a:r>
              <a:rPr lang="en-US" sz="2600" i="1" dirty="0">
                <a:solidFill>
                  <a:schemeClr val="tx1"/>
                </a:solidFill>
              </a:rPr>
              <a:t> </a:t>
            </a:r>
            <a:r>
              <a:rPr lang="en-US" sz="2600" i="1" dirty="0" err="1">
                <a:solidFill>
                  <a:schemeClr val="tx1"/>
                </a:solidFill>
              </a:rPr>
              <a:t>variabilei</a:t>
            </a:r>
            <a:r>
              <a:rPr lang="en-US" sz="2600" i="1" dirty="0">
                <a:solidFill>
                  <a:schemeClr val="tx1"/>
                </a:solidFill>
              </a:rPr>
              <a:t> </a:t>
            </a:r>
            <a:r>
              <a:rPr lang="en-US" sz="2600" i="1" dirty="0" err="1">
                <a:solidFill>
                  <a:schemeClr val="tx1"/>
                </a:solidFill>
              </a:rPr>
              <a:t>dependente</a:t>
            </a:r>
            <a:r>
              <a:rPr lang="en-US" sz="2600" i="1" dirty="0">
                <a:solidFill>
                  <a:schemeClr val="tx1"/>
                </a:solidFill>
              </a:rPr>
              <a:t> (</a:t>
            </a:r>
            <a:r>
              <a:rPr lang="en-US" sz="2600" i="1" dirty="0" err="1">
                <a:solidFill>
                  <a:schemeClr val="tx1"/>
                </a:solidFill>
              </a:rPr>
              <a:t>y</a:t>
            </a:r>
            <a:r>
              <a:rPr lang="en-US" sz="2600" i="1" baseline="-25000" dirty="0" err="1">
                <a:solidFill>
                  <a:schemeClr val="tx1"/>
                </a:solidFill>
              </a:rPr>
              <a:t>t</a:t>
            </a:r>
            <a:r>
              <a:rPr lang="en-US" sz="2600" i="1" dirty="0">
                <a:solidFill>
                  <a:schemeClr val="tx1"/>
                </a:solidFill>
              </a:rPr>
              <a:t>)</a:t>
            </a:r>
            <a:r>
              <a:rPr lang="en-US" sz="2600" dirty="0">
                <a:solidFill>
                  <a:schemeClr val="tx1"/>
                </a:solidFill>
              </a:rPr>
              <a:t> a </a:t>
            </a:r>
            <a:r>
              <a:rPr lang="en-US" sz="2600" dirty="0" err="1">
                <a:solidFill>
                  <a:schemeClr val="tx1"/>
                </a:solidFill>
              </a:rPr>
              <a:t>componentei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deterministe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corespunzatoare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momentului</a:t>
            </a:r>
            <a:r>
              <a:rPr lang="en-US" sz="2600" dirty="0">
                <a:solidFill>
                  <a:schemeClr val="tx1"/>
                </a:solidFill>
              </a:rPr>
              <a:t> t (f(t)):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2600" b="1" dirty="0" err="1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-f(t)=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, 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 err="1" smtClean="0">
                <a:solidFill>
                  <a:srgbClr val="C00000"/>
                </a:solidFill>
              </a:rPr>
              <a:t>t</a:t>
            </a:r>
            <a:r>
              <a:rPr lang="en-US" sz="2600" b="1" dirty="0" err="1" smtClean="0">
                <a:solidFill>
                  <a:srgbClr val="C00000"/>
                </a:solidFill>
              </a:rPr>
              <a:t>~I</a:t>
            </a:r>
            <a:r>
              <a:rPr lang="ro-RO" sz="2600" b="1" dirty="0" smtClean="0">
                <a:solidFill>
                  <a:srgbClr val="C00000"/>
                </a:solidFill>
              </a:rPr>
              <a:t>IN</a:t>
            </a:r>
            <a:r>
              <a:rPr lang="en-US" sz="2600" b="1" dirty="0" smtClean="0">
                <a:solidFill>
                  <a:srgbClr val="C00000"/>
                </a:solidFill>
              </a:rPr>
              <a:t>D(0,</a:t>
            </a:r>
            <a:r>
              <a:rPr lang="el-GR" sz="2600" b="1" dirty="0">
                <a:solidFill>
                  <a:srgbClr val="C00000"/>
                </a:solidFill>
                <a:latin typeface="Georgia" pitchFamily="18" charset="0"/>
              </a:rPr>
              <a:t>σ</a:t>
            </a:r>
            <a:r>
              <a:rPr lang="el-GR" sz="2600" b="1" baseline="-25000" dirty="0">
                <a:solidFill>
                  <a:srgbClr val="C00000"/>
                </a:solidFill>
                <a:latin typeface="Georgia" pitchFamily="18" charset="0"/>
              </a:rPr>
              <a:t>ε</a:t>
            </a:r>
            <a:r>
              <a:rPr lang="en-US" sz="2600" b="1" baseline="30000" dirty="0">
                <a:solidFill>
                  <a:srgbClr val="C00000"/>
                </a:solidFill>
              </a:rPr>
              <a:t>2</a:t>
            </a:r>
            <a:r>
              <a:rPr lang="en-US" sz="2600" b="1" dirty="0">
                <a:solidFill>
                  <a:srgbClr val="C00000"/>
                </a:solidFill>
              </a:rPr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600" dirty="0"/>
              <a:t>O </a:t>
            </a:r>
            <a:r>
              <a:rPr lang="en-US" sz="2600" dirty="0" err="1"/>
              <a:t>alta</a:t>
            </a:r>
            <a:r>
              <a:rPr lang="en-US" sz="2600" dirty="0"/>
              <a:t> </a:t>
            </a:r>
            <a:r>
              <a:rPr lang="en-US" sz="2600" dirty="0" err="1"/>
              <a:t>metoda</a:t>
            </a:r>
            <a:r>
              <a:rPr lang="en-US" sz="2600" dirty="0"/>
              <a:t> de </a:t>
            </a:r>
            <a:r>
              <a:rPr lang="en-US" sz="2600" dirty="0" err="1"/>
              <a:t>inlaturare</a:t>
            </a:r>
            <a:r>
              <a:rPr lang="en-US" sz="2600" dirty="0"/>
              <a:t> a </a:t>
            </a:r>
            <a:r>
              <a:rPr lang="en-US" sz="2600" dirty="0" err="1"/>
              <a:t>influentei</a:t>
            </a:r>
            <a:r>
              <a:rPr lang="en-US" sz="2600" dirty="0"/>
              <a:t> </a:t>
            </a:r>
            <a:r>
              <a:rPr lang="en-US" sz="2600" dirty="0" err="1"/>
              <a:t>trendului</a:t>
            </a:r>
            <a:r>
              <a:rPr lang="en-US" sz="2600" dirty="0"/>
              <a:t> determinist </a:t>
            </a:r>
            <a:r>
              <a:rPr lang="en-US" sz="2600" dirty="0" err="1"/>
              <a:t>liniar</a:t>
            </a:r>
            <a:r>
              <a:rPr lang="en-US" sz="2600" dirty="0"/>
              <a:t> </a:t>
            </a:r>
            <a:r>
              <a:rPr lang="en-US" sz="2600" dirty="0" err="1"/>
              <a:t>este</a:t>
            </a:r>
            <a:r>
              <a:rPr lang="en-US" sz="2600" dirty="0"/>
              <a:t> </a:t>
            </a:r>
            <a:r>
              <a:rPr lang="en-US" sz="2600" b="1" dirty="0" err="1">
                <a:solidFill>
                  <a:srgbClr val="C00000"/>
                </a:solidFill>
              </a:rPr>
              <a:t>diferenta</a:t>
            </a:r>
            <a:r>
              <a:rPr lang="en-US" sz="2600" b="1" dirty="0">
                <a:solidFill>
                  <a:srgbClr val="C00000"/>
                </a:solidFill>
              </a:rPr>
              <a:t> de </a:t>
            </a:r>
            <a:r>
              <a:rPr lang="en-US" sz="2600" b="1" dirty="0" err="1">
                <a:solidFill>
                  <a:srgbClr val="C00000"/>
                </a:solidFill>
              </a:rPr>
              <a:t>ordinul</a:t>
            </a:r>
            <a:r>
              <a:rPr lang="en-US" sz="2600" b="1" dirty="0">
                <a:solidFill>
                  <a:srgbClr val="C00000"/>
                </a:solidFill>
              </a:rPr>
              <a:t> I</a:t>
            </a:r>
            <a:r>
              <a:rPr lang="en-US" sz="2600" dirty="0"/>
              <a:t>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l-GR" sz="2600" b="1" dirty="0">
                <a:solidFill>
                  <a:srgbClr val="C00000"/>
                </a:solidFill>
              </a:rPr>
              <a:t>Δ</a:t>
            </a:r>
            <a:r>
              <a:rPr lang="en-US" sz="2600" b="1" dirty="0">
                <a:solidFill>
                  <a:srgbClr val="C00000"/>
                </a:solidFill>
              </a:rPr>
              <a:t>Y </a:t>
            </a:r>
            <a:r>
              <a:rPr lang="en-US" sz="2600" b="1" baseline="-25000" dirty="0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=Y</a:t>
            </a:r>
            <a:r>
              <a:rPr lang="en-US" sz="2600" b="1" baseline="-25000" dirty="0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-Y</a:t>
            </a:r>
            <a:r>
              <a:rPr lang="en-US" sz="2600" b="1" baseline="-25000" dirty="0">
                <a:solidFill>
                  <a:srgbClr val="C00000"/>
                </a:solidFill>
              </a:rPr>
              <a:t>t-1 </a:t>
            </a:r>
            <a:r>
              <a:rPr lang="en-US" sz="2600" b="1" dirty="0">
                <a:solidFill>
                  <a:srgbClr val="C00000"/>
                </a:solidFill>
              </a:rPr>
              <a:t>=[(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>
                <a:solidFill>
                  <a:srgbClr val="C00000"/>
                </a:solidFill>
              </a:rPr>
              <a:t>0</a:t>
            </a:r>
            <a:r>
              <a:rPr lang="en-US" sz="2600" b="1" dirty="0">
                <a:solidFill>
                  <a:srgbClr val="C00000"/>
                </a:solidFill>
              </a:rPr>
              <a:t> +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>
                <a:solidFill>
                  <a:srgbClr val="C00000"/>
                </a:solidFill>
              </a:rPr>
              <a:t>1</a:t>
            </a:r>
            <a:r>
              <a:rPr lang="en-US" sz="2600" b="1" dirty="0">
                <a:solidFill>
                  <a:srgbClr val="C00000"/>
                </a:solidFill>
              </a:rPr>
              <a:t>t)- (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>
                <a:solidFill>
                  <a:srgbClr val="C00000"/>
                </a:solidFill>
              </a:rPr>
              <a:t>0</a:t>
            </a:r>
            <a:r>
              <a:rPr lang="en-US" sz="2600" b="1" dirty="0">
                <a:solidFill>
                  <a:srgbClr val="C00000"/>
                </a:solidFill>
              </a:rPr>
              <a:t> +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>
                <a:solidFill>
                  <a:srgbClr val="C00000"/>
                </a:solidFill>
              </a:rPr>
              <a:t>1</a:t>
            </a:r>
            <a:r>
              <a:rPr lang="en-US" sz="2600" b="1" dirty="0">
                <a:solidFill>
                  <a:srgbClr val="C00000"/>
                </a:solidFill>
              </a:rPr>
              <a:t>(t-1))]+(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>
                <a:solidFill>
                  <a:srgbClr val="C00000"/>
                </a:solidFill>
              </a:rPr>
              <a:t>t </a:t>
            </a:r>
            <a:r>
              <a:rPr lang="en-US" sz="2600" b="1" dirty="0">
                <a:solidFill>
                  <a:srgbClr val="C00000"/>
                </a:solidFill>
              </a:rPr>
              <a:t>–</a:t>
            </a:r>
            <a:r>
              <a:rPr lang="el-GR" sz="2600" b="1" dirty="0">
                <a:solidFill>
                  <a:srgbClr val="C00000"/>
                </a:solidFill>
              </a:rPr>
              <a:t> ε</a:t>
            </a:r>
            <a:r>
              <a:rPr lang="en-US" sz="2600" b="1" baseline="-25000" dirty="0">
                <a:solidFill>
                  <a:srgbClr val="C00000"/>
                </a:solidFill>
              </a:rPr>
              <a:t>t-1</a:t>
            </a:r>
            <a:r>
              <a:rPr lang="en-US" sz="2600" b="1" dirty="0">
                <a:solidFill>
                  <a:srgbClr val="C00000"/>
                </a:solidFill>
              </a:rPr>
              <a:t>)=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>
                <a:solidFill>
                  <a:srgbClr val="C00000"/>
                </a:solidFill>
              </a:rPr>
              <a:t>1</a:t>
            </a:r>
            <a:r>
              <a:rPr lang="en-US" sz="2600" b="1" dirty="0">
                <a:solidFill>
                  <a:srgbClr val="C00000"/>
                </a:solidFill>
              </a:rPr>
              <a:t>+(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>
                <a:solidFill>
                  <a:srgbClr val="C00000"/>
                </a:solidFill>
              </a:rPr>
              <a:t>t </a:t>
            </a:r>
            <a:r>
              <a:rPr lang="en-US" sz="2600" b="1" dirty="0">
                <a:solidFill>
                  <a:srgbClr val="C00000"/>
                </a:solidFill>
              </a:rPr>
              <a:t>–</a:t>
            </a:r>
            <a:r>
              <a:rPr lang="el-GR" sz="2600" b="1" dirty="0">
                <a:solidFill>
                  <a:srgbClr val="C00000"/>
                </a:solidFill>
              </a:rPr>
              <a:t> ε</a:t>
            </a:r>
            <a:r>
              <a:rPr lang="en-US" sz="2600" b="1" baseline="-25000" dirty="0">
                <a:solidFill>
                  <a:srgbClr val="C00000"/>
                </a:solidFill>
              </a:rPr>
              <a:t>t-1</a:t>
            </a:r>
            <a:r>
              <a:rPr lang="en-US" sz="2600" b="1" dirty="0">
                <a:solidFill>
                  <a:srgbClr val="C00000"/>
                </a:solidFill>
              </a:rPr>
              <a:t>) </a:t>
            </a:r>
            <a:r>
              <a:rPr lang="en-US" sz="2600" dirty="0"/>
              <a:t>care </a:t>
            </a:r>
            <a:r>
              <a:rPr lang="en-US" sz="2600" dirty="0" err="1"/>
              <a:t>este</a:t>
            </a:r>
            <a:r>
              <a:rPr lang="en-US" sz="2600" dirty="0"/>
              <a:t> </a:t>
            </a:r>
            <a:r>
              <a:rPr lang="en-US" sz="2600" dirty="0" err="1"/>
              <a:t>stationara</a:t>
            </a:r>
            <a:r>
              <a:rPr lang="en-US" sz="2600" dirty="0"/>
              <a:t> in </a:t>
            </a:r>
            <a:r>
              <a:rPr lang="en-US" sz="2600" dirty="0" err="1"/>
              <a:t>medie</a:t>
            </a:r>
            <a:r>
              <a:rPr lang="en-US" sz="2600" dirty="0"/>
              <a:t> </a:t>
            </a:r>
            <a:r>
              <a:rPr lang="en-US" sz="2600" dirty="0" err="1"/>
              <a:t>si</a:t>
            </a:r>
            <a:r>
              <a:rPr lang="en-US" sz="2600" dirty="0"/>
              <a:t> </a:t>
            </a:r>
            <a:r>
              <a:rPr lang="en-US" sz="2600" dirty="0" err="1"/>
              <a:t>varianta</a:t>
            </a:r>
            <a:r>
              <a:rPr lang="en-US" sz="2600" dirty="0"/>
              <a:t>: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C00000"/>
                </a:solidFill>
              </a:rPr>
              <a:t>M(</a:t>
            </a:r>
            <a:r>
              <a:rPr lang="el-GR" sz="2600" b="1" dirty="0">
                <a:solidFill>
                  <a:srgbClr val="C00000"/>
                </a:solidFill>
              </a:rPr>
              <a:t>Δ</a:t>
            </a:r>
            <a:r>
              <a:rPr lang="en-US" sz="2600" b="1" dirty="0">
                <a:solidFill>
                  <a:srgbClr val="C00000"/>
                </a:solidFill>
              </a:rPr>
              <a:t>Y </a:t>
            </a:r>
            <a:r>
              <a:rPr lang="en-US" sz="2600" b="1" baseline="-25000" dirty="0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)=</a:t>
            </a:r>
            <a:r>
              <a:rPr lang="el-GR" sz="2600" b="1" dirty="0">
                <a:solidFill>
                  <a:srgbClr val="C00000"/>
                </a:solidFill>
              </a:rPr>
              <a:t> β</a:t>
            </a:r>
            <a:r>
              <a:rPr lang="en-US" sz="2600" b="1" baseline="-25000" dirty="0">
                <a:solidFill>
                  <a:srgbClr val="C00000"/>
                </a:solidFill>
              </a:rPr>
              <a:t>1</a:t>
            </a:r>
            <a:r>
              <a:rPr lang="en-US" sz="2600" b="1" dirty="0">
                <a:solidFill>
                  <a:srgbClr val="C00000"/>
                </a:solidFill>
              </a:rPr>
              <a:t>- ct.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600" dirty="0"/>
              <a:t>O </a:t>
            </a:r>
            <a:r>
              <a:rPr lang="en-US" sz="2600" dirty="0" err="1"/>
              <a:t>astfel</a:t>
            </a:r>
            <a:r>
              <a:rPr lang="en-US" sz="2600" dirty="0"/>
              <a:t> de </a:t>
            </a:r>
            <a:r>
              <a:rPr lang="en-US" sz="2600" dirty="0" err="1"/>
              <a:t>serie</a:t>
            </a:r>
            <a:r>
              <a:rPr lang="en-US" sz="2600" dirty="0"/>
              <a:t> care </a:t>
            </a:r>
            <a:r>
              <a:rPr lang="en-US" sz="2600" dirty="0" err="1"/>
              <a:t>contine</a:t>
            </a:r>
            <a:r>
              <a:rPr lang="en-US" sz="2600" dirty="0"/>
              <a:t> </a:t>
            </a:r>
            <a:r>
              <a:rPr lang="en-US" sz="2600" dirty="0" err="1"/>
              <a:t>numai</a:t>
            </a:r>
            <a:r>
              <a:rPr lang="en-US" sz="2600" dirty="0"/>
              <a:t> trend determinist </a:t>
            </a:r>
            <a:r>
              <a:rPr lang="en-US" sz="2600" dirty="0" err="1"/>
              <a:t>poarta</a:t>
            </a:r>
            <a:r>
              <a:rPr lang="en-US" sz="2600" dirty="0"/>
              <a:t> </a:t>
            </a:r>
            <a:r>
              <a:rPr lang="en-US" sz="2600" dirty="0" err="1"/>
              <a:t>denumirea</a:t>
            </a:r>
            <a:r>
              <a:rPr lang="en-US" sz="2600" dirty="0"/>
              <a:t> de </a:t>
            </a:r>
            <a:r>
              <a:rPr lang="en-US" sz="2600" dirty="0" err="1"/>
              <a:t>proces</a:t>
            </a:r>
            <a:r>
              <a:rPr lang="en-US" sz="2600" dirty="0"/>
              <a:t> </a:t>
            </a:r>
            <a:r>
              <a:rPr lang="en-US" sz="2600" dirty="0" err="1"/>
              <a:t>stationar</a:t>
            </a:r>
            <a:r>
              <a:rPr lang="en-US" sz="2600" dirty="0"/>
              <a:t> in trend (</a:t>
            </a:r>
            <a:r>
              <a:rPr lang="en-US" sz="2600" dirty="0" err="1"/>
              <a:t>eng.</a:t>
            </a:r>
            <a:r>
              <a:rPr lang="en-US" sz="2600" dirty="0"/>
              <a:t> </a:t>
            </a:r>
            <a:r>
              <a:rPr lang="en-US" sz="2600" b="1" dirty="0"/>
              <a:t>T</a:t>
            </a:r>
            <a:r>
              <a:rPr lang="en-US" sz="2600" dirty="0"/>
              <a:t>rend </a:t>
            </a:r>
            <a:r>
              <a:rPr lang="en-US" sz="2600" b="1" dirty="0"/>
              <a:t>S</a:t>
            </a:r>
            <a:r>
              <a:rPr lang="en-US" sz="2600" dirty="0"/>
              <a:t>tationary </a:t>
            </a:r>
            <a:r>
              <a:rPr lang="en-US" sz="2600" b="1" dirty="0"/>
              <a:t>P</a:t>
            </a:r>
            <a:r>
              <a:rPr lang="en-US" sz="2600" dirty="0"/>
              <a:t>rocess - </a:t>
            </a:r>
            <a:r>
              <a:rPr lang="en-US" sz="2600" b="1" dirty="0"/>
              <a:t>TSP</a:t>
            </a:r>
            <a:r>
              <a:rPr lang="en-US" sz="2600" dirty="0"/>
              <a:t>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C00000"/>
                </a:solidFill>
              </a:rPr>
              <a:t>OBS</a:t>
            </a:r>
            <a:r>
              <a:rPr lang="en-US" sz="2600" dirty="0"/>
              <a:t>: </a:t>
            </a:r>
            <a:r>
              <a:rPr lang="en-US" sz="2600" dirty="0" err="1"/>
              <a:t>Pentru</a:t>
            </a:r>
            <a:r>
              <a:rPr lang="en-US" sz="2600" dirty="0"/>
              <a:t> o ST cu trend </a:t>
            </a:r>
            <a:r>
              <a:rPr lang="en-US" sz="2600" dirty="0" err="1"/>
              <a:t>polinomial</a:t>
            </a:r>
            <a:r>
              <a:rPr lang="en-US" sz="2600" dirty="0"/>
              <a:t> de </a:t>
            </a:r>
            <a:r>
              <a:rPr lang="en-US" sz="2600" dirty="0" err="1"/>
              <a:t>ordin</a:t>
            </a:r>
            <a:r>
              <a:rPr lang="en-US" sz="2600" dirty="0"/>
              <a:t> </a:t>
            </a:r>
            <a:r>
              <a:rPr lang="en-US" sz="2600" b="1" dirty="0"/>
              <a:t>m</a:t>
            </a:r>
            <a:r>
              <a:rPr lang="en-US" sz="2600" dirty="0"/>
              <a:t> </a:t>
            </a:r>
            <a:r>
              <a:rPr lang="en-US" sz="2600" dirty="0" err="1"/>
              <a:t>efectuarea</a:t>
            </a:r>
            <a:r>
              <a:rPr lang="en-US" sz="2600" dirty="0"/>
              <a:t> </a:t>
            </a:r>
            <a:r>
              <a:rPr lang="en-US" sz="2600" dirty="0" err="1"/>
              <a:t>unei</a:t>
            </a:r>
            <a:r>
              <a:rPr lang="en-US" sz="2600" dirty="0"/>
              <a:t> </a:t>
            </a:r>
            <a:r>
              <a:rPr lang="en-US" sz="2600" b="1" dirty="0" err="1"/>
              <a:t>diferente</a:t>
            </a:r>
            <a:r>
              <a:rPr lang="en-US" sz="2600" b="1" dirty="0"/>
              <a:t> de </a:t>
            </a:r>
            <a:r>
              <a:rPr lang="en-US" sz="2600" b="1" dirty="0" err="1"/>
              <a:t>ordin</a:t>
            </a:r>
            <a:r>
              <a:rPr lang="en-US" sz="2600" b="1" dirty="0"/>
              <a:t> m</a:t>
            </a:r>
            <a:r>
              <a:rPr lang="en-US" sz="2600" dirty="0"/>
              <a:t> conduce la </a:t>
            </a:r>
            <a:r>
              <a:rPr lang="en-US" sz="2600" dirty="0" err="1"/>
              <a:t>stationarizarea</a:t>
            </a:r>
            <a:r>
              <a:rPr lang="en-US" sz="2600" dirty="0"/>
              <a:t> </a:t>
            </a:r>
            <a:r>
              <a:rPr lang="en-US" sz="2600" dirty="0" err="1"/>
              <a:t>seriei</a:t>
            </a:r>
            <a:r>
              <a:rPr lang="en-US" sz="2600" dirty="0"/>
              <a:t> in </a:t>
            </a:r>
            <a:r>
              <a:rPr lang="en-US" sz="2600" dirty="0" err="1" smtClean="0"/>
              <a:t>medie</a:t>
            </a:r>
            <a:r>
              <a:rPr lang="en-US" sz="2600" dirty="0" smtClean="0"/>
              <a:t>.</a:t>
            </a:r>
            <a:endParaRPr lang="en-US" sz="2600" i="1" dirty="0"/>
          </a:p>
        </p:txBody>
      </p:sp>
    </p:spTree>
    <p:extLst>
      <p:ext uri="{BB962C8B-B14F-4D97-AF65-F5344CB8AC3E}">
        <p14:creationId xmlns:p14="http://schemas.microsoft.com/office/powerpoint/2010/main" val="3985246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1169" y="431179"/>
            <a:ext cx="10742341" cy="1066800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US" sz="2800" b="1" dirty="0" err="1"/>
              <a:t>Procese</a:t>
            </a:r>
            <a:r>
              <a:rPr lang="en-US" sz="2800" b="1" dirty="0"/>
              <a:t> Cu trend </a:t>
            </a:r>
            <a:r>
              <a:rPr lang="en-US" sz="2800" b="1" dirty="0" err="1"/>
              <a:t>Stohastic</a:t>
            </a:r>
            <a:r>
              <a:rPr lang="en-US" sz="2800" b="1" dirty="0"/>
              <a:t> (difference stationary): Process de tip </a:t>
            </a:r>
            <a:r>
              <a:rPr lang="en-US" sz="2800" b="1" dirty="0" err="1"/>
              <a:t>Mers</a:t>
            </a:r>
            <a:r>
              <a:rPr lang="en-US" sz="2800" b="1" dirty="0"/>
              <a:t> </a:t>
            </a:r>
            <a:r>
              <a:rPr lang="en-US" sz="2800" b="1" dirty="0" err="1"/>
              <a:t>Aleator</a:t>
            </a:r>
            <a:r>
              <a:rPr lang="en-US" sz="2800" b="1" dirty="0"/>
              <a:t> (Random Walk Process-&gt;RW)</a:t>
            </a:r>
          </a:p>
        </p:txBody>
      </p:sp>
      <p:sp>
        <p:nvSpPr>
          <p:cNvPr id="8196" name="Content Placeholder 2"/>
          <p:cNvSpPr>
            <a:spLocks noGrp="1"/>
          </p:cNvSpPr>
          <p:nvPr>
            <p:ph idx="1"/>
          </p:nvPr>
        </p:nvSpPr>
        <p:spPr>
          <a:xfrm>
            <a:off x="1059366" y="1219201"/>
            <a:ext cx="10850136" cy="548268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600" dirty="0"/>
              <a:t>Un </a:t>
            </a:r>
            <a:r>
              <a:rPr lang="en-US" sz="2600" dirty="0" err="1"/>
              <a:t>proces</a:t>
            </a:r>
            <a:r>
              <a:rPr lang="en-US" sz="2600" dirty="0"/>
              <a:t> de tip </a:t>
            </a:r>
            <a:r>
              <a:rPr lang="en-US" sz="2600" b="1" dirty="0">
                <a:solidFill>
                  <a:srgbClr val="C00000"/>
                </a:solidFill>
              </a:rPr>
              <a:t>RW</a:t>
            </a:r>
            <a:r>
              <a:rPr lang="en-US" sz="2600" dirty="0"/>
              <a:t> </a:t>
            </a:r>
            <a:r>
              <a:rPr lang="en-US" sz="2600" dirty="0" err="1"/>
              <a:t>este</a:t>
            </a:r>
            <a:r>
              <a:rPr lang="en-US" sz="2600" dirty="0"/>
              <a:t> o </a:t>
            </a:r>
            <a:r>
              <a:rPr lang="en-US" sz="2600" dirty="0" err="1"/>
              <a:t>serie</a:t>
            </a:r>
            <a:r>
              <a:rPr lang="en-US" sz="2600" dirty="0"/>
              <a:t> de </a:t>
            </a:r>
            <a:r>
              <a:rPr lang="en-US" sz="2600" dirty="0" err="1"/>
              <a:t>timp</a:t>
            </a:r>
            <a:r>
              <a:rPr lang="en-US" sz="2600" dirty="0"/>
              <a:t> </a:t>
            </a:r>
            <a:r>
              <a:rPr lang="en-US" sz="2600" dirty="0" err="1"/>
              <a:t>caracterizata</a:t>
            </a:r>
            <a:r>
              <a:rPr lang="en-US" sz="2600" dirty="0"/>
              <a:t> de </a:t>
            </a:r>
            <a:r>
              <a:rPr lang="en-US" sz="2600" dirty="0" err="1"/>
              <a:t>faptul</a:t>
            </a:r>
            <a:r>
              <a:rPr lang="en-US" sz="2600" dirty="0"/>
              <a:t> ca </a:t>
            </a:r>
            <a:r>
              <a:rPr lang="en-US" sz="2600" dirty="0" err="1"/>
              <a:t>valorile</a:t>
            </a:r>
            <a:r>
              <a:rPr lang="en-US" sz="2600" dirty="0"/>
              <a:t> </a:t>
            </a:r>
            <a:r>
              <a:rPr lang="en-US" sz="2600" dirty="0" err="1"/>
              <a:t>variabilei</a:t>
            </a:r>
            <a:r>
              <a:rPr lang="en-US" sz="2600" dirty="0"/>
              <a:t> nu pot </a:t>
            </a:r>
            <a:r>
              <a:rPr lang="en-US" sz="2600" dirty="0" err="1"/>
              <a:t>fi</a:t>
            </a:r>
            <a:r>
              <a:rPr lang="en-US" sz="2600" dirty="0"/>
              <a:t> </a:t>
            </a:r>
            <a:r>
              <a:rPr lang="en-US" sz="2600" dirty="0" err="1"/>
              <a:t>inscrise</a:t>
            </a:r>
            <a:r>
              <a:rPr lang="en-US" sz="2600" dirty="0"/>
              <a:t> </a:t>
            </a:r>
            <a:r>
              <a:rPr lang="en-US" sz="2600" dirty="0" err="1"/>
              <a:t>intr</a:t>
            </a:r>
            <a:r>
              <a:rPr lang="en-US" sz="2600" dirty="0"/>
              <a:t>-un </a:t>
            </a:r>
            <a:r>
              <a:rPr lang="en-US" sz="2600" dirty="0" err="1"/>
              <a:t>tipar</a:t>
            </a:r>
            <a:r>
              <a:rPr lang="en-US" sz="2600" dirty="0"/>
              <a:t>, </a:t>
            </a:r>
            <a:r>
              <a:rPr lang="en-US" sz="2600" dirty="0" err="1"/>
              <a:t>acestea</a:t>
            </a:r>
            <a:r>
              <a:rPr lang="en-US" sz="2600" dirty="0"/>
              <a:t> </a:t>
            </a:r>
            <a:r>
              <a:rPr lang="en-US" sz="2600" dirty="0" err="1"/>
              <a:t>fiind</a:t>
            </a:r>
            <a:r>
              <a:rPr lang="en-US" sz="2600" dirty="0"/>
              <a:t> </a:t>
            </a:r>
            <a:r>
              <a:rPr lang="en-US" sz="2600" dirty="0" err="1"/>
              <a:t>aleatoare</a:t>
            </a:r>
            <a:r>
              <a:rPr lang="en-US" sz="2600" dirty="0"/>
              <a:t>.</a:t>
            </a:r>
          </a:p>
          <a:p>
            <a:pPr marL="0" indent="0" algn="just">
              <a:buNone/>
            </a:pPr>
            <a:r>
              <a:rPr lang="en-US" sz="2600" dirty="0"/>
              <a:t>Un model RW </a:t>
            </a:r>
            <a:r>
              <a:rPr lang="en-US" sz="2600" dirty="0" err="1"/>
              <a:t>este</a:t>
            </a:r>
            <a:r>
              <a:rPr lang="en-US" sz="2600" dirty="0"/>
              <a:t> </a:t>
            </a:r>
            <a:r>
              <a:rPr lang="en-US" sz="2600" dirty="0" err="1"/>
              <a:t>descris</a:t>
            </a:r>
            <a:r>
              <a:rPr lang="en-US" sz="2600" dirty="0"/>
              <a:t> de </a:t>
            </a:r>
            <a:r>
              <a:rPr lang="en-US" sz="2600" dirty="0" err="1"/>
              <a:t>relatia</a:t>
            </a:r>
            <a:r>
              <a:rPr lang="en-US" sz="2600" dirty="0"/>
              <a:t>:</a:t>
            </a:r>
          </a:p>
          <a:p>
            <a:pPr marL="0" indent="0" algn="ctr">
              <a:buNone/>
            </a:pPr>
            <a:r>
              <a:rPr lang="en-US" sz="2600" b="1" dirty="0" err="1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=Y</a:t>
            </a:r>
            <a:r>
              <a:rPr lang="en-US" sz="2600" b="1" baseline="-25000" dirty="0">
                <a:solidFill>
                  <a:srgbClr val="C00000"/>
                </a:solidFill>
              </a:rPr>
              <a:t>t-1</a:t>
            </a:r>
            <a:r>
              <a:rPr lang="en-US" sz="2600" b="1" dirty="0">
                <a:solidFill>
                  <a:srgbClr val="C00000"/>
                </a:solidFill>
              </a:rPr>
              <a:t>+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, 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 err="1" smtClean="0">
                <a:solidFill>
                  <a:srgbClr val="C00000"/>
                </a:solidFill>
              </a:rPr>
              <a:t>t</a:t>
            </a:r>
            <a:r>
              <a:rPr lang="en-US" sz="2600" b="1" dirty="0" err="1" smtClean="0">
                <a:solidFill>
                  <a:srgbClr val="C00000"/>
                </a:solidFill>
              </a:rPr>
              <a:t>~I</a:t>
            </a:r>
            <a:r>
              <a:rPr lang="ro-RO" sz="2600" b="1" dirty="0" smtClean="0">
                <a:solidFill>
                  <a:srgbClr val="C00000"/>
                </a:solidFill>
              </a:rPr>
              <a:t>IN</a:t>
            </a:r>
            <a:r>
              <a:rPr lang="en-US" sz="2600" b="1" dirty="0" smtClean="0">
                <a:solidFill>
                  <a:srgbClr val="C00000"/>
                </a:solidFill>
              </a:rPr>
              <a:t>D(0,</a:t>
            </a:r>
            <a:r>
              <a:rPr lang="el-GR" sz="2600" b="1" dirty="0">
                <a:solidFill>
                  <a:srgbClr val="C00000"/>
                </a:solidFill>
                <a:latin typeface="Georgia" pitchFamily="18" charset="0"/>
              </a:rPr>
              <a:t>σ</a:t>
            </a:r>
            <a:r>
              <a:rPr lang="el-GR" sz="2600" b="1" baseline="-25000" dirty="0">
                <a:solidFill>
                  <a:srgbClr val="C00000"/>
                </a:solidFill>
                <a:latin typeface="Georgia" pitchFamily="18" charset="0"/>
              </a:rPr>
              <a:t>ε</a:t>
            </a:r>
            <a:r>
              <a:rPr lang="en-US" sz="2600" b="1" baseline="30000" dirty="0">
                <a:solidFill>
                  <a:srgbClr val="C00000"/>
                </a:solidFill>
              </a:rPr>
              <a:t>2</a:t>
            </a:r>
            <a:r>
              <a:rPr lang="en-US" sz="2600" b="1" dirty="0">
                <a:solidFill>
                  <a:srgbClr val="C00000"/>
                </a:solidFill>
              </a:rPr>
              <a:t>), t = 1,∞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C00000"/>
                </a:solidFill>
              </a:rPr>
              <a:t>(1-L)</a:t>
            </a:r>
            <a:r>
              <a:rPr lang="en-US" sz="2600" b="1" dirty="0" err="1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=</a:t>
            </a:r>
            <a:r>
              <a:rPr lang="el-GR" sz="2600" b="1" dirty="0">
                <a:solidFill>
                  <a:srgbClr val="C00000"/>
                </a:solidFill>
              </a:rPr>
              <a:t> ε</a:t>
            </a:r>
            <a:r>
              <a:rPr lang="en-US" sz="2600" b="1" baseline="-25000" dirty="0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  <a:r>
              <a:rPr lang="en-US" sz="2600" b="1" dirty="0">
                <a:solidFill>
                  <a:srgbClr val="C00000"/>
                </a:solidFill>
                <a:sym typeface="Wingdings" pitchFamily="2" charset="2"/>
              </a:rPr>
              <a:t>		    </a:t>
            </a:r>
            <a:r>
              <a:rPr lang="en-US" sz="2600" b="1" dirty="0" smtClean="0">
                <a:solidFill>
                  <a:srgbClr val="C00000"/>
                </a:solidFill>
                <a:sym typeface="Wingdings" pitchFamily="2" charset="2"/>
              </a:rPr>
              <a:t>    </a:t>
            </a:r>
            <a:r>
              <a:rPr lang="en-US" sz="2600" b="1" dirty="0" smtClean="0">
                <a:solidFill>
                  <a:srgbClr val="C00000"/>
                </a:solidFill>
              </a:rPr>
              <a:t> </a:t>
            </a:r>
            <a:r>
              <a:rPr lang="en-US" sz="2600" b="1" dirty="0" err="1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= (1+L</a:t>
            </a:r>
            <a:r>
              <a:rPr lang="en-US" sz="2600" b="1" baseline="30000" dirty="0">
                <a:solidFill>
                  <a:srgbClr val="C00000"/>
                </a:solidFill>
              </a:rPr>
              <a:t>2</a:t>
            </a:r>
            <a:r>
              <a:rPr lang="en-US" sz="2600" b="1" dirty="0">
                <a:solidFill>
                  <a:srgbClr val="C00000"/>
                </a:solidFill>
              </a:rPr>
              <a:t>+L</a:t>
            </a:r>
            <a:r>
              <a:rPr lang="en-US" sz="2600" b="1" baseline="30000" dirty="0">
                <a:solidFill>
                  <a:srgbClr val="C00000"/>
                </a:solidFill>
              </a:rPr>
              <a:t>3</a:t>
            </a:r>
            <a:r>
              <a:rPr lang="en-US" sz="2600" b="1" dirty="0">
                <a:solidFill>
                  <a:srgbClr val="C00000"/>
                </a:solidFill>
              </a:rPr>
              <a:t>+…)</a:t>
            </a:r>
            <a:r>
              <a:rPr lang="el-GR" sz="2600" b="1" dirty="0">
                <a:solidFill>
                  <a:srgbClr val="C00000"/>
                </a:solidFill>
              </a:rPr>
              <a:t> ε</a:t>
            </a:r>
            <a:r>
              <a:rPr lang="en-US" sz="2600" b="1" baseline="-25000" dirty="0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  </a:t>
            </a:r>
            <a:r>
              <a:rPr lang="en-US" sz="2600" b="1" dirty="0">
                <a:solidFill>
                  <a:srgbClr val="C00000"/>
                </a:solidFill>
                <a:sym typeface="Wingdings" pitchFamily="2" charset="2"/>
              </a:rPr>
              <a:t>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C00000"/>
                </a:solidFill>
                <a:sym typeface="Wingdings" pitchFamily="2" charset="2"/>
              </a:rPr>
              <a:t>M(</a:t>
            </a:r>
            <a:r>
              <a:rPr lang="en-US" sz="2600" b="1" dirty="0" err="1">
                <a:solidFill>
                  <a:srgbClr val="C00000"/>
                </a:solidFill>
                <a:sym typeface="Wingdings" pitchFamily="2" charset="2"/>
              </a:rPr>
              <a:t>Y</a:t>
            </a:r>
            <a:r>
              <a:rPr lang="en-US" sz="2600" b="1" baseline="-25000" dirty="0" err="1">
                <a:solidFill>
                  <a:srgbClr val="C00000"/>
                </a:solidFill>
                <a:sym typeface="Wingdings" pitchFamily="2" charset="2"/>
              </a:rPr>
              <a:t>t</a:t>
            </a:r>
            <a:r>
              <a:rPr lang="en-US" sz="2600" b="1" dirty="0">
                <a:solidFill>
                  <a:srgbClr val="C00000"/>
                </a:solidFill>
                <a:sym typeface="Wingdings" pitchFamily="2" charset="2"/>
              </a:rPr>
              <a:t>) =M(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 )+</a:t>
            </a:r>
            <a:r>
              <a:rPr lang="en-US" sz="2600" b="1" dirty="0">
                <a:solidFill>
                  <a:srgbClr val="C00000"/>
                </a:solidFill>
                <a:sym typeface="Wingdings" pitchFamily="2" charset="2"/>
              </a:rPr>
              <a:t>M(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>
                <a:solidFill>
                  <a:srgbClr val="C00000"/>
                </a:solidFill>
              </a:rPr>
              <a:t>t-1</a:t>
            </a:r>
            <a:r>
              <a:rPr lang="en-US" sz="2600" b="1" dirty="0">
                <a:solidFill>
                  <a:srgbClr val="C00000"/>
                </a:solidFill>
              </a:rPr>
              <a:t> )+</a:t>
            </a:r>
            <a:r>
              <a:rPr lang="en-US" sz="2600" b="1" dirty="0">
                <a:solidFill>
                  <a:srgbClr val="C00000"/>
                </a:solidFill>
                <a:sym typeface="Wingdings" pitchFamily="2" charset="2"/>
              </a:rPr>
              <a:t>M(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>
                <a:solidFill>
                  <a:srgbClr val="C00000"/>
                </a:solidFill>
              </a:rPr>
              <a:t>t-2</a:t>
            </a:r>
            <a:r>
              <a:rPr lang="en-US" sz="2600" b="1" dirty="0">
                <a:solidFill>
                  <a:srgbClr val="C00000"/>
                </a:solidFill>
              </a:rPr>
              <a:t> )+…= 0+0+0+….= 0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C00000"/>
                </a:solidFill>
                <a:sym typeface="Wingdings" pitchFamily="2" charset="2"/>
              </a:rPr>
              <a:t>V(</a:t>
            </a:r>
            <a:r>
              <a:rPr lang="en-US" sz="2600" b="1" dirty="0" err="1">
                <a:solidFill>
                  <a:srgbClr val="C00000"/>
                </a:solidFill>
                <a:sym typeface="Wingdings" pitchFamily="2" charset="2"/>
              </a:rPr>
              <a:t>Y</a:t>
            </a:r>
            <a:r>
              <a:rPr lang="en-US" sz="2600" b="1" baseline="-25000" dirty="0" err="1">
                <a:solidFill>
                  <a:srgbClr val="C00000"/>
                </a:solidFill>
                <a:sym typeface="Wingdings" pitchFamily="2" charset="2"/>
              </a:rPr>
              <a:t>t</a:t>
            </a:r>
            <a:r>
              <a:rPr lang="en-US" sz="2600" b="1" dirty="0">
                <a:solidFill>
                  <a:srgbClr val="C00000"/>
                </a:solidFill>
                <a:sym typeface="Wingdings" pitchFamily="2" charset="2"/>
              </a:rPr>
              <a:t>) =V(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 )+</a:t>
            </a:r>
            <a:r>
              <a:rPr lang="en-US" sz="2600" b="1" dirty="0">
                <a:solidFill>
                  <a:srgbClr val="C00000"/>
                </a:solidFill>
                <a:sym typeface="Wingdings" pitchFamily="2" charset="2"/>
              </a:rPr>
              <a:t>V(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>
                <a:solidFill>
                  <a:srgbClr val="C00000"/>
                </a:solidFill>
              </a:rPr>
              <a:t>t-1</a:t>
            </a:r>
            <a:r>
              <a:rPr lang="en-US" sz="2600" b="1" dirty="0">
                <a:solidFill>
                  <a:srgbClr val="C00000"/>
                </a:solidFill>
              </a:rPr>
              <a:t> )+</a:t>
            </a:r>
            <a:r>
              <a:rPr lang="en-US" sz="2600" b="1" dirty="0">
                <a:solidFill>
                  <a:srgbClr val="C00000"/>
                </a:solidFill>
                <a:sym typeface="Wingdings" pitchFamily="2" charset="2"/>
              </a:rPr>
              <a:t>V(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>
                <a:solidFill>
                  <a:srgbClr val="C00000"/>
                </a:solidFill>
              </a:rPr>
              <a:t>t-2</a:t>
            </a:r>
            <a:r>
              <a:rPr lang="en-US" sz="2600" b="1" dirty="0">
                <a:solidFill>
                  <a:srgbClr val="C00000"/>
                </a:solidFill>
              </a:rPr>
              <a:t> )+…= </a:t>
            </a:r>
            <a:r>
              <a:rPr lang="el-GR" sz="2600" b="1" dirty="0">
                <a:solidFill>
                  <a:srgbClr val="C00000"/>
                </a:solidFill>
                <a:latin typeface="Georgia" pitchFamily="18" charset="0"/>
              </a:rPr>
              <a:t>σ</a:t>
            </a:r>
            <a:r>
              <a:rPr lang="en-US" sz="2600" b="1" baseline="30000" dirty="0">
                <a:solidFill>
                  <a:srgbClr val="C00000"/>
                </a:solidFill>
              </a:rPr>
              <a:t>2</a:t>
            </a:r>
            <a:r>
              <a:rPr lang="el-GR" sz="2600" b="1" baseline="-25000" dirty="0">
                <a:solidFill>
                  <a:srgbClr val="C00000"/>
                </a:solidFill>
                <a:latin typeface="Georgia" pitchFamily="18" charset="0"/>
              </a:rPr>
              <a:t>ε</a:t>
            </a:r>
            <a:r>
              <a:rPr lang="en-US" sz="2600" b="1" dirty="0">
                <a:solidFill>
                  <a:srgbClr val="C00000"/>
                </a:solidFill>
              </a:rPr>
              <a:t>+</a:t>
            </a:r>
            <a:r>
              <a:rPr lang="el-GR" sz="2600" b="1" dirty="0">
                <a:solidFill>
                  <a:srgbClr val="C00000"/>
                </a:solidFill>
                <a:latin typeface="Georgia" pitchFamily="18" charset="0"/>
              </a:rPr>
              <a:t> σ</a:t>
            </a:r>
            <a:r>
              <a:rPr lang="en-US" sz="2600" b="1" baseline="30000" dirty="0">
                <a:solidFill>
                  <a:srgbClr val="C00000"/>
                </a:solidFill>
              </a:rPr>
              <a:t>2</a:t>
            </a:r>
            <a:r>
              <a:rPr lang="el-GR" sz="2600" b="1" baseline="-25000" dirty="0">
                <a:solidFill>
                  <a:srgbClr val="C00000"/>
                </a:solidFill>
                <a:latin typeface="Georgia" pitchFamily="18" charset="0"/>
              </a:rPr>
              <a:t>ε</a:t>
            </a:r>
            <a:r>
              <a:rPr lang="en-US" sz="2600" b="1" dirty="0">
                <a:solidFill>
                  <a:srgbClr val="C00000"/>
                </a:solidFill>
              </a:rPr>
              <a:t>+</a:t>
            </a:r>
            <a:r>
              <a:rPr lang="el-GR" sz="2600" b="1" dirty="0">
                <a:solidFill>
                  <a:srgbClr val="C00000"/>
                </a:solidFill>
                <a:latin typeface="Georgia" pitchFamily="18" charset="0"/>
              </a:rPr>
              <a:t> σ</a:t>
            </a:r>
            <a:r>
              <a:rPr lang="en-US" sz="2600" b="1" baseline="30000" dirty="0">
                <a:solidFill>
                  <a:srgbClr val="C00000"/>
                </a:solidFill>
              </a:rPr>
              <a:t>2</a:t>
            </a:r>
            <a:r>
              <a:rPr lang="el-GR" sz="2600" b="1" baseline="-25000" dirty="0">
                <a:solidFill>
                  <a:srgbClr val="C00000"/>
                </a:solidFill>
                <a:latin typeface="Georgia" pitchFamily="18" charset="0"/>
              </a:rPr>
              <a:t>ε</a:t>
            </a:r>
            <a:r>
              <a:rPr lang="en-US" sz="2600" b="1" dirty="0">
                <a:solidFill>
                  <a:srgbClr val="C00000"/>
                </a:solidFill>
              </a:rPr>
              <a:t>+</a:t>
            </a:r>
            <a:r>
              <a:rPr lang="el-GR" sz="2600" b="1" dirty="0">
                <a:solidFill>
                  <a:srgbClr val="C00000"/>
                </a:solidFill>
                <a:latin typeface="Georgia" pitchFamily="18" charset="0"/>
              </a:rPr>
              <a:t> </a:t>
            </a:r>
            <a:r>
              <a:rPr lang="en-US" sz="2600" b="1" dirty="0">
                <a:solidFill>
                  <a:srgbClr val="C00000"/>
                </a:solidFill>
              </a:rPr>
              <a:t>…= ∞</a:t>
            </a:r>
          </a:p>
          <a:p>
            <a:pPr marL="0" indent="0">
              <a:buNone/>
            </a:pPr>
            <a:r>
              <a:rPr lang="en-US" sz="2600" dirty="0" err="1"/>
              <a:t>Dupa</a:t>
            </a:r>
            <a:r>
              <a:rPr lang="en-US" sz="2600" dirty="0"/>
              <a:t> cum se </a:t>
            </a:r>
            <a:r>
              <a:rPr lang="en-US" sz="2600" dirty="0" err="1"/>
              <a:t>poate</a:t>
            </a:r>
            <a:r>
              <a:rPr lang="en-US" sz="2600" dirty="0"/>
              <a:t> </a:t>
            </a:r>
            <a:r>
              <a:rPr lang="en-US" sz="2600" dirty="0" err="1"/>
              <a:t>vedea</a:t>
            </a:r>
            <a:r>
              <a:rPr lang="en-US" sz="2600" dirty="0"/>
              <a:t> </a:t>
            </a:r>
            <a:r>
              <a:rPr lang="en-US" sz="2600" dirty="0" err="1"/>
              <a:t>acesta</a:t>
            </a:r>
            <a:r>
              <a:rPr lang="en-US" sz="2600" dirty="0"/>
              <a:t> </a:t>
            </a:r>
            <a:r>
              <a:rPr lang="en-US" sz="2600" dirty="0" err="1"/>
              <a:t>este</a:t>
            </a:r>
            <a:r>
              <a:rPr lang="en-US" sz="2600" dirty="0"/>
              <a:t> un </a:t>
            </a:r>
            <a:r>
              <a:rPr lang="en-US" sz="2600" dirty="0" err="1"/>
              <a:t>proces</a:t>
            </a:r>
            <a:r>
              <a:rPr lang="en-US" sz="2600" dirty="0"/>
              <a:t> </a:t>
            </a:r>
            <a:r>
              <a:rPr lang="en-US" sz="2600" b="1" dirty="0" err="1">
                <a:solidFill>
                  <a:srgbClr val="C00000"/>
                </a:solidFill>
              </a:rPr>
              <a:t>stationar</a:t>
            </a:r>
            <a:r>
              <a:rPr lang="en-US" sz="2600" b="1" dirty="0">
                <a:solidFill>
                  <a:srgbClr val="C00000"/>
                </a:solidFill>
              </a:rPr>
              <a:t> in </a:t>
            </a:r>
            <a:r>
              <a:rPr lang="en-US" sz="2600" b="1" dirty="0" err="1">
                <a:solidFill>
                  <a:srgbClr val="C00000"/>
                </a:solidFill>
              </a:rPr>
              <a:t>medie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  <a:r>
              <a:rPr lang="en-US" sz="2600" b="1" dirty="0" err="1">
                <a:solidFill>
                  <a:srgbClr val="C00000"/>
                </a:solidFill>
              </a:rPr>
              <a:t>dar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  <a:r>
              <a:rPr lang="en-US" sz="2600" b="1" dirty="0" err="1">
                <a:solidFill>
                  <a:srgbClr val="C00000"/>
                </a:solidFill>
              </a:rPr>
              <a:t>nestationar</a:t>
            </a:r>
            <a:r>
              <a:rPr lang="en-US" sz="2600" b="1" dirty="0">
                <a:solidFill>
                  <a:srgbClr val="C00000"/>
                </a:solidFill>
              </a:rPr>
              <a:t> in </a:t>
            </a:r>
            <a:r>
              <a:rPr lang="en-US" sz="2600" b="1" dirty="0" err="1">
                <a:solidFill>
                  <a:srgbClr val="C00000"/>
                </a:solidFill>
              </a:rPr>
              <a:t>varianta</a:t>
            </a:r>
            <a:r>
              <a:rPr lang="en-US" sz="2600" dirty="0"/>
              <a:t>.</a:t>
            </a:r>
            <a:r>
              <a:rPr lang="en-US" sz="2600" b="1" dirty="0"/>
              <a:t> </a:t>
            </a:r>
            <a:endParaRPr lang="en-US" sz="2600" dirty="0"/>
          </a:p>
          <a:p>
            <a:pPr marL="0" indent="0" algn="ctr">
              <a:buNone/>
            </a:pPr>
            <a:endParaRPr lang="en-US" sz="2600" dirty="0"/>
          </a:p>
          <a:p>
            <a:pPr marL="0" indent="0" algn="just">
              <a:buNone/>
            </a:pPr>
            <a:endParaRPr lang="en-US" sz="2600" dirty="0"/>
          </a:p>
        </p:txBody>
      </p:sp>
      <p:graphicFrame>
        <p:nvGraphicFramePr>
          <p:cNvPr id="81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5967124"/>
              </p:ext>
            </p:extLst>
          </p:nvPr>
        </p:nvGraphicFramePr>
        <p:xfrm>
          <a:off x="4928839" y="3108055"/>
          <a:ext cx="1430338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Equation" r:id="rId3" imgW="660113" imgH="393529" progId="">
                  <p:embed/>
                </p:oleObj>
              </mc:Choice>
              <mc:Fallback>
                <p:oleObj name="Equation" r:id="rId3" imgW="660113" imgH="393529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8839" y="3108055"/>
                        <a:ext cx="1430338" cy="852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87984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75420"/>
            <a:ext cx="9606776" cy="1143000"/>
          </a:xfrm>
        </p:spPr>
        <p:txBody>
          <a:bodyPr/>
          <a:lstStyle/>
          <a:p>
            <a:pPr>
              <a:defRPr/>
            </a:pPr>
            <a:r>
              <a:rPr lang="en-US" sz="3000" b="1" dirty="0" err="1"/>
              <a:t>Procese</a:t>
            </a:r>
            <a:r>
              <a:rPr lang="en-US" sz="3000" b="1" dirty="0"/>
              <a:t> de tip </a:t>
            </a:r>
            <a:r>
              <a:rPr lang="en-US" sz="3000" b="1" dirty="0" err="1"/>
              <a:t>Mers</a:t>
            </a:r>
            <a:r>
              <a:rPr lang="en-US" sz="3000" b="1" dirty="0"/>
              <a:t> </a:t>
            </a:r>
            <a:r>
              <a:rPr lang="en-US" sz="3000" b="1" dirty="0" err="1"/>
              <a:t>Aleator</a:t>
            </a:r>
            <a:r>
              <a:rPr lang="en-US" sz="3000" b="1" dirty="0"/>
              <a:t> cu </a:t>
            </a:r>
            <a:r>
              <a:rPr lang="en-US" sz="3000" b="1" dirty="0" err="1"/>
              <a:t>Deviere</a:t>
            </a:r>
            <a:r>
              <a:rPr lang="en-US" sz="3000" b="1" dirty="0"/>
              <a:t> </a:t>
            </a:r>
            <a:br>
              <a:rPr lang="en-US" sz="3000" b="1" dirty="0"/>
            </a:br>
            <a:r>
              <a:rPr lang="en-US" sz="3000" b="1" dirty="0"/>
              <a:t>(Random Walk with Drift-&gt; RWD)</a:t>
            </a:r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 err="1"/>
              <a:t>Modelul</a:t>
            </a:r>
            <a:r>
              <a:rPr lang="en-US" sz="2800" dirty="0"/>
              <a:t> </a:t>
            </a:r>
            <a:r>
              <a:rPr lang="en-US" sz="2800" b="1" dirty="0"/>
              <a:t>RWD</a:t>
            </a:r>
            <a:r>
              <a:rPr lang="en-US" sz="2800" dirty="0"/>
              <a:t> </a:t>
            </a:r>
            <a:r>
              <a:rPr lang="en-US" sz="2800" dirty="0" err="1"/>
              <a:t>este</a:t>
            </a:r>
            <a:r>
              <a:rPr lang="en-US" sz="2800" dirty="0"/>
              <a:t> un model </a:t>
            </a:r>
            <a:r>
              <a:rPr lang="en-US" sz="2800" b="1" dirty="0"/>
              <a:t>RW</a:t>
            </a:r>
            <a:r>
              <a:rPr lang="en-US" sz="2800" dirty="0"/>
              <a:t> la care se </a:t>
            </a:r>
            <a:r>
              <a:rPr lang="en-US" sz="2800" dirty="0" err="1"/>
              <a:t>adauga</a:t>
            </a:r>
            <a:r>
              <a:rPr lang="en-US" sz="2800" dirty="0"/>
              <a:t> o </a:t>
            </a:r>
            <a:r>
              <a:rPr lang="en-US" sz="2800" dirty="0" err="1"/>
              <a:t>constanta</a:t>
            </a:r>
            <a:r>
              <a:rPr lang="en-US" sz="2800" b="1" dirty="0"/>
              <a:t>:</a:t>
            </a:r>
          </a:p>
          <a:p>
            <a:pPr marL="0" indent="0" algn="ctr">
              <a:buNone/>
            </a:pPr>
            <a:endParaRPr lang="en-US" sz="2800" b="1" dirty="0" smtClean="0"/>
          </a:p>
          <a:p>
            <a:pPr marL="0" indent="0" algn="ctr">
              <a:buNone/>
            </a:pPr>
            <a:r>
              <a:rPr lang="en-US" sz="2800" b="1" dirty="0" err="1" smtClean="0">
                <a:solidFill>
                  <a:srgbClr val="C00000"/>
                </a:solidFill>
              </a:rPr>
              <a:t>Y</a:t>
            </a:r>
            <a:r>
              <a:rPr lang="en-US" sz="2800" b="1" baseline="-25000" dirty="0" err="1" smtClean="0">
                <a:solidFill>
                  <a:srgbClr val="C00000"/>
                </a:solidFill>
              </a:rPr>
              <a:t>t</a:t>
            </a:r>
            <a:r>
              <a:rPr lang="en-US" sz="2800" b="1" dirty="0" smtClean="0">
                <a:solidFill>
                  <a:srgbClr val="C00000"/>
                </a:solidFill>
              </a:rPr>
              <a:t>=</a:t>
            </a:r>
            <a:r>
              <a:rPr lang="el-GR" sz="2800" b="1" dirty="0">
                <a:solidFill>
                  <a:srgbClr val="C00000"/>
                </a:solidFill>
              </a:rPr>
              <a:t>β</a:t>
            </a:r>
            <a:r>
              <a:rPr lang="en-US" sz="2800" b="1" baseline="-25000" dirty="0">
                <a:solidFill>
                  <a:srgbClr val="C00000"/>
                </a:solidFill>
              </a:rPr>
              <a:t>0</a:t>
            </a:r>
            <a:r>
              <a:rPr lang="en-US" sz="2800" b="1" dirty="0">
                <a:solidFill>
                  <a:srgbClr val="C00000"/>
                </a:solidFill>
              </a:rPr>
              <a:t> + Y</a:t>
            </a:r>
            <a:r>
              <a:rPr lang="en-US" sz="2800" b="1" baseline="-25000" dirty="0">
                <a:solidFill>
                  <a:srgbClr val="C00000"/>
                </a:solidFill>
              </a:rPr>
              <a:t>t-1</a:t>
            </a:r>
            <a:r>
              <a:rPr lang="en-US" sz="2800" b="1" dirty="0">
                <a:solidFill>
                  <a:srgbClr val="C00000"/>
                </a:solidFill>
              </a:rPr>
              <a:t>+</a:t>
            </a:r>
            <a:r>
              <a:rPr lang="el-GR" sz="2800" b="1" dirty="0">
                <a:solidFill>
                  <a:srgbClr val="C00000"/>
                </a:solidFill>
              </a:rPr>
              <a:t>ε</a:t>
            </a:r>
            <a:r>
              <a:rPr lang="en-US" sz="2800" b="1" baseline="-25000" dirty="0">
                <a:solidFill>
                  <a:srgbClr val="C00000"/>
                </a:solidFill>
              </a:rPr>
              <a:t>t</a:t>
            </a:r>
            <a:r>
              <a:rPr lang="en-US" sz="2800" b="1" dirty="0">
                <a:solidFill>
                  <a:srgbClr val="C00000"/>
                </a:solidFill>
              </a:rPr>
              <a:t>, </a:t>
            </a:r>
            <a:r>
              <a:rPr lang="el-GR" sz="2800" b="1" dirty="0">
                <a:solidFill>
                  <a:srgbClr val="C00000"/>
                </a:solidFill>
              </a:rPr>
              <a:t>ε</a:t>
            </a:r>
            <a:r>
              <a:rPr lang="en-US" sz="2800" b="1" baseline="-25000" dirty="0" err="1" smtClean="0">
                <a:solidFill>
                  <a:srgbClr val="C00000"/>
                </a:solidFill>
              </a:rPr>
              <a:t>t</a:t>
            </a:r>
            <a:r>
              <a:rPr lang="en-US" sz="2800" b="1" dirty="0" err="1" smtClean="0">
                <a:solidFill>
                  <a:srgbClr val="C00000"/>
                </a:solidFill>
              </a:rPr>
              <a:t>~I</a:t>
            </a:r>
            <a:r>
              <a:rPr lang="ro-RO" sz="2800" b="1" dirty="0" smtClean="0">
                <a:solidFill>
                  <a:srgbClr val="C00000"/>
                </a:solidFill>
              </a:rPr>
              <a:t>IN</a:t>
            </a:r>
            <a:r>
              <a:rPr lang="en-US" sz="2800" b="1" dirty="0" smtClean="0">
                <a:solidFill>
                  <a:srgbClr val="C00000"/>
                </a:solidFill>
              </a:rPr>
              <a:t>D(0,</a:t>
            </a:r>
            <a:r>
              <a:rPr lang="el-GR" sz="2800" b="1" dirty="0">
                <a:solidFill>
                  <a:srgbClr val="C00000"/>
                </a:solidFill>
                <a:latin typeface="Georgia" pitchFamily="18" charset="0"/>
              </a:rPr>
              <a:t>σ</a:t>
            </a:r>
            <a:r>
              <a:rPr lang="el-GR" sz="2800" b="1" baseline="-25000" dirty="0">
                <a:solidFill>
                  <a:srgbClr val="C00000"/>
                </a:solidFill>
                <a:latin typeface="Georgia" pitchFamily="18" charset="0"/>
              </a:rPr>
              <a:t>ε</a:t>
            </a:r>
            <a:r>
              <a:rPr lang="en-US" sz="2800" b="1" baseline="30000" dirty="0">
                <a:solidFill>
                  <a:srgbClr val="C00000"/>
                </a:solidFill>
              </a:rPr>
              <a:t>2</a:t>
            </a:r>
            <a:r>
              <a:rPr lang="en-US" sz="2800" b="1" dirty="0">
                <a:solidFill>
                  <a:srgbClr val="C00000"/>
                </a:solidFill>
              </a:rPr>
              <a:t>)</a:t>
            </a:r>
          </a:p>
          <a:p>
            <a:pPr marL="0" indent="0" algn="just">
              <a:buNone/>
            </a:pPr>
            <a:endParaRPr lang="en-US" sz="2800" dirty="0" smtClean="0"/>
          </a:p>
          <a:p>
            <a:pPr marL="0" indent="0" algn="just">
              <a:buNone/>
            </a:pPr>
            <a:r>
              <a:rPr lang="en-US" sz="2800" dirty="0" smtClean="0"/>
              <a:t>Constanta </a:t>
            </a:r>
            <a:r>
              <a:rPr lang="en-US" sz="2800" dirty="0"/>
              <a:t>impinge </a:t>
            </a:r>
            <a:r>
              <a:rPr lang="en-US" sz="2800" dirty="0" err="1"/>
              <a:t>valorile</a:t>
            </a:r>
            <a:r>
              <a:rPr lang="en-US" sz="2800" dirty="0"/>
              <a:t> </a:t>
            </a:r>
            <a:r>
              <a:rPr lang="en-US" sz="2800" dirty="0" err="1"/>
              <a:t>lui</a:t>
            </a:r>
            <a:r>
              <a:rPr lang="en-US" sz="2800" dirty="0"/>
              <a:t> </a:t>
            </a:r>
            <a:r>
              <a:rPr lang="en-US" sz="2800" dirty="0" err="1"/>
              <a:t>Y</a:t>
            </a:r>
            <a:r>
              <a:rPr lang="en-US" sz="2800" baseline="-25000" dirty="0" err="1"/>
              <a:t>t</a:t>
            </a:r>
            <a:r>
              <a:rPr lang="en-US" sz="2800" dirty="0"/>
              <a:t> </a:t>
            </a:r>
            <a:r>
              <a:rPr lang="en-US" sz="2800" dirty="0" err="1"/>
              <a:t>intr</a:t>
            </a:r>
            <a:r>
              <a:rPr lang="en-US" sz="2800" dirty="0"/>
              <a:t>-o </a:t>
            </a:r>
            <a:r>
              <a:rPr lang="en-US" sz="2800" dirty="0" err="1"/>
              <a:t>singura</a:t>
            </a:r>
            <a:r>
              <a:rPr lang="en-US" sz="2800" dirty="0"/>
              <a:t> </a:t>
            </a:r>
            <a:r>
              <a:rPr lang="en-US" sz="2800" dirty="0" err="1"/>
              <a:t>directie</a:t>
            </a:r>
            <a:r>
              <a:rPr lang="en-US" sz="2800" dirty="0"/>
              <a:t> </a:t>
            </a:r>
            <a:r>
              <a:rPr lang="en-US" sz="2800" dirty="0" err="1"/>
              <a:t>crescatoare</a:t>
            </a:r>
            <a:r>
              <a:rPr lang="en-US" sz="2800" dirty="0"/>
              <a:t> (+) </a:t>
            </a:r>
            <a:r>
              <a:rPr lang="en-US" sz="2800" dirty="0" err="1"/>
              <a:t>sau</a:t>
            </a:r>
            <a:r>
              <a:rPr lang="en-US" sz="2800" dirty="0"/>
              <a:t> </a:t>
            </a:r>
            <a:r>
              <a:rPr lang="en-US" sz="2800" dirty="0" err="1"/>
              <a:t>descrescatoare</a:t>
            </a:r>
            <a:r>
              <a:rPr lang="en-US" sz="2800" dirty="0"/>
              <a:t> (-). </a:t>
            </a:r>
            <a:endParaRPr lang="en-US" sz="2800" dirty="0" smtClean="0"/>
          </a:p>
          <a:p>
            <a:pPr marL="0" indent="0" algn="just">
              <a:buNone/>
            </a:pPr>
            <a:r>
              <a:rPr lang="en-US" sz="2800" dirty="0" err="1" smtClean="0"/>
              <a:t>Procesul</a:t>
            </a:r>
            <a:r>
              <a:rPr lang="en-US" sz="2800" dirty="0" smtClean="0"/>
              <a:t> </a:t>
            </a:r>
            <a:r>
              <a:rPr lang="en-US" sz="2800" dirty="0" err="1"/>
              <a:t>este</a:t>
            </a:r>
            <a:r>
              <a:rPr lang="en-US" sz="2800" dirty="0"/>
              <a:t> </a:t>
            </a:r>
            <a:r>
              <a:rPr lang="en-US" sz="2800" b="1" dirty="0" err="1">
                <a:solidFill>
                  <a:srgbClr val="C00000"/>
                </a:solidFill>
              </a:rPr>
              <a:t>nestationa</a:t>
            </a:r>
            <a:r>
              <a:rPr lang="en-US" sz="2800" dirty="0" err="1"/>
              <a:t>r</a:t>
            </a:r>
            <a:r>
              <a:rPr lang="en-US" sz="2800" dirty="0"/>
              <a:t> </a:t>
            </a:r>
            <a:r>
              <a:rPr lang="en-US" sz="2800" dirty="0" err="1"/>
              <a:t>si</a:t>
            </a:r>
            <a:r>
              <a:rPr lang="en-US" sz="2800" dirty="0"/>
              <a:t> </a:t>
            </a:r>
            <a:r>
              <a:rPr lang="en-US" sz="2800" dirty="0" err="1"/>
              <a:t>prezinta</a:t>
            </a:r>
            <a:r>
              <a:rPr lang="en-US" sz="2800" dirty="0"/>
              <a:t> un </a:t>
            </a:r>
            <a:r>
              <a:rPr lang="en-US" sz="2800" b="1" dirty="0">
                <a:solidFill>
                  <a:srgbClr val="C00000"/>
                </a:solidFill>
              </a:rPr>
              <a:t>trend </a:t>
            </a:r>
            <a:r>
              <a:rPr lang="en-US" sz="2800" b="1" dirty="0" err="1">
                <a:solidFill>
                  <a:srgbClr val="C00000"/>
                </a:solidFill>
              </a:rPr>
              <a:t>stohastic</a:t>
            </a:r>
            <a:r>
              <a:rPr lang="en-US" sz="2800" dirty="0"/>
              <a:t>. </a:t>
            </a:r>
          </a:p>
          <a:p>
            <a:pPr marL="0" indent="0" algn="just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269297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9221" name="Content Placeholder 2"/>
          <p:cNvSpPr>
            <a:spLocks noGrp="1"/>
          </p:cNvSpPr>
          <p:nvPr>
            <p:ph idx="1"/>
          </p:nvPr>
        </p:nvSpPr>
        <p:spPr>
          <a:xfrm>
            <a:off x="1449659" y="624110"/>
            <a:ext cx="10627111" cy="59290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 err="1"/>
              <a:t>Facand</a:t>
            </a:r>
            <a:r>
              <a:rPr lang="en-US" sz="2600" dirty="0"/>
              <a:t> </a:t>
            </a:r>
            <a:r>
              <a:rPr lang="en-US" sz="2600" dirty="0" err="1"/>
              <a:t>diferenta</a:t>
            </a:r>
            <a:r>
              <a:rPr lang="en-US" sz="2600" dirty="0"/>
              <a:t> de </a:t>
            </a:r>
            <a:r>
              <a:rPr lang="en-US" sz="2600" dirty="0" err="1"/>
              <a:t>ordinul</a:t>
            </a:r>
            <a:r>
              <a:rPr lang="en-US" sz="2600" dirty="0"/>
              <a:t> I </a:t>
            </a:r>
            <a:r>
              <a:rPr lang="en-US" sz="2600" dirty="0" err="1"/>
              <a:t>modelul</a:t>
            </a:r>
            <a:r>
              <a:rPr lang="en-US" sz="2600" dirty="0"/>
              <a:t>  RW cat </a:t>
            </a:r>
            <a:r>
              <a:rPr lang="en-US" sz="2600" dirty="0" err="1"/>
              <a:t>si</a:t>
            </a:r>
            <a:r>
              <a:rPr lang="en-US" sz="2600" dirty="0"/>
              <a:t> </a:t>
            </a:r>
            <a:r>
              <a:rPr lang="en-US" sz="2600" dirty="0" err="1"/>
              <a:t>modelul</a:t>
            </a:r>
            <a:r>
              <a:rPr lang="en-US" sz="2600" dirty="0"/>
              <a:t> RWD </a:t>
            </a:r>
            <a:r>
              <a:rPr lang="en-US" sz="2600" dirty="0" err="1"/>
              <a:t>devine</a:t>
            </a:r>
            <a:r>
              <a:rPr lang="en-US" sz="2600" dirty="0"/>
              <a:t> </a:t>
            </a:r>
            <a:r>
              <a:rPr lang="en-US" sz="2600" dirty="0" err="1"/>
              <a:t>stationar</a:t>
            </a:r>
            <a:r>
              <a:rPr lang="en-US" sz="2600" dirty="0"/>
              <a:t>:</a:t>
            </a:r>
          </a:p>
          <a:p>
            <a:pPr marL="0" indent="0" algn="ctr">
              <a:buNone/>
            </a:pPr>
            <a:r>
              <a:rPr lang="en-US" sz="2600" dirty="0">
                <a:solidFill>
                  <a:srgbClr val="C00000"/>
                </a:solidFill>
              </a:rPr>
              <a:t>(Y</a:t>
            </a:r>
            <a:r>
              <a:rPr lang="en-US" sz="2600" baseline="-25000" dirty="0">
                <a:solidFill>
                  <a:srgbClr val="C00000"/>
                </a:solidFill>
              </a:rPr>
              <a:t>t</a:t>
            </a:r>
            <a:r>
              <a:rPr lang="en-US" sz="2600" dirty="0">
                <a:solidFill>
                  <a:srgbClr val="C00000"/>
                </a:solidFill>
              </a:rPr>
              <a:t>-Y</a:t>
            </a:r>
            <a:r>
              <a:rPr lang="en-US" sz="2600" baseline="-25000" dirty="0">
                <a:solidFill>
                  <a:srgbClr val="C00000"/>
                </a:solidFill>
              </a:rPr>
              <a:t>t-1</a:t>
            </a:r>
            <a:r>
              <a:rPr lang="en-US" sz="2600" dirty="0">
                <a:solidFill>
                  <a:srgbClr val="C00000"/>
                </a:solidFill>
              </a:rPr>
              <a:t>)=</a:t>
            </a:r>
            <a:r>
              <a:rPr lang="el-GR" sz="2600" dirty="0">
                <a:solidFill>
                  <a:srgbClr val="C00000"/>
                </a:solidFill>
              </a:rPr>
              <a:t>ε</a:t>
            </a:r>
            <a:r>
              <a:rPr lang="en-US" sz="2600" baseline="-25000" dirty="0">
                <a:solidFill>
                  <a:srgbClr val="C00000"/>
                </a:solidFill>
              </a:rPr>
              <a:t>t</a:t>
            </a:r>
            <a:r>
              <a:rPr lang="en-US" sz="2600" dirty="0">
                <a:solidFill>
                  <a:srgbClr val="C00000"/>
                </a:solidFill>
                <a:sym typeface="Wingdings" pitchFamily="2" charset="2"/>
              </a:rPr>
              <a:t>(1-L)</a:t>
            </a:r>
            <a:r>
              <a:rPr lang="en-US" sz="2600" dirty="0">
                <a:solidFill>
                  <a:srgbClr val="C00000"/>
                </a:solidFill>
              </a:rPr>
              <a:t> </a:t>
            </a:r>
            <a:r>
              <a:rPr lang="en-US" sz="2600" dirty="0" err="1">
                <a:solidFill>
                  <a:srgbClr val="C00000"/>
                </a:solidFill>
              </a:rPr>
              <a:t>Y</a:t>
            </a:r>
            <a:r>
              <a:rPr lang="en-US" sz="2600" baseline="-25000" dirty="0" err="1">
                <a:solidFill>
                  <a:srgbClr val="C00000"/>
                </a:solidFill>
              </a:rPr>
              <a:t>t</a:t>
            </a:r>
            <a:r>
              <a:rPr lang="en-US" sz="2600" baseline="-25000" dirty="0">
                <a:solidFill>
                  <a:srgbClr val="C00000"/>
                </a:solidFill>
              </a:rPr>
              <a:t> </a:t>
            </a:r>
            <a:r>
              <a:rPr lang="en-US" sz="2600" dirty="0">
                <a:solidFill>
                  <a:srgbClr val="C00000"/>
                </a:solidFill>
              </a:rPr>
              <a:t>=</a:t>
            </a:r>
            <a:r>
              <a:rPr lang="el-GR" sz="2600" dirty="0">
                <a:solidFill>
                  <a:srgbClr val="C00000"/>
                </a:solidFill>
              </a:rPr>
              <a:t>ε</a:t>
            </a:r>
            <a:r>
              <a:rPr lang="en-US" sz="2600" baseline="-25000" dirty="0">
                <a:solidFill>
                  <a:srgbClr val="C00000"/>
                </a:solidFill>
              </a:rPr>
              <a:t>t</a:t>
            </a:r>
            <a:r>
              <a:rPr lang="en-US" sz="2600" dirty="0">
                <a:solidFill>
                  <a:srgbClr val="C00000"/>
                </a:solidFill>
                <a:sym typeface="Wingdings" pitchFamily="2" charset="2"/>
              </a:rPr>
              <a:t></a:t>
            </a:r>
            <a:r>
              <a:rPr lang="en-US" sz="2600" dirty="0">
                <a:solidFill>
                  <a:srgbClr val="C00000"/>
                </a:solidFill>
              </a:rPr>
              <a:t> </a:t>
            </a:r>
            <a:r>
              <a:rPr lang="en-US" sz="2600" dirty="0" err="1">
                <a:solidFill>
                  <a:srgbClr val="C00000"/>
                </a:solidFill>
              </a:rPr>
              <a:t>ΔY</a:t>
            </a:r>
            <a:r>
              <a:rPr lang="en-US" sz="2600" baseline="-25000" dirty="0" err="1">
                <a:solidFill>
                  <a:srgbClr val="C00000"/>
                </a:solidFill>
              </a:rPr>
              <a:t>t</a:t>
            </a:r>
            <a:r>
              <a:rPr lang="en-US" sz="2600" dirty="0">
                <a:solidFill>
                  <a:srgbClr val="C00000"/>
                </a:solidFill>
              </a:rPr>
              <a:t>=</a:t>
            </a:r>
            <a:r>
              <a:rPr lang="el-GR" sz="2600" dirty="0">
                <a:solidFill>
                  <a:srgbClr val="C00000"/>
                </a:solidFill>
              </a:rPr>
              <a:t>ε</a:t>
            </a:r>
            <a:r>
              <a:rPr lang="en-US" sz="2600" baseline="-25000" dirty="0">
                <a:solidFill>
                  <a:srgbClr val="C00000"/>
                </a:solidFill>
              </a:rPr>
              <a:t>t</a:t>
            </a:r>
            <a:r>
              <a:rPr lang="en-US" sz="2600" dirty="0">
                <a:solidFill>
                  <a:srgbClr val="C00000"/>
                </a:solidFill>
              </a:rPr>
              <a:t>, 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 err="1" smtClean="0">
                <a:solidFill>
                  <a:srgbClr val="C00000"/>
                </a:solidFill>
              </a:rPr>
              <a:t>t</a:t>
            </a:r>
            <a:r>
              <a:rPr lang="en-US" sz="2600" b="1" dirty="0" err="1" smtClean="0">
                <a:solidFill>
                  <a:srgbClr val="C00000"/>
                </a:solidFill>
              </a:rPr>
              <a:t>~I</a:t>
            </a:r>
            <a:r>
              <a:rPr lang="ro-RO" sz="2600" b="1" dirty="0" smtClean="0">
                <a:solidFill>
                  <a:srgbClr val="C00000"/>
                </a:solidFill>
              </a:rPr>
              <a:t>IN</a:t>
            </a:r>
            <a:r>
              <a:rPr lang="en-US" sz="2600" b="1" dirty="0" smtClean="0">
                <a:solidFill>
                  <a:srgbClr val="C00000"/>
                </a:solidFill>
              </a:rPr>
              <a:t>D(0,</a:t>
            </a:r>
            <a:r>
              <a:rPr lang="el-GR" sz="2600" b="1" dirty="0">
                <a:solidFill>
                  <a:srgbClr val="C00000"/>
                </a:solidFill>
              </a:rPr>
              <a:t>σ</a:t>
            </a:r>
            <a:r>
              <a:rPr lang="el-GR" sz="2600" b="1" baseline="-25000" dirty="0">
                <a:solidFill>
                  <a:srgbClr val="C00000"/>
                </a:solidFill>
              </a:rPr>
              <a:t>ε</a:t>
            </a:r>
            <a:r>
              <a:rPr lang="en-US" sz="2600" b="1" baseline="30000" dirty="0">
                <a:solidFill>
                  <a:srgbClr val="C00000"/>
                </a:solidFill>
              </a:rPr>
              <a:t>2</a:t>
            </a:r>
            <a:r>
              <a:rPr lang="en-US" sz="2600" b="1" dirty="0">
                <a:solidFill>
                  <a:srgbClr val="C0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600" dirty="0" err="1"/>
              <a:t>Acest</a:t>
            </a:r>
            <a:r>
              <a:rPr lang="en-US" sz="2600" dirty="0"/>
              <a:t> tip de </a:t>
            </a:r>
            <a:r>
              <a:rPr lang="en-US" sz="2600" dirty="0" err="1"/>
              <a:t>proces</a:t>
            </a:r>
            <a:r>
              <a:rPr lang="en-US" sz="2600" dirty="0"/>
              <a:t> se </a:t>
            </a:r>
            <a:r>
              <a:rPr lang="en-US" sz="2600" dirty="0" err="1"/>
              <a:t>numeste</a:t>
            </a:r>
            <a:r>
              <a:rPr lang="en-US" sz="2600" dirty="0"/>
              <a:t> </a:t>
            </a:r>
            <a:r>
              <a:rPr lang="en-US" sz="2600" b="1" dirty="0" err="1">
                <a:solidFill>
                  <a:srgbClr val="C00000"/>
                </a:solidFill>
              </a:rPr>
              <a:t>proces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  <a:r>
              <a:rPr lang="en-US" sz="2600" b="1" dirty="0" err="1">
                <a:solidFill>
                  <a:srgbClr val="C00000"/>
                </a:solidFill>
              </a:rPr>
              <a:t>stationar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  <a:r>
              <a:rPr lang="en-US" sz="2600" b="1" dirty="0" err="1">
                <a:solidFill>
                  <a:srgbClr val="C00000"/>
                </a:solidFill>
              </a:rPr>
              <a:t>prin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  <a:r>
              <a:rPr lang="en-US" sz="2600" b="1" dirty="0" err="1">
                <a:solidFill>
                  <a:srgbClr val="C00000"/>
                </a:solidFill>
              </a:rPr>
              <a:t>diferenta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  <a:r>
              <a:rPr lang="en-US" sz="2600" dirty="0"/>
              <a:t>(</a:t>
            </a:r>
            <a:r>
              <a:rPr lang="en-US" sz="2600" dirty="0" err="1"/>
              <a:t>eng.</a:t>
            </a:r>
            <a:r>
              <a:rPr lang="en-US" sz="2600" dirty="0"/>
              <a:t> </a:t>
            </a:r>
            <a:r>
              <a:rPr lang="en-US" sz="2600" i="1" dirty="0"/>
              <a:t>Difference-Stationary Process-&gt;DSP</a:t>
            </a:r>
            <a:r>
              <a:rPr lang="en-US" sz="2600" dirty="0"/>
              <a:t>) </a:t>
            </a:r>
            <a:r>
              <a:rPr lang="en-US" sz="2600" dirty="0" err="1"/>
              <a:t>sau</a:t>
            </a:r>
            <a:r>
              <a:rPr lang="en-US" sz="2600" dirty="0"/>
              <a:t> </a:t>
            </a:r>
            <a:r>
              <a:rPr lang="en-US" sz="2600" b="1" dirty="0" err="1">
                <a:solidFill>
                  <a:srgbClr val="C00000"/>
                </a:solidFill>
              </a:rPr>
              <a:t>proces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  <a:r>
              <a:rPr lang="en-US" sz="2600" b="1" dirty="0" err="1">
                <a:solidFill>
                  <a:srgbClr val="C00000"/>
                </a:solidFill>
              </a:rPr>
              <a:t>radacina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  <a:r>
              <a:rPr lang="en-US" sz="2600" b="1" dirty="0" err="1">
                <a:solidFill>
                  <a:srgbClr val="C00000"/>
                </a:solidFill>
              </a:rPr>
              <a:t>unitate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  <a:r>
              <a:rPr lang="en-US" sz="2600" dirty="0"/>
              <a:t>(</a:t>
            </a:r>
            <a:r>
              <a:rPr lang="en-US" sz="2600" dirty="0" err="1"/>
              <a:t>eng.</a:t>
            </a:r>
            <a:r>
              <a:rPr lang="en-US" sz="2600" dirty="0"/>
              <a:t> </a:t>
            </a:r>
            <a:r>
              <a:rPr lang="en-US" sz="2600" i="1" dirty="0"/>
              <a:t>Unit Root Process</a:t>
            </a:r>
            <a:r>
              <a:rPr lang="en-US" sz="2600" dirty="0"/>
              <a:t>).</a:t>
            </a:r>
          </a:p>
          <a:p>
            <a:pPr marL="0" indent="0">
              <a:buNone/>
            </a:pPr>
            <a:r>
              <a:rPr lang="en-US" sz="2600" dirty="0"/>
              <a:t>Fie </a:t>
            </a:r>
            <a:r>
              <a:rPr lang="en-US" sz="2600" dirty="0" err="1"/>
              <a:t>modelul</a:t>
            </a:r>
            <a:r>
              <a:rPr lang="en-US" sz="2600" dirty="0"/>
              <a:t> AR(1) </a:t>
            </a:r>
            <a:r>
              <a:rPr lang="en-US" sz="2600" dirty="0" err="1"/>
              <a:t>definit</a:t>
            </a:r>
            <a:r>
              <a:rPr lang="en-US" sz="2600" dirty="0"/>
              <a:t> </a:t>
            </a:r>
            <a:r>
              <a:rPr lang="en-US" sz="2600" dirty="0" err="1"/>
              <a:t>prin</a:t>
            </a:r>
            <a:r>
              <a:rPr lang="en-US" sz="2600" dirty="0"/>
              <a:t> </a:t>
            </a:r>
            <a:r>
              <a:rPr lang="en-US" sz="2600" dirty="0" err="1"/>
              <a:t>relatia</a:t>
            </a:r>
            <a:r>
              <a:rPr lang="en-US" sz="2600" dirty="0"/>
              <a:t>:</a:t>
            </a:r>
          </a:p>
          <a:p>
            <a:pPr marL="0" indent="0" algn="ctr">
              <a:buNone/>
            </a:pPr>
            <a:r>
              <a:rPr lang="en-US" sz="2600" b="1" dirty="0" err="1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=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>
                <a:solidFill>
                  <a:srgbClr val="C00000"/>
                </a:solidFill>
              </a:rPr>
              <a:t>1</a:t>
            </a:r>
            <a:r>
              <a:rPr lang="en-US" sz="2600" b="1" dirty="0">
                <a:solidFill>
                  <a:srgbClr val="C00000"/>
                </a:solidFill>
              </a:rPr>
              <a:t>Y</a:t>
            </a:r>
            <a:r>
              <a:rPr lang="en-US" sz="2600" b="1" baseline="-25000" dirty="0">
                <a:solidFill>
                  <a:srgbClr val="C00000"/>
                </a:solidFill>
              </a:rPr>
              <a:t>t-1</a:t>
            </a:r>
            <a:r>
              <a:rPr lang="en-US" sz="2600" b="1" dirty="0">
                <a:solidFill>
                  <a:srgbClr val="C00000"/>
                </a:solidFill>
              </a:rPr>
              <a:t>+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>
                <a:solidFill>
                  <a:srgbClr val="C00000"/>
                </a:solidFill>
              </a:rPr>
              <a:t>t </a:t>
            </a:r>
            <a:r>
              <a:rPr lang="en-US" sz="2600" b="1" dirty="0">
                <a:solidFill>
                  <a:srgbClr val="C00000"/>
                </a:solidFill>
                <a:sym typeface="Wingdings" pitchFamily="2" charset="2"/>
              </a:rPr>
              <a:t> </a:t>
            </a:r>
            <a:r>
              <a:rPr lang="en-US" sz="2600" b="1" dirty="0">
                <a:solidFill>
                  <a:srgbClr val="C00000"/>
                </a:solidFill>
              </a:rPr>
              <a:t>(</a:t>
            </a:r>
            <a:r>
              <a:rPr lang="en-US" sz="2600" b="1" dirty="0" err="1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-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>
                <a:solidFill>
                  <a:srgbClr val="C00000"/>
                </a:solidFill>
              </a:rPr>
              <a:t>1</a:t>
            </a:r>
            <a:r>
              <a:rPr lang="en-US" sz="2600" b="1" dirty="0">
                <a:solidFill>
                  <a:srgbClr val="C00000"/>
                </a:solidFill>
              </a:rPr>
              <a:t>Y</a:t>
            </a:r>
            <a:r>
              <a:rPr lang="en-US" sz="2600" b="1" baseline="-25000" dirty="0">
                <a:solidFill>
                  <a:srgbClr val="C00000"/>
                </a:solidFill>
              </a:rPr>
              <a:t>t-1</a:t>
            </a:r>
            <a:r>
              <a:rPr lang="en-US" sz="2600" b="1" dirty="0">
                <a:solidFill>
                  <a:srgbClr val="C00000"/>
                </a:solidFill>
              </a:rPr>
              <a:t>)=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  <a:sym typeface="Wingdings" pitchFamily="2" charset="2"/>
              </a:rPr>
              <a:t>(1-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>
                <a:solidFill>
                  <a:srgbClr val="C00000"/>
                </a:solidFill>
              </a:rPr>
              <a:t>1</a:t>
            </a:r>
            <a:r>
              <a:rPr lang="en-US" sz="2600" b="1" dirty="0">
                <a:solidFill>
                  <a:srgbClr val="C00000"/>
                </a:solidFill>
                <a:sym typeface="Wingdings" pitchFamily="2" charset="2"/>
              </a:rPr>
              <a:t>L)</a:t>
            </a:r>
            <a:r>
              <a:rPr lang="en-US" sz="2600" b="1" dirty="0" err="1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=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, 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t</a:t>
            </a:r>
            <a:r>
              <a:rPr lang="en-US" sz="2600" b="1" dirty="0" smtClean="0">
                <a:solidFill>
                  <a:srgbClr val="C00000"/>
                </a:solidFill>
              </a:rPr>
              <a:t>~</a:t>
            </a:r>
            <a:r>
              <a:rPr lang="ro-RO" sz="2600" b="1" dirty="0" smtClean="0">
                <a:solidFill>
                  <a:srgbClr val="C00000"/>
                </a:solidFill>
              </a:rPr>
              <a:t>I</a:t>
            </a:r>
            <a:r>
              <a:rPr lang="en-US" sz="2600" b="1" dirty="0" smtClean="0">
                <a:solidFill>
                  <a:srgbClr val="C00000"/>
                </a:solidFill>
              </a:rPr>
              <a:t>I</a:t>
            </a:r>
            <a:r>
              <a:rPr lang="ro-RO" sz="2600" b="1" dirty="0" smtClean="0">
                <a:solidFill>
                  <a:srgbClr val="C00000"/>
                </a:solidFill>
              </a:rPr>
              <a:t>N</a:t>
            </a:r>
            <a:r>
              <a:rPr lang="en-US" sz="2600" b="1" dirty="0" smtClean="0">
                <a:solidFill>
                  <a:srgbClr val="C00000"/>
                </a:solidFill>
              </a:rPr>
              <a:t>D(0,</a:t>
            </a:r>
            <a:r>
              <a:rPr lang="el-GR" sz="2600" b="1" dirty="0">
                <a:solidFill>
                  <a:srgbClr val="C00000"/>
                </a:solidFill>
              </a:rPr>
              <a:t>σ</a:t>
            </a:r>
            <a:r>
              <a:rPr lang="el-GR" sz="2600" b="1" baseline="-25000" dirty="0">
                <a:solidFill>
                  <a:srgbClr val="C00000"/>
                </a:solidFill>
              </a:rPr>
              <a:t>ε</a:t>
            </a:r>
            <a:r>
              <a:rPr lang="en-US" sz="2600" b="1" baseline="30000" dirty="0">
                <a:solidFill>
                  <a:srgbClr val="C00000"/>
                </a:solidFill>
              </a:rPr>
              <a:t>2</a:t>
            </a:r>
            <a:r>
              <a:rPr lang="en-US" sz="2600" b="1" dirty="0">
                <a:solidFill>
                  <a:srgbClr val="C00000"/>
                </a:solidFill>
              </a:rPr>
              <a:t>) </a:t>
            </a:r>
            <a:r>
              <a:rPr lang="en-US" sz="2600" b="1" dirty="0" err="1">
                <a:solidFill>
                  <a:srgbClr val="C00000"/>
                </a:solidFill>
              </a:rPr>
              <a:t>si</a:t>
            </a:r>
            <a:r>
              <a:rPr lang="en-US" sz="2600" b="1" dirty="0">
                <a:solidFill>
                  <a:srgbClr val="C00000"/>
                </a:solidFill>
              </a:rPr>
              <a:t> |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>
                <a:solidFill>
                  <a:srgbClr val="C00000"/>
                </a:solidFill>
              </a:rPr>
              <a:t>1</a:t>
            </a:r>
            <a:r>
              <a:rPr lang="en-US" sz="2600" b="1" dirty="0">
                <a:solidFill>
                  <a:srgbClr val="C00000"/>
                </a:solidFill>
              </a:rPr>
              <a:t>|&lt;1</a:t>
            </a:r>
          </a:p>
          <a:p>
            <a:pPr marL="0" indent="0" algn="ctr">
              <a:buNone/>
            </a:pPr>
            <a:endParaRPr lang="en-US" sz="2600" b="1" dirty="0">
              <a:solidFill>
                <a:srgbClr val="C00000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2600" b="1" dirty="0">
                <a:solidFill>
                  <a:srgbClr val="C00000"/>
                </a:solidFill>
                <a:sym typeface="Wingdings" pitchFamily="2" charset="2"/>
              </a:rPr>
              <a:t>M(</a:t>
            </a:r>
            <a:r>
              <a:rPr lang="en-US" sz="2600" b="1" dirty="0" err="1">
                <a:solidFill>
                  <a:srgbClr val="C00000"/>
                </a:solidFill>
                <a:sym typeface="Wingdings" pitchFamily="2" charset="2"/>
              </a:rPr>
              <a:t>Y</a:t>
            </a:r>
            <a:r>
              <a:rPr lang="en-US" sz="2600" b="1" baseline="-25000" dirty="0" err="1">
                <a:solidFill>
                  <a:srgbClr val="C00000"/>
                </a:solidFill>
                <a:sym typeface="Wingdings" pitchFamily="2" charset="2"/>
              </a:rPr>
              <a:t>t</a:t>
            </a:r>
            <a:r>
              <a:rPr lang="en-US" sz="2600" b="1" dirty="0">
                <a:solidFill>
                  <a:srgbClr val="C00000"/>
                </a:solidFill>
                <a:sym typeface="Wingdings" pitchFamily="2" charset="2"/>
              </a:rPr>
              <a:t>) =M(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 )+</a:t>
            </a:r>
            <a:r>
              <a:rPr lang="en-US" sz="2600" b="1" dirty="0">
                <a:solidFill>
                  <a:srgbClr val="C00000"/>
                </a:solidFill>
                <a:sym typeface="Wingdings" pitchFamily="2" charset="2"/>
              </a:rPr>
              <a:t>M(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>
                <a:solidFill>
                  <a:srgbClr val="C00000"/>
                </a:solidFill>
              </a:rPr>
              <a:t>t-1</a:t>
            </a:r>
            <a:r>
              <a:rPr lang="en-US" sz="2600" b="1" dirty="0">
                <a:solidFill>
                  <a:srgbClr val="C00000"/>
                </a:solidFill>
              </a:rPr>
              <a:t> )+</a:t>
            </a:r>
            <a:r>
              <a:rPr lang="en-US" sz="2600" b="1" dirty="0">
                <a:solidFill>
                  <a:srgbClr val="C00000"/>
                </a:solidFill>
                <a:sym typeface="Wingdings" pitchFamily="2" charset="2"/>
              </a:rPr>
              <a:t>M(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>
                <a:solidFill>
                  <a:srgbClr val="C00000"/>
                </a:solidFill>
              </a:rPr>
              <a:t>t-2</a:t>
            </a:r>
            <a:r>
              <a:rPr lang="en-US" sz="2600" b="1" dirty="0">
                <a:solidFill>
                  <a:srgbClr val="C00000"/>
                </a:solidFill>
              </a:rPr>
              <a:t> )+…= 0 + 0 + 0 +….= 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C00000"/>
                </a:solidFill>
                <a:sym typeface="Wingdings" pitchFamily="2" charset="2"/>
              </a:rPr>
              <a:t>V(</a:t>
            </a:r>
            <a:r>
              <a:rPr lang="en-US" sz="2600" b="1" dirty="0" err="1">
                <a:solidFill>
                  <a:srgbClr val="C00000"/>
                </a:solidFill>
                <a:sym typeface="Wingdings" pitchFamily="2" charset="2"/>
              </a:rPr>
              <a:t>Y</a:t>
            </a:r>
            <a:r>
              <a:rPr lang="en-US" sz="2600" b="1" baseline="-25000" dirty="0" err="1">
                <a:solidFill>
                  <a:srgbClr val="C00000"/>
                </a:solidFill>
                <a:sym typeface="Wingdings" pitchFamily="2" charset="2"/>
              </a:rPr>
              <a:t>t</a:t>
            </a:r>
            <a:r>
              <a:rPr lang="en-US" sz="2600" b="1" dirty="0">
                <a:solidFill>
                  <a:srgbClr val="C00000"/>
                </a:solidFill>
                <a:sym typeface="Wingdings" pitchFamily="2" charset="2"/>
              </a:rPr>
              <a:t>) =V(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 )(1+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30000" dirty="0">
                <a:solidFill>
                  <a:srgbClr val="C00000"/>
                </a:solidFill>
              </a:rPr>
              <a:t>2</a:t>
            </a:r>
            <a:r>
              <a:rPr lang="en-US" sz="2600" b="1" baseline="-25000" dirty="0">
                <a:solidFill>
                  <a:srgbClr val="C00000"/>
                </a:solidFill>
              </a:rPr>
              <a:t>1 </a:t>
            </a:r>
            <a:r>
              <a:rPr lang="en-US" sz="2600" b="1" dirty="0">
                <a:solidFill>
                  <a:srgbClr val="C00000"/>
                </a:solidFill>
              </a:rPr>
              <a:t>+</a:t>
            </a:r>
            <a:r>
              <a:rPr lang="el-GR" sz="2600" b="1" dirty="0">
                <a:solidFill>
                  <a:srgbClr val="C00000"/>
                </a:solidFill>
              </a:rPr>
              <a:t> β</a:t>
            </a:r>
            <a:r>
              <a:rPr lang="en-US" sz="2600" b="1" baseline="30000" dirty="0">
                <a:solidFill>
                  <a:srgbClr val="C00000"/>
                </a:solidFill>
              </a:rPr>
              <a:t>4</a:t>
            </a:r>
            <a:r>
              <a:rPr lang="en-US" sz="2600" b="1" baseline="-25000" dirty="0">
                <a:solidFill>
                  <a:srgbClr val="C00000"/>
                </a:solidFill>
              </a:rPr>
              <a:t>1</a:t>
            </a:r>
            <a:r>
              <a:rPr lang="en-US" sz="2600" b="1" dirty="0">
                <a:solidFill>
                  <a:srgbClr val="C00000"/>
                </a:solidFill>
              </a:rPr>
              <a:t>  +</a:t>
            </a:r>
            <a:r>
              <a:rPr lang="el-GR" sz="2600" b="1" dirty="0">
                <a:solidFill>
                  <a:srgbClr val="C00000"/>
                </a:solidFill>
              </a:rPr>
              <a:t> β</a:t>
            </a:r>
            <a:r>
              <a:rPr lang="en-US" sz="2600" b="1" baseline="30000" dirty="0">
                <a:solidFill>
                  <a:srgbClr val="C00000"/>
                </a:solidFill>
              </a:rPr>
              <a:t>6</a:t>
            </a:r>
            <a:r>
              <a:rPr lang="en-US" sz="2600" b="1" baseline="-25000" dirty="0">
                <a:solidFill>
                  <a:srgbClr val="C00000"/>
                </a:solidFill>
              </a:rPr>
              <a:t>1</a:t>
            </a:r>
            <a:r>
              <a:rPr lang="en-US" sz="2600" b="1" dirty="0">
                <a:solidFill>
                  <a:srgbClr val="C00000"/>
                </a:solidFill>
              </a:rPr>
              <a:t> +…)=               ct.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</p:txBody>
      </p:sp>
      <p:graphicFrame>
        <p:nvGraphicFramePr>
          <p:cNvPr id="92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4818041"/>
              </p:ext>
            </p:extLst>
          </p:nvPr>
        </p:nvGraphicFramePr>
        <p:xfrm>
          <a:off x="2563483" y="4001404"/>
          <a:ext cx="839946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8" name="Equation" r:id="rId3" imgW="4394200" imgH="431800" progId="">
                  <p:embed/>
                </p:oleObj>
              </mc:Choice>
              <mc:Fallback>
                <p:oleObj name="Equation" r:id="rId3" imgW="4394200" imgH="43180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3483" y="4001404"/>
                        <a:ext cx="8399462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1448735"/>
              </p:ext>
            </p:extLst>
          </p:nvPr>
        </p:nvGraphicFramePr>
        <p:xfrm>
          <a:off x="6763214" y="4988377"/>
          <a:ext cx="93503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9" name="Equation" r:id="rId5" imgW="431800" imgH="457200" progId="">
                  <p:embed/>
                </p:oleObj>
              </mc:Choice>
              <mc:Fallback>
                <p:oleObj name="Equation" r:id="rId5" imgW="431800" imgH="457200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3214" y="4988377"/>
                        <a:ext cx="935038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67791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>
          <a:xfrm>
            <a:off x="780585" y="1311937"/>
            <a:ext cx="10724027" cy="5401097"/>
          </a:xfrm>
        </p:spPr>
        <p:txBody>
          <a:bodyPr>
            <a:normAutofit/>
          </a:bodyPr>
          <a:lstStyle/>
          <a:p>
            <a:pPr marL="0" indent="290513">
              <a:buNone/>
            </a:pPr>
            <a:r>
              <a:rPr lang="en-US" sz="2600" dirty="0" err="1"/>
              <a:t>Pentru</a:t>
            </a:r>
            <a:r>
              <a:rPr lang="en-US" sz="2600" dirty="0"/>
              <a:t> </a:t>
            </a:r>
            <a:r>
              <a:rPr lang="en-US" sz="2600" dirty="0" err="1"/>
              <a:t>modelul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C00000"/>
                </a:solidFill>
              </a:rPr>
              <a:t>RW</a:t>
            </a:r>
            <a:r>
              <a:rPr lang="en-US" sz="2600" dirty="0"/>
              <a:t> , </a:t>
            </a:r>
            <a:r>
              <a:rPr lang="en-US" sz="2600" b="1" dirty="0">
                <a:solidFill>
                  <a:srgbClr val="C00000"/>
                </a:solidFill>
              </a:rPr>
              <a:t>RWD</a:t>
            </a:r>
            <a:r>
              <a:rPr lang="en-US" sz="2600" dirty="0"/>
              <a:t> </a:t>
            </a:r>
            <a:r>
              <a:rPr lang="en-US" sz="2600" dirty="0" err="1"/>
              <a:t>si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C00000"/>
                </a:solidFill>
              </a:rPr>
              <a:t>DSP</a:t>
            </a:r>
            <a:r>
              <a:rPr lang="en-US" sz="2600" dirty="0"/>
              <a:t> </a:t>
            </a:r>
            <a:r>
              <a:rPr lang="en-US" sz="2600" dirty="0" err="1"/>
              <a:t>vom</a:t>
            </a:r>
            <a:r>
              <a:rPr lang="en-US" sz="2600" dirty="0"/>
              <a:t> </a:t>
            </a:r>
            <a:r>
              <a:rPr lang="en-US" sz="2600" dirty="0" err="1"/>
              <a:t>prezenta</a:t>
            </a:r>
            <a:r>
              <a:rPr lang="en-US" sz="2600" dirty="0"/>
              <a:t> </a:t>
            </a:r>
            <a:r>
              <a:rPr lang="en-US" sz="2600" dirty="0" err="1"/>
              <a:t>modelul</a:t>
            </a:r>
            <a:r>
              <a:rPr lang="en-US" sz="2600" dirty="0"/>
              <a:t> cu </a:t>
            </a:r>
            <a:r>
              <a:rPr lang="en-US" sz="2600" dirty="0" err="1"/>
              <a:t>ajutorul</a:t>
            </a:r>
            <a:r>
              <a:rPr lang="en-US" sz="2600" dirty="0"/>
              <a:t> </a:t>
            </a:r>
            <a:r>
              <a:rPr lang="en-US" sz="2600" dirty="0" err="1"/>
              <a:t>decalajului</a:t>
            </a:r>
            <a:r>
              <a:rPr lang="en-US" sz="2600" dirty="0"/>
              <a:t> </a:t>
            </a:r>
            <a:r>
              <a:rPr lang="en-US" sz="2600" dirty="0" err="1"/>
              <a:t>polinomial</a:t>
            </a:r>
            <a:r>
              <a:rPr lang="en-US" sz="2600" dirty="0" smtClean="0"/>
              <a:t>:</a:t>
            </a:r>
          </a:p>
          <a:p>
            <a:pPr marL="0" indent="290513" algn="ctr">
              <a:buNone/>
            </a:pPr>
            <a:r>
              <a:rPr lang="en-US" sz="2600" b="1" dirty="0" smtClean="0">
                <a:solidFill>
                  <a:srgbClr val="C00000"/>
                </a:solidFill>
              </a:rPr>
              <a:t>(</a:t>
            </a:r>
            <a:r>
              <a:rPr lang="en-US" sz="2600" b="1" dirty="0">
                <a:solidFill>
                  <a:srgbClr val="C00000"/>
                </a:solidFill>
              </a:rPr>
              <a:t>1-L)</a:t>
            </a:r>
            <a:r>
              <a:rPr lang="en-US" sz="2600" b="1" dirty="0" err="1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=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aseline="-25000" dirty="0"/>
              <a:t>t</a:t>
            </a:r>
            <a:r>
              <a:rPr lang="en-US" sz="2600" dirty="0"/>
              <a:t> </a:t>
            </a:r>
            <a:r>
              <a:rPr lang="en-US" sz="2600" dirty="0" err="1"/>
              <a:t>pentru</a:t>
            </a:r>
            <a:r>
              <a:rPr lang="en-US" sz="2600" dirty="0"/>
              <a:t> </a:t>
            </a:r>
            <a:r>
              <a:rPr lang="en-US" sz="2600" dirty="0" err="1"/>
              <a:t>modelel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C00000"/>
                </a:solidFill>
              </a:rPr>
              <a:t>RW</a:t>
            </a:r>
            <a:r>
              <a:rPr lang="en-US" sz="2600" dirty="0"/>
              <a:t> </a:t>
            </a:r>
            <a:r>
              <a:rPr lang="en-US" sz="2600" dirty="0" err="1"/>
              <a:t>si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C00000"/>
                </a:solidFill>
              </a:rPr>
              <a:t>RWD</a:t>
            </a:r>
          </a:p>
          <a:p>
            <a:pPr marL="0" indent="290513" algn="ctr">
              <a:buNone/>
            </a:pPr>
            <a:r>
              <a:rPr lang="en-US" sz="2600" b="1" dirty="0">
                <a:solidFill>
                  <a:srgbClr val="C00000"/>
                </a:solidFill>
                <a:sym typeface="Wingdings" pitchFamily="2" charset="2"/>
              </a:rPr>
              <a:t>(1-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>
                <a:solidFill>
                  <a:srgbClr val="C00000"/>
                </a:solidFill>
              </a:rPr>
              <a:t>1</a:t>
            </a:r>
            <a:r>
              <a:rPr lang="en-US" sz="2600" b="1" dirty="0">
                <a:solidFill>
                  <a:srgbClr val="C00000"/>
                </a:solidFill>
                <a:sym typeface="Wingdings" pitchFamily="2" charset="2"/>
              </a:rPr>
              <a:t>L)</a:t>
            </a:r>
            <a:r>
              <a:rPr lang="en-US" sz="2600" b="1" dirty="0" err="1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=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>
                <a:solidFill>
                  <a:srgbClr val="C00000"/>
                </a:solidFill>
              </a:rPr>
              <a:t>t</a:t>
            </a:r>
            <a:r>
              <a:rPr lang="en-US" sz="2600" dirty="0"/>
              <a:t>, </a:t>
            </a:r>
            <a:r>
              <a:rPr lang="en-US" sz="2600" dirty="0" err="1"/>
              <a:t>pentru</a:t>
            </a:r>
            <a:r>
              <a:rPr lang="en-US" sz="2600" dirty="0"/>
              <a:t> </a:t>
            </a:r>
            <a:r>
              <a:rPr lang="en-US" sz="2600" dirty="0" err="1"/>
              <a:t>modelul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C00000"/>
                </a:solidFill>
              </a:rPr>
              <a:t>AR(1)</a:t>
            </a:r>
          </a:p>
          <a:p>
            <a:pPr marL="0" indent="290513" algn="just">
              <a:buNone/>
            </a:pPr>
            <a:r>
              <a:rPr lang="en-US" sz="2600" dirty="0" smtClean="0"/>
              <a:t>In </a:t>
            </a:r>
            <a:r>
              <a:rPr lang="en-US" sz="2600" b="1" dirty="0">
                <a:solidFill>
                  <a:srgbClr val="C00000"/>
                </a:solidFill>
              </a:rPr>
              <a:t>RW</a:t>
            </a:r>
            <a:r>
              <a:rPr lang="en-US" sz="2600" dirty="0"/>
              <a:t> </a:t>
            </a:r>
            <a:r>
              <a:rPr lang="en-US" sz="2600" dirty="0" err="1"/>
              <a:t>polinomul</a:t>
            </a:r>
            <a:r>
              <a:rPr lang="en-US" sz="2600" dirty="0"/>
              <a:t> </a:t>
            </a:r>
            <a:r>
              <a:rPr lang="en-US" sz="2600" dirty="0" err="1"/>
              <a:t>decalajelor</a:t>
            </a:r>
            <a:r>
              <a:rPr lang="en-US" sz="2600" dirty="0"/>
              <a:t> </a:t>
            </a:r>
            <a:r>
              <a:rPr lang="en-US" sz="2600" dirty="0" err="1"/>
              <a:t>admite</a:t>
            </a:r>
            <a:r>
              <a:rPr lang="en-US" sz="2600" dirty="0"/>
              <a:t> </a:t>
            </a:r>
            <a:r>
              <a:rPr lang="en-US" sz="2600" dirty="0" err="1"/>
              <a:t>solutie</a:t>
            </a:r>
            <a:r>
              <a:rPr lang="en-US" sz="2600" dirty="0"/>
              <a:t> </a:t>
            </a:r>
            <a:r>
              <a:rPr lang="en-US" sz="2600" dirty="0" err="1"/>
              <a:t>doar</a:t>
            </a:r>
            <a:r>
              <a:rPr lang="en-US" sz="2600" dirty="0"/>
              <a:t> </a:t>
            </a:r>
            <a:r>
              <a:rPr lang="en-US" sz="2600" dirty="0" err="1"/>
              <a:t>pe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C00000"/>
                </a:solidFill>
              </a:rPr>
              <a:t>L=1</a:t>
            </a:r>
            <a:r>
              <a:rPr lang="en-US" sz="2600" dirty="0"/>
              <a:t> </a:t>
            </a:r>
            <a:r>
              <a:rPr lang="en-US" sz="2600" dirty="0" err="1"/>
              <a:t>si</a:t>
            </a:r>
            <a:r>
              <a:rPr lang="en-US" sz="2600" dirty="0"/>
              <a:t> </a:t>
            </a:r>
            <a:r>
              <a:rPr lang="en-US" sz="2600" dirty="0" err="1"/>
              <a:t>pentru</a:t>
            </a:r>
            <a:r>
              <a:rPr lang="en-US" sz="2600" dirty="0"/>
              <a:t> </a:t>
            </a:r>
            <a:r>
              <a:rPr lang="en-US" sz="2600" dirty="0" err="1"/>
              <a:t>modelul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C00000"/>
                </a:solidFill>
              </a:rPr>
              <a:t>AR(1)</a:t>
            </a:r>
            <a:r>
              <a:rPr lang="en-US" sz="2600" dirty="0"/>
              <a:t> </a:t>
            </a:r>
            <a:r>
              <a:rPr lang="en-US" sz="2600" dirty="0" err="1"/>
              <a:t>admite</a:t>
            </a:r>
            <a:r>
              <a:rPr lang="en-US" sz="2600" dirty="0"/>
              <a:t> </a:t>
            </a:r>
            <a:r>
              <a:rPr lang="en-US" sz="2600" dirty="0" err="1"/>
              <a:t>solutie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C00000"/>
                </a:solidFill>
              </a:rPr>
              <a:t>L=1/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>
                <a:solidFill>
                  <a:srgbClr val="C00000"/>
                </a:solidFill>
              </a:rPr>
              <a:t>1</a:t>
            </a:r>
            <a:r>
              <a:rPr lang="en-US" sz="2600" dirty="0"/>
              <a:t>. Cu </a:t>
            </a:r>
            <a:r>
              <a:rPr lang="en-US" sz="2600" dirty="0" err="1"/>
              <a:t>alte</a:t>
            </a:r>
            <a:r>
              <a:rPr lang="en-US" sz="2600" dirty="0"/>
              <a:t> </a:t>
            </a:r>
            <a:r>
              <a:rPr lang="en-US" sz="2600" dirty="0" err="1"/>
              <a:t>cuvinte</a:t>
            </a:r>
            <a:r>
              <a:rPr lang="en-US" sz="2600" dirty="0"/>
              <a:t> </a:t>
            </a:r>
            <a:r>
              <a:rPr lang="en-US" sz="2600" dirty="0" err="1"/>
              <a:t>polinomul</a:t>
            </a:r>
            <a:r>
              <a:rPr lang="en-US" sz="2600" dirty="0"/>
              <a:t> </a:t>
            </a:r>
            <a:r>
              <a:rPr lang="en-US" sz="2600" dirty="0" err="1"/>
              <a:t>modelelor</a:t>
            </a:r>
            <a:r>
              <a:rPr lang="en-US" sz="2600" dirty="0"/>
              <a:t> </a:t>
            </a:r>
            <a:r>
              <a:rPr lang="en-US" sz="2600" dirty="0" err="1"/>
              <a:t>nestationare</a:t>
            </a:r>
            <a:r>
              <a:rPr lang="en-US" sz="2600" dirty="0"/>
              <a:t> </a:t>
            </a:r>
            <a:r>
              <a:rPr lang="en-US" sz="2600" dirty="0" err="1"/>
              <a:t>admite</a:t>
            </a:r>
            <a:r>
              <a:rPr lang="en-US" sz="2600" dirty="0"/>
              <a:t> o </a:t>
            </a:r>
            <a:r>
              <a:rPr lang="en-US" sz="2600" dirty="0" err="1"/>
              <a:t>radacina</a:t>
            </a:r>
            <a:r>
              <a:rPr lang="en-US" sz="2600" dirty="0"/>
              <a:t> </a:t>
            </a:r>
            <a:r>
              <a:rPr lang="en-US" sz="2600" dirty="0" err="1"/>
              <a:t>unitate</a:t>
            </a:r>
            <a:r>
              <a:rPr lang="en-US" sz="2600" dirty="0"/>
              <a:t> </a:t>
            </a:r>
            <a:r>
              <a:rPr lang="en-US" sz="2600" dirty="0" err="1"/>
              <a:t>iar</a:t>
            </a:r>
            <a:r>
              <a:rPr lang="en-US" sz="2600" dirty="0"/>
              <a:t> </a:t>
            </a:r>
            <a:r>
              <a:rPr lang="en-US" sz="2600" dirty="0" err="1"/>
              <a:t>polinomul</a:t>
            </a:r>
            <a:r>
              <a:rPr lang="en-US" sz="2600" dirty="0"/>
              <a:t> </a:t>
            </a:r>
            <a:r>
              <a:rPr lang="en-US" sz="2600" dirty="0" err="1"/>
              <a:t>modelelor</a:t>
            </a:r>
            <a:r>
              <a:rPr lang="en-US" sz="2600" dirty="0"/>
              <a:t> </a:t>
            </a:r>
            <a:r>
              <a:rPr lang="en-US" sz="2600" dirty="0" err="1"/>
              <a:t>stationare</a:t>
            </a:r>
            <a:r>
              <a:rPr lang="en-US" sz="2600" dirty="0"/>
              <a:t> </a:t>
            </a:r>
            <a:r>
              <a:rPr lang="en-US" sz="2600" dirty="0" err="1"/>
              <a:t>admite</a:t>
            </a:r>
            <a:r>
              <a:rPr lang="en-US" sz="2600" dirty="0"/>
              <a:t> o </a:t>
            </a:r>
            <a:r>
              <a:rPr lang="en-US" sz="2600" dirty="0" err="1"/>
              <a:t>radacina</a:t>
            </a:r>
            <a:r>
              <a:rPr lang="en-US" sz="2600" dirty="0"/>
              <a:t> </a:t>
            </a:r>
            <a:r>
              <a:rPr lang="en-US" sz="2600" dirty="0" err="1"/>
              <a:t>supraunitara</a:t>
            </a:r>
            <a:r>
              <a:rPr lang="en-US" sz="2600" dirty="0"/>
              <a:t>.</a:t>
            </a:r>
          </a:p>
          <a:p>
            <a:pPr marL="0" indent="290513" algn="just">
              <a:buNone/>
            </a:pPr>
            <a:r>
              <a:rPr lang="en-US" sz="2600" dirty="0" err="1"/>
              <a:t>Ipoteza</a:t>
            </a:r>
            <a:r>
              <a:rPr lang="en-US" sz="2600" dirty="0"/>
              <a:t> de </a:t>
            </a:r>
            <a:r>
              <a:rPr lang="en-US" sz="2600" dirty="0" err="1"/>
              <a:t>nestationaritate</a:t>
            </a:r>
            <a:r>
              <a:rPr lang="en-US" sz="2600" dirty="0"/>
              <a:t> se </a:t>
            </a:r>
            <a:r>
              <a:rPr lang="en-US" sz="2600" dirty="0" err="1"/>
              <a:t>testeaza</a:t>
            </a:r>
            <a:r>
              <a:rPr lang="en-US" sz="2600" dirty="0"/>
              <a:t> in </a:t>
            </a:r>
            <a:r>
              <a:rPr lang="en-US" sz="2600" dirty="0" err="1"/>
              <a:t>termenii</a:t>
            </a:r>
            <a:r>
              <a:rPr lang="en-US" sz="2600" dirty="0"/>
              <a:t> </a:t>
            </a:r>
            <a:r>
              <a:rPr lang="en-US" sz="2600" dirty="0" err="1"/>
              <a:t>existentei</a:t>
            </a:r>
            <a:r>
              <a:rPr lang="en-US" sz="2600" dirty="0"/>
              <a:t> </a:t>
            </a:r>
            <a:r>
              <a:rPr lang="en-US" sz="2600" dirty="0" err="1"/>
              <a:t>radacinii</a:t>
            </a:r>
            <a:r>
              <a:rPr lang="en-US" sz="2600" dirty="0"/>
              <a:t> </a:t>
            </a:r>
            <a:r>
              <a:rPr lang="en-US" sz="2600" dirty="0" err="1" smtClean="0"/>
              <a:t>unitate</a:t>
            </a:r>
            <a:r>
              <a:rPr lang="en-US" sz="2600" dirty="0" smtClean="0"/>
              <a:t>:</a:t>
            </a:r>
          </a:p>
          <a:p>
            <a:pPr marL="0" indent="290513" algn="just">
              <a:buNone/>
            </a:pPr>
            <a:r>
              <a:rPr lang="en-US" sz="2600" b="1" dirty="0" smtClean="0">
                <a:solidFill>
                  <a:srgbClr val="C00000"/>
                </a:solidFill>
              </a:rPr>
              <a:t>H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0</a:t>
            </a:r>
            <a:r>
              <a:rPr lang="en-US" sz="2600" b="1" dirty="0">
                <a:solidFill>
                  <a:srgbClr val="C00000"/>
                </a:solidFill>
              </a:rPr>
              <a:t>:</a:t>
            </a:r>
            <a:r>
              <a:rPr lang="en-US" sz="2600" b="1" dirty="0"/>
              <a:t> 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>
                <a:solidFill>
                  <a:srgbClr val="C00000"/>
                </a:solidFill>
              </a:rPr>
              <a:t>1</a:t>
            </a:r>
            <a:r>
              <a:rPr lang="en-US" sz="2600" b="1" dirty="0">
                <a:solidFill>
                  <a:srgbClr val="C00000"/>
                </a:solidFill>
              </a:rPr>
              <a:t>=1 </a:t>
            </a:r>
            <a:r>
              <a:rPr lang="en-US" sz="2600" dirty="0" err="1"/>
              <a:t>si</a:t>
            </a:r>
            <a:r>
              <a:rPr lang="en-US" sz="2600" dirty="0"/>
              <a:t> </a:t>
            </a:r>
            <a:endParaRPr lang="en-US" sz="2600" dirty="0" smtClean="0"/>
          </a:p>
          <a:p>
            <a:pPr marL="0" indent="290513">
              <a:buNone/>
            </a:pPr>
            <a:r>
              <a:rPr lang="en-US" sz="2600" b="1" dirty="0" smtClean="0">
                <a:solidFill>
                  <a:srgbClr val="C00000"/>
                </a:solidFill>
              </a:rPr>
              <a:t>H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1</a:t>
            </a:r>
            <a:r>
              <a:rPr lang="en-US" sz="2600" dirty="0">
                <a:solidFill>
                  <a:srgbClr val="C00000"/>
                </a:solidFill>
              </a:rPr>
              <a:t>:</a:t>
            </a:r>
            <a:r>
              <a:rPr lang="en-US" sz="2600" dirty="0"/>
              <a:t> |</a:t>
            </a:r>
            <a:r>
              <a:rPr lang="el-GR" sz="2600" dirty="0"/>
              <a:t> β</a:t>
            </a:r>
            <a:r>
              <a:rPr lang="en-US" sz="2600" baseline="-25000" dirty="0"/>
              <a:t>1</a:t>
            </a:r>
            <a:r>
              <a:rPr lang="en-US" sz="2600" dirty="0"/>
              <a:t>|&lt;1 </a:t>
            </a:r>
            <a:r>
              <a:rPr lang="en-US" sz="2600" dirty="0" err="1"/>
              <a:t>sau</a:t>
            </a:r>
            <a:r>
              <a:rPr lang="en-US" sz="2600" dirty="0"/>
              <a:t> </a:t>
            </a:r>
            <a:r>
              <a:rPr lang="en-US" sz="2600" dirty="0" err="1"/>
              <a:t>varianta</a:t>
            </a:r>
            <a:r>
              <a:rPr lang="en-US" sz="2600" dirty="0"/>
              <a:t> </a:t>
            </a:r>
            <a:r>
              <a:rPr lang="en-US" sz="2600" dirty="0" err="1"/>
              <a:t>sa</a:t>
            </a:r>
            <a:r>
              <a:rPr lang="en-US" sz="2600" dirty="0"/>
              <a:t> </a:t>
            </a:r>
            <a:r>
              <a:rPr lang="en-US" sz="2600" dirty="0" err="1"/>
              <a:t>simplificata</a:t>
            </a:r>
            <a:r>
              <a:rPr lang="en-US" sz="2600" dirty="0"/>
              <a:t> 0&lt;</a:t>
            </a:r>
            <a:r>
              <a:rPr lang="el-GR" sz="2600" dirty="0"/>
              <a:t>β</a:t>
            </a:r>
            <a:r>
              <a:rPr lang="en-US" sz="2600" baseline="-25000" dirty="0"/>
              <a:t>1</a:t>
            </a:r>
            <a:r>
              <a:rPr lang="en-US" sz="2600" dirty="0"/>
              <a:t>&lt;1.</a:t>
            </a:r>
          </a:p>
          <a:p>
            <a:pPr marL="0" indent="0"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335563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 smtClean="0">
                <a:solidFill>
                  <a:srgbClr val="C00000"/>
                </a:solidFill>
              </a:rPr>
              <a:t>DIFERENTA - INTEGRARE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>
          <a:xfrm>
            <a:off x="1326995" y="1311937"/>
            <a:ext cx="10716321" cy="4899291"/>
          </a:xfrm>
        </p:spPr>
        <p:txBody>
          <a:bodyPr>
            <a:normAutofit/>
          </a:bodyPr>
          <a:lstStyle/>
          <a:p>
            <a:pPr marL="0" indent="290513">
              <a:buNone/>
            </a:pPr>
            <a:endParaRPr lang="en-US" sz="2600" dirty="0" smtClean="0"/>
          </a:p>
          <a:p>
            <a:pPr marL="0" indent="290513">
              <a:buNone/>
            </a:pPr>
            <a:endParaRPr lang="en-US" sz="2600" dirty="0" smtClean="0"/>
          </a:p>
          <a:p>
            <a:pPr marL="0" indent="290513">
              <a:buNone/>
            </a:pPr>
            <a:r>
              <a:rPr lang="en-US" sz="2600" dirty="0" err="1" smtClean="0"/>
              <a:t>Spunem</a:t>
            </a:r>
            <a:r>
              <a:rPr lang="en-US" sz="2600" dirty="0" smtClean="0"/>
              <a:t> </a:t>
            </a:r>
            <a:r>
              <a:rPr lang="en-US" sz="2600" dirty="0" err="1" smtClean="0"/>
              <a:t>despre</a:t>
            </a:r>
            <a:r>
              <a:rPr lang="en-US" sz="2600" dirty="0" smtClean="0"/>
              <a:t> o ST (</a:t>
            </a:r>
            <a:r>
              <a:rPr lang="en-US" sz="2600" dirty="0" err="1" smtClean="0"/>
              <a:t>Y</a:t>
            </a:r>
            <a:r>
              <a:rPr lang="en-US" sz="2600" baseline="-25000" dirty="0" err="1" smtClean="0"/>
              <a:t>t</a:t>
            </a:r>
            <a:r>
              <a:rPr lang="en-US" sz="2600" dirty="0" smtClean="0"/>
              <a:t>) ca </a:t>
            </a:r>
            <a:r>
              <a:rPr lang="en-US" sz="2600" dirty="0" err="1" smtClean="0"/>
              <a:t>este</a:t>
            </a:r>
            <a:r>
              <a:rPr lang="en-US" sz="2600" dirty="0" smtClean="0"/>
              <a:t> </a:t>
            </a:r>
            <a:r>
              <a:rPr lang="en-US" sz="2600" dirty="0" err="1" smtClean="0"/>
              <a:t>integrata</a:t>
            </a:r>
            <a:r>
              <a:rPr lang="en-US" sz="2600" dirty="0" smtClean="0"/>
              <a:t> de </a:t>
            </a:r>
            <a:r>
              <a:rPr lang="en-US" sz="2600" dirty="0" err="1" smtClean="0"/>
              <a:t>ordinul</a:t>
            </a:r>
            <a:r>
              <a:rPr lang="en-US" sz="2600" dirty="0" smtClean="0"/>
              <a:t> </a:t>
            </a:r>
            <a:r>
              <a:rPr lang="en-US" sz="2600" dirty="0" err="1" smtClean="0"/>
              <a:t>intai</a:t>
            </a:r>
            <a:r>
              <a:rPr lang="en-US" sz="2600" dirty="0" smtClean="0"/>
              <a:t> </a:t>
            </a:r>
            <a:r>
              <a:rPr lang="en-US" sz="2600" dirty="0" err="1" smtClean="0"/>
              <a:t>daca</a:t>
            </a:r>
            <a:r>
              <a:rPr lang="en-US" sz="2600" dirty="0" smtClean="0"/>
              <a:t> </a:t>
            </a:r>
            <a:r>
              <a:rPr lang="en-US" sz="2600" dirty="0" err="1" smtClean="0"/>
              <a:t>Y</a:t>
            </a:r>
            <a:r>
              <a:rPr lang="en-US" sz="2600" baseline="-25000" dirty="0" err="1" smtClean="0"/>
              <a:t>t</a:t>
            </a:r>
            <a:r>
              <a:rPr lang="en-US" sz="2600" dirty="0" smtClean="0"/>
              <a:t> </a:t>
            </a:r>
            <a:r>
              <a:rPr lang="en-US" sz="2600" dirty="0" err="1" smtClean="0"/>
              <a:t>nestationara</a:t>
            </a:r>
            <a:r>
              <a:rPr lang="en-US" sz="2600" dirty="0" smtClean="0"/>
              <a:t> </a:t>
            </a:r>
            <a:r>
              <a:rPr lang="en-US" sz="2600" dirty="0" err="1" smtClean="0"/>
              <a:t>iar</a:t>
            </a:r>
            <a:r>
              <a:rPr lang="en-US" sz="2600" dirty="0" smtClean="0"/>
              <a:t> </a:t>
            </a:r>
            <a:r>
              <a:rPr lang="el-GR" sz="2600" dirty="0" smtClean="0"/>
              <a:t>Δ</a:t>
            </a:r>
            <a:r>
              <a:rPr lang="en-US" sz="2600" dirty="0" err="1" smtClean="0"/>
              <a:t>Y</a:t>
            </a:r>
            <a:r>
              <a:rPr lang="en-US" sz="2600" baseline="-25000" dirty="0" err="1" smtClean="0"/>
              <a:t>t</a:t>
            </a:r>
            <a:r>
              <a:rPr lang="en-US" sz="2600" dirty="0" smtClean="0"/>
              <a:t> </a:t>
            </a:r>
            <a:r>
              <a:rPr lang="en-US" sz="2600" dirty="0" err="1" smtClean="0"/>
              <a:t>este</a:t>
            </a:r>
            <a:r>
              <a:rPr lang="en-US" sz="2600" dirty="0" smtClean="0"/>
              <a:t> </a:t>
            </a:r>
            <a:r>
              <a:rPr lang="en-US" sz="2600" dirty="0" err="1" smtClean="0"/>
              <a:t>stationara</a:t>
            </a:r>
            <a:r>
              <a:rPr lang="en-US" sz="2600" dirty="0" smtClean="0"/>
              <a:t> </a:t>
            </a:r>
            <a:r>
              <a:rPr lang="en-US" sz="2600" dirty="0" err="1" smtClean="0"/>
              <a:t>si</a:t>
            </a:r>
            <a:r>
              <a:rPr lang="en-US" sz="2600" dirty="0" smtClean="0"/>
              <a:t> </a:t>
            </a:r>
            <a:r>
              <a:rPr lang="en-US" sz="2600" dirty="0" err="1" smtClean="0"/>
              <a:t>scriem</a:t>
            </a:r>
            <a:r>
              <a:rPr lang="en-US" sz="2600" dirty="0" smtClean="0"/>
              <a:t> </a:t>
            </a:r>
            <a:r>
              <a:rPr lang="en-US" sz="2600" dirty="0" err="1" smtClean="0"/>
              <a:t>aceasta</a:t>
            </a:r>
            <a:r>
              <a:rPr lang="en-US" sz="2600" dirty="0" smtClean="0"/>
              <a:t> : </a:t>
            </a:r>
            <a:r>
              <a:rPr lang="en-US" sz="2600" b="1" dirty="0" err="1" smtClean="0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 smtClean="0">
                <a:solidFill>
                  <a:srgbClr val="C00000"/>
                </a:solidFill>
              </a:rPr>
              <a:t>t</a:t>
            </a:r>
            <a:r>
              <a:rPr lang="en-US" sz="2600" b="1" dirty="0" err="1" smtClean="0">
                <a:solidFill>
                  <a:srgbClr val="C00000"/>
                </a:solidFill>
              </a:rPr>
              <a:t>~I</a:t>
            </a:r>
            <a:r>
              <a:rPr lang="en-US" sz="2600" b="1" dirty="0" smtClean="0">
                <a:solidFill>
                  <a:srgbClr val="C00000"/>
                </a:solidFill>
              </a:rPr>
              <a:t>(1) </a:t>
            </a:r>
            <a:r>
              <a:rPr lang="en-US" sz="2600" b="1" dirty="0" smtClean="0">
                <a:solidFill>
                  <a:srgbClr val="C00000"/>
                </a:solidFill>
                <a:sym typeface="Wingdings" pitchFamily="2" charset="2"/>
              </a:rPr>
              <a:t>(1-L)</a:t>
            </a:r>
            <a:r>
              <a:rPr lang="en-US" sz="2600" b="1" dirty="0" err="1" smtClean="0">
                <a:solidFill>
                  <a:srgbClr val="C00000"/>
                </a:solidFill>
                <a:sym typeface="Wingdings" pitchFamily="2" charset="2"/>
              </a:rPr>
              <a:t>Y</a:t>
            </a:r>
            <a:r>
              <a:rPr lang="en-US" sz="2600" b="1" baseline="-25000" dirty="0" err="1" smtClean="0">
                <a:solidFill>
                  <a:srgbClr val="C00000"/>
                </a:solidFill>
                <a:sym typeface="Wingdings" pitchFamily="2" charset="2"/>
              </a:rPr>
              <a:t>t</a:t>
            </a:r>
            <a:r>
              <a:rPr lang="en-US" sz="2600" b="1" dirty="0" smtClean="0">
                <a:solidFill>
                  <a:srgbClr val="C00000"/>
                </a:solidFill>
                <a:sym typeface="Wingdings" pitchFamily="2" charset="2"/>
              </a:rPr>
              <a:t>=</a:t>
            </a:r>
            <a:r>
              <a:rPr lang="el-GR" sz="2600" b="1" dirty="0" smtClean="0">
                <a:solidFill>
                  <a:srgbClr val="C00000"/>
                </a:solidFill>
                <a:sym typeface="Wingdings" pitchFamily="2" charset="2"/>
              </a:rPr>
              <a:t>ε</a:t>
            </a:r>
            <a:r>
              <a:rPr lang="en-US" sz="2600" b="1" baseline="-25000" dirty="0" smtClean="0">
                <a:solidFill>
                  <a:srgbClr val="C00000"/>
                </a:solidFill>
                <a:sym typeface="Wingdings" pitchFamily="2" charset="2"/>
              </a:rPr>
              <a:t>t</a:t>
            </a:r>
            <a:r>
              <a:rPr lang="en-US" sz="2600" b="1" dirty="0" smtClean="0">
                <a:solidFill>
                  <a:srgbClr val="C00000"/>
                </a:solidFill>
              </a:rPr>
              <a:t> </a:t>
            </a:r>
            <a:r>
              <a:rPr lang="en-US" sz="2600" b="1" dirty="0" smtClean="0">
                <a:solidFill>
                  <a:srgbClr val="C00000"/>
                </a:solidFill>
                <a:sym typeface="Wingdings" pitchFamily="2" charset="2"/>
              </a:rPr>
              <a:t> </a:t>
            </a:r>
            <a:r>
              <a:rPr lang="el-GR" sz="2600" b="1" dirty="0" smtClean="0">
                <a:solidFill>
                  <a:srgbClr val="C00000"/>
                </a:solidFill>
              </a:rPr>
              <a:t>Δ</a:t>
            </a:r>
            <a:r>
              <a:rPr lang="en-US" sz="2600" b="1" dirty="0" err="1" smtClean="0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 smtClean="0">
                <a:solidFill>
                  <a:srgbClr val="C00000"/>
                </a:solidFill>
              </a:rPr>
              <a:t>t</a:t>
            </a:r>
            <a:r>
              <a:rPr lang="en-US" sz="2600" b="1" dirty="0" err="1" smtClean="0">
                <a:solidFill>
                  <a:srgbClr val="C00000"/>
                </a:solidFill>
              </a:rPr>
              <a:t>~I</a:t>
            </a:r>
            <a:r>
              <a:rPr lang="en-US" sz="2600" b="1" dirty="0" smtClean="0">
                <a:solidFill>
                  <a:srgbClr val="C00000"/>
                </a:solidFill>
              </a:rPr>
              <a:t>(0)</a:t>
            </a:r>
          </a:p>
          <a:p>
            <a:pPr marL="0" indent="290513">
              <a:buNone/>
            </a:pPr>
            <a:endParaRPr lang="en-US" sz="2600" dirty="0" smtClean="0"/>
          </a:p>
          <a:p>
            <a:pPr marL="0" indent="290513">
              <a:buNone/>
            </a:pPr>
            <a:r>
              <a:rPr lang="en-US" sz="2600" dirty="0" err="1" smtClean="0"/>
              <a:t>Spunem</a:t>
            </a:r>
            <a:r>
              <a:rPr lang="en-US" sz="2600" dirty="0" smtClean="0"/>
              <a:t> </a:t>
            </a:r>
            <a:r>
              <a:rPr lang="en-US" sz="2600" dirty="0" err="1" smtClean="0"/>
              <a:t>despre</a:t>
            </a:r>
            <a:r>
              <a:rPr lang="en-US" sz="2600" dirty="0" smtClean="0"/>
              <a:t> o ST (</a:t>
            </a:r>
            <a:r>
              <a:rPr lang="en-US" sz="2600" dirty="0" err="1" smtClean="0"/>
              <a:t>Y</a:t>
            </a:r>
            <a:r>
              <a:rPr lang="en-US" sz="2600" baseline="-25000" dirty="0" err="1" smtClean="0"/>
              <a:t>t</a:t>
            </a:r>
            <a:r>
              <a:rPr lang="en-US" sz="2600" dirty="0" smtClean="0"/>
              <a:t>) ca </a:t>
            </a:r>
            <a:r>
              <a:rPr lang="en-US" sz="2600" dirty="0" err="1" smtClean="0"/>
              <a:t>este</a:t>
            </a:r>
            <a:r>
              <a:rPr lang="en-US" sz="2600" dirty="0" smtClean="0"/>
              <a:t> </a:t>
            </a:r>
            <a:r>
              <a:rPr lang="en-US" sz="2600" dirty="0" err="1" smtClean="0"/>
              <a:t>integrata</a:t>
            </a:r>
            <a:r>
              <a:rPr lang="en-US" sz="2600" dirty="0" smtClean="0"/>
              <a:t> de </a:t>
            </a:r>
            <a:r>
              <a:rPr lang="en-US" sz="2600" dirty="0" err="1" smtClean="0"/>
              <a:t>ordinul</a:t>
            </a:r>
            <a:r>
              <a:rPr lang="en-US" sz="2600" dirty="0" smtClean="0"/>
              <a:t> </a:t>
            </a:r>
            <a:r>
              <a:rPr lang="en-US" sz="2600" dirty="0" err="1" smtClean="0"/>
              <a:t>doi</a:t>
            </a:r>
            <a:r>
              <a:rPr lang="en-US" sz="2600" dirty="0" smtClean="0"/>
              <a:t> </a:t>
            </a:r>
            <a:r>
              <a:rPr lang="en-US" sz="2600" dirty="0" err="1" smtClean="0"/>
              <a:t>daca</a:t>
            </a:r>
            <a:r>
              <a:rPr lang="en-US" sz="2600" dirty="0" smtClean="0"/>
              <a:t> </a:t>
            </a:r>
            <a:r>
              <a:rPr lang="en-US" sz="2600" dirty="0" err="1" smtClean="0"/>
              <a:t>Y</a:t>
            </a:r>
            <a:r>
              <a:rPr lang="en-US" sz="2600" baseline="-25000" dirty="0" err="1" smtClean="0"/>
              <a:t>t</a:t>
            </a:r>
            <a:r>
              <a:rPr lang="en-US" sz="2600" dirty="0" smtClean="0"/>
              <a:t> </a:t>
            </a:r>
            <a:r>
              <a:rPr lang="en-US" sz="2600" dirty="0" err="1" smtClean="0"/>
              <a:t>nestationara</a:t>
            </a:r>
            <a:r>
              <a:rPr lang="en-US" sz="2600" dirty="0" smtClean="0"/>
              <a:t> </a:t>
            </a:r>
            <a:r>
              <a:rPr lang="en-US" sz="2600" dirty="0" err="1" smtClean="0"/>
              <a:t>iar</a:t>
            </a:r>
            <a:r>
              <a:rPr lang="en-US" sz="2600" dirty="0" smtClean="0"/>
              <a:t> </a:t>
            </a:r>
            <a:r>
              <a:rPr lang="el-GR" sz="2600" dirty="0" smtClean="0"/>
              <a:t>Δ</a:t>
            </a:r>
            <a:r>
              <a:rPr lang="en-US" sz="2600" baseline="30000" dirty="0" smtClean="0"/>
              <a:t>2</a:t>
            </a:r>
            <a:r>
              <a:rPr lang="en-US" sz="2600" dirty="0" smtClean="0"/>
              <a:t>Y</a:t>
            </a:r>
            <a:r>
              <a:rPr lang="en-US" sz="2600" baseline="-25000" dirty="0" smtClean="0"/>
              <a:t>t</a:t>
            </a:r>
            <a:r>
              <a:rPr lang="en-US" sz="2600" dirty="0" smtClean="0"/>
              <a:t> </a:t>
            </a:r>
            <a:r>
              <a:rPr lang="en-US" sz="2600" dirty="0" err="1" smtClean="0"/>
              <a:t>stationara</a:t>
            </a:r>
            <a:r>
              <a:rPr lang="en-US" sz="2600" dirty="0" smtClean="0"/>
              <a:t> </a:t>
            </a:r>
            <a:r>
              <a:rPr lang="en-US" sz="2600" dirty="0" err="1" smtClean="0"/>
              <a:t>si</a:t>
            </a:r>
            <a:r>
              <a:rPr lang="en-US" sz="2600" dirty="0" smtClean="0"/>
              <a:t> </a:t>
            </a:r>
            <a:r>
              <a:rPr lang="en-US" sz="2600" dirty="0" err="1" smtClean="0"/>
              <a:t>scriem</a:t>
            </a:r>
            <a:r>
              <a:rPr lang="en-US" sz="2600" dirty="0" smtClean="0"/>
              <a:t> </a:t>
            </a:r>
            <a:r>
              <a:rPr lang="en-US" sz="2600" dirty="0" err="1" smtClean="0"/>
              <a:t>aceasta</a:t>
            </a:r>
            <a:r>
              <a:rPr lang="en-US" sz="2600" dirty="0" smtClean="0"/>
              <a:t> : </a:t>
            </a:r>
            <a:r>
              <a:rPr lang="en-US" sz="2600" b="1" dirty="0" err="1" smtClean="0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 smtClean="0">
                <a:solidFill>
                  <a:srgbClr val="C00000"/>
                </a:solidFill>
              </a:rPr>
              <a:t>t</a:t>
            </a:r>
            <a:r>
              <a:rPr lang="en-US" sz="2600" b="1" dirty="0" err="1" smtClean="0">
                <a:solidFill>
                  <a:srgbClr val="C00000"/>
                </a:solidFill>
              </a:rPr>
              <a:t>~I</a:t>
            </a:r>
            <a:r>
              <a:rPr lang="en-US" sz="2600" b="1" dirty="0" smtClean="0">
                <a:solidFill>
                  <a:srgbClr val="C00000"/>
                </a:solidFill>
              </a:rPr>
              <a:t>(2) </a:t>
            </a:r>
            <a:r>
              <a:rPr lang="en-US" sz="2600" b="1" dirty="0" smtClean="0">
                <a:solidFill>
                  <a:srgbClr val="C00000"/>
                </a:solidFill>
                <a:sym typeface="Wingdings" pitchFamily="2" charset="2"/>
              </a:rPr>
              <a:t> </a:t>
            </a:r>
            <a:r>
              <a:rPr lang="el-GR" sz="2600" b="1" dirty="0" smtClean="0">
                <a:solidFill>
                  <a:srgbClr val="C00000"/>
                </a:solidFill>
              </a:rPr>
              <a:t>Δ</a:t>
            </a:r>
            <a:r>
              <a:rPr lang="en-US" sz="2600" b="1" dirty="0" err="1" smtClean="0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 smtClean="0">
                <a:solidFill>
                  <a:srgbClr val="C00000"/>
                </a:solidFill>
              </a:rPr>
              <a:t>t</a:t>
            </a:r>
            <a:r>
              <a:rPr lang="en-US" sz="2600" b="1" dirty="0" err="1" smtClean="0">
                <a:solidFill>
                  <a:srgbClr val="C00000"/>
                </a:solidFill>
              </a:rPr>
              <a:t>~I</a:t>
            </a:r>
            <a:r>
              <a:rPr lang="en-US" sz="2600" b="1" dirty="0" smtClean="0">
                <a:solidFill>
                  <a:srgbClr val="C00000"/>
                </a:solidFill>
              </a:rPr>
              <a:t>(1)</a:t>
            </a:r>
            <a:r>
              <a:rPr lang="en-US" sz="2600" b="1" dirty="0" smtClean="0">
                <a:solidFill>
                  <a:srgbClr val="C00000"/>
                </a:solidFill>
                <a:sym typeface="Wingdings" pitchFamily="2" charset="2"/>
              </a:rPr>
              <a:t> </a:t>
            </a:r>
            <a:r>
              <a:rPr lang="el-GR" sz="2600" b="1" dirty="0" smtClean="0">
                <a:solidFill>
                  <a:srgbClr val="C00000"/>
                </a:solidFill>
              </a:rPr>
              <a:t> Δ</a:t>
            </a:r>
            <a:r>
              <a:rPr lang="en-US" sz="26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2600" b="1" dirty="0" smtClean="0">
                <a:solidFill>
                  <a:srgbClr val="C00000"/>
                </a:solidFill>
              </a:rPr>
              <a:t>Y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t</a:t>
            </a:r>
            <a:r>
              <a:rPr lang="en-US" sz="2600" b="1" dirty="0" smtClean="0">
                <a:solidFill>
                  <a:srgbClr val="C00000"/>
                </a:solidFill>
              </a:rPr>
              <a:t>~I(0)</a:t>
            </a:r>
            <a:r>
              <a:rPr lang="en-US" sz="2600" b="1" dirty="0" smtClean="0">
                <a:solidFill>
                  <a:srgbClr val="C00000"/>
                </a:solidFill>
                <a:sym typeface="Wingdings" pitchFamily="2" charset="2"/>
              </a:rPr>
              <a:t> (1-L)</a:t>
            </a:r>
            <a:r>
              <a:rPr lang="en-US" sz="2600" b="1" baseline="30000" dirty="0" smtClean="0">
                <a:solidFill>
                  <a:srgbClr val="C00000"/>
                </a:solidFill>
                <a:sym typeface="Wingdings" pitchFamily="2" charset="2"/>
              </a:rPr>
              <a:t>2</a:t>
            </a:r>
            <a:r>
              <a:rPr lang="en-US" sz="2600" b="1" dirty="0" smtClean="0">
                <a:solidFill>
                  <a:srgbClr val="C00000"/>
                </a:solidFill>
                <a:sym typeface="Wingdings" pitchFamily="2" charset="2"/>
              </a:rPr>
              <a:t>Y</a:t>
            </a:r>
            <a:r>
              <a:rPr lang="en-US" sz="2600" b="1" baseline="-25000" dirty="0" smtClean="0">
                <a:solidFill>
                  <a:srgbClr val="C00000"/>
                </a:solidFill>
                <a:sym typeface="Wingdings" pitchFamily="2" charset="2"/>
              </a:rPr>
              <a:t>t</a:t>
            </a:r>
            <a:r>
              <a:rPr lang="en-US" sz="2600" b="1" dirty="0" smtClean="0">
                <a:solidFill>
                  <a:srgbClr val="C00000"/>
                </a:solidFill>
                <a:sym typeface="Wingdings" pitchFamily="2" charset="2"/>
              </a:rPr>
              <a:t>=</a:t>
            </a:r>
            <a:r>
              <a:rPr lang="el-GR" sz="2600" b="1" dirty="0" smtClean="0">
                <a:solidFill>
                  <a:srgbClr val="C00000"/>
                </a:solidFill>
                <a:sym typeface="Wingdings" pitchFamily="2" charset="2"/>
              </a:rPr>
              <a:t> ε</a:t>
            </a:r>
            <a:r>
              <a:rPr lang="en-US" sz="2600" b="1" baseline="-25000" dirty="0" smtClean="0">
                <a:solidFill>
                  <a:srgbClr val="C00000"/>
                </a:solidFill>
                <a:sym typeface="Wingdings" pitchFamily="2" charset="2"/>
              </a:rPr>
              <a:t>t</a:t>
            </a:r>
            <a:r>
              <a:rPr lang="en-US" sz="2600" b="1" dirty="0" smtClean="0">
                <a:solidFill>
                  <a:srgbClr val="C00000"/>
                </a:solidFill>
                <a:sym typeface="Wingdings" pitchFamily="2" charset="2"/>
              </a:rPr>
              <a:t> </a:t>
            </a:r>
            <a:endParaRPr lang="en-US" sz="2600" b="1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538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 err="1" smtClean="0">
                <a:solidFill>
                  <a:srgbClr val="C00000"/>
                </a:solidFill>
              </a:rPr>
              <a:t>Testul</a:t>
            </a:r>
            <a:r>
              <a:rPr lang="en-US" b="1" dirty="0" smtClean="0">
                <a:solidFill>
                  <a:srgbClr val="C00000"/>
                </a:solidFill>
              </a:rPr>
              <a:t> Dickey Fuller (DF)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>
          <a:xfrm>
            <a:off x="1494263" y="1405054"/>
            <a:ext cx="10493297" cy="514814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600" dirty="0" err="1" smtClean="0"/>
              <a:t>Testul</a:t>
            </a:r>
            <a:r>
              <a:rPr lang="en-US" sz="2600" dirty="0" smtClean="0"/>
              <a:t> </a:t>
            </a:r>
            <a:r>
              <a:rPr lang="en-US" sz="2600" b="1" dirty="0" smtClean="0">
                <a:solidFill>
                  <a:srgbClr val="C00000"/>
                </a:solidFill>
              </a:rPr>
              <a:t>DF</a:t>
            </a:r>
            <a:r>
              <a:rPr lang="en-US" sz="2600" dirty="0" smtClean="0"/>
              <a:t> </a:t>
            </a:r>
            <a:r>
              <a:rPr lang="en-US" sz="2600" dirty="0" err="1" smtClean="0"/>
              <a:t>este</a:t>
            </a:r>
            <a:r>
              <a:rPr lang="en-US" sz="2600" dirty="0" smtClean="0"/>
              <a:t> </a:t>
            </a:r>
            <a:r>
              <a:rPr lang="en-US" sz="2600" dirty="0" err="1" smtClean="0"/>
              <a:t>aplicabil</a:t>
            </a:r>
            <a:r>
              <a:rPr lang="en-US" sz="2600" dirty="0" smtClean="0"/>
              <a:t> </a:t>
            </a:r>
            <a:r>
              <a:rPr lang="en-US" sz="2600" dirty="0" err="1" smtClean="0"/>
              <a:t>modelelor</a:t>
            </a:r>
            <a:r>
              <a:rPr lang="en-US" sz="2600" dirty="0" smtClean="0"/>
              <a:t> de tip AR </a:t>
            </a:r>
            <a:r>
              <a:rPr lang="en-US" sz="2600" dirty="0" err="1" smtClean="0"/>
              <a:t>si</a:t>
            </a:r>
            <a:r>
              <a:rPr lang="en-US" sz="2600" dirty="0" smtClean="0"/>
              <a:t> </a:t>
            </a:r>
            <a:r>
              <a:rPr lang="en-US" sz="2600" dirty="0" err="1" smtClean="0"/>
              <a:t>testeaza</a:t>
            </a:r>
            <a:r>
              <a:rPr lang="en-US" sz="2600" dirty="0" smtClean="0"/>
              <a:t> </a:t>
            </a:r>
            <a:r>
              <a:rPr lang="en-US" sz="2600" dirty="0" err="1" smtClean="0"/>
              <a:t>prezenta</a:t>
            </a:r>
            <a:r>
              <a:rPr lang="en-US" sz="2600" dirty="0" smtClean="0"/>
              <a:t> </a:t>
            </a:r>
            <a:r>
              <a:rPr lang="en-US" sz="2600" dirty="0" err="1" smtClean="0"/>
              <a:t>radacinii</a:t>
            </a:r>
            <a:r>
              <a:rPr lang="en-US" sz="2600" dirty="0" smtClean="0"/>
              <a:t> </a:t>
            </a:r>
            <a:r>
              <a:rPr lang="en-US" sz="2600" dirty="0" err="1" smtClean="0"/>
              <a:t>unitate</a:t>
            </a:r>
            <a:r>
              <a:rPr lang="en-US" sz="2600" dirty="0" smtClean="0"/>
              <a:t> </a:t>
            </a:r>
            <a:r>
              <a:rPr lang="en-US" sz="2600" dirty="0" err="1" smtClean="0"/>
              <a:t>pentru</a:t>
            </a:r>
            <a:r>
              <a:rPr lang="en-US" sz="2600" dirty="0" smtClean="0"/>
              <a:t> </a:t>
            </a:r>
            <a:r>
              <a:rPr lang="en-US" sz="2600" dirty="0" err="1" smtClean="0"/>
              <a:t>trei</a:t>
            </a:r>
            <a:r>
              <a:rPr lang="en-US" sz="2600" dirty="0" smtClean="0"/>
              <a:t> </a:t>
            </a:r>
            <a:r>
              <a:rPr lang="en-US" sz="2600" dirty="0" err="1" smtClean="0"/>
              <a:t>tipuri</a:t>
            </a:r>
            <a:r>
              <a:rPr lang="en-US" sz="2600" dirty="0" smtClean="0"/>
              <a:t> de </a:t>
            </a:r>
            <a:r>
              <a:rPr lang="en-US" sz="2600" dirty="0" err="1" smtClean="0"/>
              <a:t>modele</a:t>
            </a:r>
            <a:r>
              <a:rPr lang="en-US" sz="2600" dirty="0" smtClean="0"/>
              <a:t> de </a:t>
            </a:r>
            <a:r>
              <a:rPr lang="en-US" sz="2600" dirty="0" err="1" smtClean="0"/>
              <a:t>procese</a:t>
            </a:r>
            <a:r>
              <a:rPr lang="en-US" sz="2600" dirty="0" smtClean="0"/>
              <a:t> </a:t>
            </a:r>
            <a:r>
              <a:rPr lang="en-US" sz="2600" dirty="0" err="1" smtClean="0"/>
              <a:t>stohastice</a:t>
            </a:r>
            <a:r>
              <a:rPr lang="en-US" sz="2600" dirty="0" smtClean="0"/>
              <a:t>:</a:t>
            </a:r>
          </a:p>
          <a:p>
            <a:pPr marL="0" indent="0" algn="just">
              <a:buNone/>
            </a:pPr>
            <a:r>
              <a:rPr lang="en-US" sz="2600" b="1" dirty="0" smtClean="0">
                <a:solidFill>
                  <a:srgbClr val="C00000"/>
                </a:solidFill>
              </a:rPr>
              <a:t>AR(1) :</a:t>
            </a:r>
            <a:r>
              <a:rPr lang="en-US" sz="2600" dirty="0" smtClean="0">
                <a:solidFill>
                  <a:srgbClr val="C00000"/>
                </a:solidFill>
              </a:rPr>
              <a:t>                              </a:t>
            </a:r>
            <a:r>
              <a:rPr lang="en-US" sz="2600" b="1" dirty="0" err="1" smtClean="0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 smtClean="0">
                <a:solidFill>
                  <a:srgbClr val="C00000"/>
                </a:solidFill>
              </a:rPr>
              <a:t>t</a:t>
            </a:r>
            <a:r>
              <a:rPr lang="en-US" sz="2600" b="1" dirty="0" smtClean="0">
                <a:solidFill>
                  <a:srgbClr val="C00000"/>
                </a:solidFill>
              </a:rPr>
              <a:t>=</a:t>
            </a:r>
            <a:r>
              <a:rPr lang="el-GR" sz="2600" b="1" dirty="0" smtClean="0">
                <a:solidFill>
                  <a:srgbClr val="C00000"/>
                </a:solidFill>
              </a:rPr>
              <a:t>β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1</a:t>
            </a:r>
            <a:r>
              <a:rPr lang="en-US" sz="2600" b="1" dirty="0" smtClean="0">
                <a:solidFill>
                  <a:srgbClr val="C00000"/>
                </a:solidFill>
              </a:rPr>
              <a:t>Y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t-1</a:t>
            </a:r>
            <a:r>
              <a:rPr lang="en-US" sz="2600" b="1" dirty="0" smtClean="0">
                <a:solidFill>
                  <a:srgbClr val="C00000"/>
                </a:solidFill>
              </a:rPr>
              <a:t>+</a:t>
            </a:r>
            <a:r>
              <a:rPr lang="el-GR" sz="2600" b="1" dirty="0" smtClean="0">
                <a:solidFill>
                  <a:srgbClr val="C00000"/>
                </a:solidFill>
              </a:rPr>
              <a:t>ε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t</a:t>
            </a:r>
            <a:endParaRPr lang="en-US" sz="2600" b="1" dirty="0" smtClean="0">
              <a:solidFill>
                <a:srgbClr val="C00000"/>
              </a:solidFill>
            </a:endParaRPr>
          </a:p>
          <a:p>
            <a:pPr marL="0" indent="0" algn="just">
              <a:buNone/>
            </a:pPr>
            <a:r>
              <a:rPr lang="en-US" sz="2600" b="1" dirty="0" smtClean="0">
                <a:solidFill>
                  <a:srgbClr val="C00000"/>
                </a:solidFill>
              </a:rPr>
              <a:t>AR(1) +ct.:                       </a:t>
            </a:r>
            <a:r>
              <a:rPr lang="en-US" sz="2600" b="1" dirty="0" err="1" smtClean="0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 smtClean="0">
                <a:solidFill>
                  <a:srgbClr val="C00000"/>
                </a:solidFill>
              </a:rPr>
              <a:t>t</a:t>
            </a:r>
            <a:r>
              <a:rPr lang="en-US" sz="2600" b="1" dirty="0" smtClean="0">
                <a:solidFill>
                  <a:srgbClr val="C00000"/>
                </a:solidFill>
              </a:rPr>
              <a:t>=</a:t>
            </a:r>
            <a:r>
              <a:rPr lang="el-GR" sz="2600" b="1" dirty="0" smtClean="0">
                <a:solidFill>
                  <a:srgbClr val="C00000"/>
                </a:solidFill>
              </a:rPr>
              <a:t>β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0</a:t>
            </a:r>
            <a:r>
              <a:rPr lang="en-US" sz="2600" b="1" dirty="0" smtClean="0">
                <a:solidFill>
                  <a:srgbClr val="C00000"/>
                </a:solidFill>
              </a:rPr>
              <a:t>+</a:t>
            </a:r>
            <a:r>
              <a:rPr lang="el-GR" sz="2600" b="1" dirty="0" smtClean="0">
                <a:solidFill>
                  <a:srgbClr val="C00000"/>
                </a:solidFill>
              </a:rPr>
              <a:t>β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1</a:t>
            </a:r>
            <a:r>
              <a:rPr lang="en-US" sz="2600" b="1" dirty="0" smtClean="0">
                <a:solidFill>
                  <a:srgbClr val="C00000"/>
                </a:solidFill>
              </a:rPr>
              <a:t>Y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t-1</a:t>
            </a:r>
            <a:r>
              <a:rPr lang="en-US" sz="2600" b="1" dirty="0" smtClean="0">
                <a:solidFill>
                  <a:srgbClr val="C00000"/>
                </a:solidFill>
              </a:rPr>
              <a:t>+</a:t>
            </a:r>
            <a:r>
              <a:rPr lang="el-GR" sz="2600" b="1" dirty="0" smtClean="0">
                <a:solidFill>
                  <a:srgbClr val="C00000"/>
                </a:solidFill>
              </a:rPr>
              <a:t>ε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t</a:t>
            </a:r>
            <a:endParaRPr lang="en-US" sz="2600" b="1" dirty="0" smtClean="0">
              <a:solidFill>
                <a:srgbClr val="C00000"/>
              </a:solidFill>
            </a:endParaRPr>
          </a:p>
          <a:p>
            <a:pPr marL="0" indent="0" algn="just">
              <a:buNone/>
            </a:pPr>
            <a:r>
              <a:rPr lang="en-US" sz="2600" b="1" dirty="0" smtClean="0">
                <a:solidFill>
                  <a:srgbClr val="C00000"/>
                </a:solidFill>
              </a:rPr>
              <a:t>AR(1) +</a:t>
            </a:r>
            <a:r>
              <a:rPr lang="en-US" sz="2600" b="1" dirty="0" err="1" smtClean="0">
                <a:solidFill>
                  <a:srgbClr val="C00000"/>
                </a:solidFill>
              </a:rPr>
              <a:t>ct.+trend</a:t>
            </a:r>
            <a:r>
              <a:rPr lang="en-US" sz="2600" b="1" dirty="0" smtClean="0">
                <a:solidFill>
                  <a:srgbClr val="C00000"/>
                </a:solidFill>
              </a:rPr>
              <a:t> det.: </a:t>
            </a:r>
            <a:r>
              <a:rPr lang="en-US" sz="2600" b="1" dirty="0" err="1" smtClean="0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 smtClean="0">
                <a:solidFill>
                  <a:srgbClr val="C00000"/>
                </a:solidFill>
              </a:rPr>
              <a:t>t</a:t>
            </a:r>
            <a:r>
              <a:rPr lang="en-US" sz="2600" b="1" dirty="0" smtClean="0">
                <a:solidFill>
                  <a:srgbClr val="C00000"/>
                </a:solidFill>
              </a:rPr>
              <a:t>=</a:t>
            </a:r>
            <a:r>
              <a:rPr lang="el-GR" sz="2600" b="1" dirty="0" smtClean="0">
                <a:solidFill>
                  <a:srgbClr val="C00000"/>
                </a:solidFill>
              </a:rPr>
              <a:t>α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0</a:t>
            </a:r>
            <a:r>
              <a:rPr lang="en-US" sz="2600" b="1" dirty="0" smtClean="0">
                <a:solidFill>
                  <a:srgbClr val="C00000"/>
                </a:solidFill>
              </a:rPr>
              <a:t>+</a:t>
            </a:r>
            <a:r>
              <a:rPr lang="el-GR" sz="2600" b="1" dirty="0" smtClean="0">
                <a:solidFill>
                  <a:srgbClr val="C00000"/>
                </a:solidFill>
              </a:rPr>
              <a:t>β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1</a:t>
            </a:r>
            <a:r>
              <a:rPr lang="en-US" sz="2600" b="1" dirty="0" smtClean="0">
                <a:solidFill>
                  <a:srgbClr val="C00000"/>
                </a:solidFill>
              </a:rPr>
              <a:t>Y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t-1</a:t>
            </a:r>
            <a:r>
              <a:rPr lang="en-US" sz="2600" b="1" dirty="0" smtClean="0">
                <a:solidFill>
                  <a:srgbClr val="C00000"/>
                </a:solidFill>
              </a:rPr>
              <a:t>+</a:t>
            </a:r>
            <a:r>
              <a:rPr lang="el-GR" sz="2600" b="1" dirty="0" smtClean="0">
                <a:solidFill>
                  <a:srgbClr val="C00000"/>
                </a:solidFill>
              </a:rPr>
              <a:t>α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1</a:t>
            </a:r>
            <a:r>
              <a:rPr lang="en-US" sz="2600" b="1" dirty="0" smtClean="0">
                <a:solidFill>
                  <a:srgbClr val="C00000"/>
                </a:solidFill>
              </a:rPr>
              <a:t>t+</a:t>
            </a:r>
            <a:r>
              <a:rPr lang="el-GR" sz="2600" b="1" dirty="0" smtClean="0">
                <a:solidFill>
                  <a:srgbClr val="C00000"/>
                </a:solidFill>
              </a:rPr>
              <a:t>ε</a:t>
            </a:r>
            <a:r>
              <a:rPr lang="en-US" sz="2600" b="1" baseline="-25000" dirty="0" smtClean="0">
                <a:solidFill>
                  <a:srgbClr val="C00000"/>
                </a:solidFill>
              </a:rPr>
              <a:t>t</a:t>
            </a:r>
            <a:endParaRPr lang="en-US" sz="2600" b="1" dirty="0" smtClean="0">
              <a:solidFill>
                <a:srgbClr val="C00000"/>
              </a:solidFill>
            </a:endParaRPr>
          </a:p>
          <a:p>
            <a:pPr marL="0" indent="0" algn="just">
              <a:buNone/>
            </a:pPr>
            <a:r>
              <a:rPr lang="en-US" sz="2600" dirty="0" smtClean="0"/>
              <a:t>In </a:t>
            </a:r>
            <a:r>
              <a:rPr lang="en-US" sz="2600" dirty="0" err="1"/>
              <a:t>testarea</a:t>
            </a:r>
            <a:r>
              <a:rPr lang="en-US" sz="2600" dirty="0"/>
              <a:t> </a:t>
            </a:r>
            <a:r>
              <a:rPr lang="en-US" sz="2600" dirty="0" err="1"/>
              <a:t>radacinii</a:t>
            </a:r>
            <a:r>
              <a:rPr lang="en-US" sz="2600" dirty="0"/>
              <a:t> </a:t>
            </a:r>
            <a:r>
              <a:rPr lang="en-US" sz="2600" dirty="0" err="1"/>
              <a:t>parametru</a:t>
            </a:r>
            <a:r>
              <a:rPr lang="en-US" sz="2600" dirty="0"/>
              <a:t> de </a:t>
            </a:r>
            <a:r>
              <a:rPr lang="en-US" sz="2600" dirty="0" err="1"/>
              <a:t>interes</a:t>
            </a:r>
            <a:r>
              <a:rPr lang="en-US" sz="2600" dirty="0"/>
              <a:t> maxim </a:t>
            </a:r>
            <a:r>
              <a:rPr lang="en-US" sz="2600" dirty="0" err="1"/>
              <a:t>este</a:t>
            </a:r>
            <a:r>
              <a:rPr lang="en-US" sz="2600" dirty="0"/>
              <a:t> </a:t>
            </a:r>
            <a:r>
              <a:rPr lang="en-US" sz="2600" dirty="0" err="1"/>
              <a:t>reprezentat</a:t>
            </a:r>
            <a:r>
              <a:rPr lang="en-US" sz="2600" dirty="0"/>
              <a:t> de 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>
                <a:solidFill>
                  <a:srgbClr val="C00000"/>
                </a:solidFill>
              </a:rPr>
              <a:t>1</a:t>
            </a:r>
            <a:r>
              <a:rPr lang="en-US" sz="2600" b="1" baseline="-25000" dirty="0"/>
              <a:t> </a:t>
            </a:r>
            <a:r>
              <a:rPr lang="en-US" sz="2600" dirty="0" err="1"/>
              <a:t>iar</a:t>
            </a:r>
            <a:r>
              <a:rPr lang="en-US" sz="2600" dirty="0"/>
              <a:t> </a:t>
            </a:r>
            <a:r>
              <a:rPr lang="en-US" sz="2600" dirty="0" err="1"/>
              <a:t>valoarea</a:t>
            </a:r>
            <a:r>
              <a:rPr lang="en-US" sz="2600" dirty="0"/>
              <a:t> </a:t>
            </a:r>
            <a:r>
              <a:rPr lang="en-US" sz="2600" dirty="0" err="1"/>
              <a:t>critica</a:t>
            </a:r>
            <a:r>
              <a:rPr lang="en-US" sz="2600" dirty="0"/>
              <a:t> </a:t>
            </a:r>
            <a:r>
              <a:rPr lang="en-US" sz="2600" dirty="0" err="1"/>
              <a:t>pentru</a:t>
            </a:r>
            <a:r>
              <a:rPr lang="en-US" sz="2600" dirty="0"/>
              <a:t> </a:t>
            </a:r>
            <a:r>
              <a:rPr lang="en-US" sz="2600" dirty="0" err="1"/>
              <a:t>acest</a:t>
            </a:r>
            <a:r>
              <a:rPr lang="en-US" sz="2600" dirty="0"/>
              <a:t> </a:t>
            </a:r>
            <a:r>
              <a:rPr lang="en-US" sz="2600" dirty="0" err="1"/>
              <a:t>parametru</a:t>
            </a:r>
            <a:r>
              <a:rPr lang="en-US" sz="2600" dirty="0"/>
              <a:t> in </a:t>
            </a:r>
            <a:r>
              <a:rPr lang="en-US" sz="2600" dirty="0" err="1"/>
              <a:t>cazul</a:t>
            </a:r>
            <a:r>
              <a:rPr lang="en-US" sz="2600" dirty="0"/>
              <a:t> </a:t>
            </a:r>
            <a:r>
              <a:rPr lang="en-US" sz="2600" dirty="0" err="1"/>
              <a:t>testarii</a:t>
            </a:r>
            <a:r>
              <a:rPr lang="en-US" sz="2600" dirty="0"/>
              <a:t> </a:t>
            </a:r>
            <a:r>
              <a:rPr lang="en-US" sz="2600" dirty="0" err="1"/>
              <a:t>este</a:t>
            </a:r>
            <a:r>
              <a:rPr lang="en-US" sz="2600" dirty="0"/>
              <a:t> </a:t>
            </a:r>
            <a:r>
              <a:rPr lang="en-US" sz="2600" dirty="0" err="1"/>
              <a:t>reprezentata</a:t>
            </a:r>
            <a:r>
              <a:rPr lang="en-US" sz="2600" dirty="0"/>
              <a:t> de </a:t>
            </a:r>
            <a:r>
              <a:rPr lang="en-US" sz="2600" dirty="0" err="1"/>
              <a:t>radacina</a:t>
            </a:r>
            <a:r>
              <a:rPr lang="en-US" sz="2600" dirty="0"/>
              <a:t> </a:t>
            </a:r>
            <a:r>
              <a:rPr lang="en-US" sz="2600" dirty="0" err="1"/>
              <a:t>unitate</a:t>
            </a:r>
            <a:r>
              <a:rPr lang="en-US" sz="2600" dirty="0"/>
              <a:t> (unit root) </a:t>
            </a:r>
            <a:r>
              <a:rPr lang="en-US" sz="2600" dirty="0">
                <a:solidFill>
                  <a:srgbClr val="C00000"/>
                </a:solidFill>
              </a:rPr>
              <a:t>1</a:t>
            </a:r>
            <a:r>
              <a:rPr lang="en-US" sz="2600" dirty="0"/>
              <a:t>. </a:t>
            </a:r>
          </a:p>
          <a:p>
            <a:pPr marL="0" indent="0" algn="just">
              <a:buNone/>
            </a:pPr>
            <a:r>
              <a:rPr lang="en-US" sz="2600" dirty="0"/>
              <a:t>In </a:t>
            </a:r>
            <a:r>
              <a:rPr lang="en-US" sz="2600" dirty="0" err="1"/>
              <a:t>testarea</a:t>
            </a:r>
            <a:r>
              <a:rPr lang="en-US" sz="2600" dirty="0"/>
              <a:t> </a:t>
            </a:r>
            <a:r>
              <a:rPr lang="en-US" sz="2600" dirty="0" err="1"/>
              <a:t>radacinii</a:t>
            </a:r>
            <a:r>
              <a:rPr lang="en-US" sz="2600" dirty="0"/>
              <a:t> </a:t>
            </a:r>
            <a:r>
              <a:rPr lang="en-US" sz="2600" dirty="0" err="1"/>
              <a:t>unitate</a:t>
            </a:r>
            <a:r>
              <a:rPr lang="en-US" sz="2600" dirty="0"/>
              <a:t> nu </a:t>
            </a:r>
            <a:r>
              <a:rPr lang="en-US" sz="2600" dirty="0" err="1"/>
              <a:t>sunt</a:t>
            </a:r>
            <a:r>
              <a:rPr lang="en-US" sz="2600" dirty="0"/>
              <a:t> </a:t>
            </a:r>
            <a:r>
              <a:rPr lang="en-US" sz="2600" dirty="0" err="1"/>
              <a:t>utilizate</a:t>
            </a:r>
            <a:r>
              <a:rPr lang="en-US" sz="2600" dirty="0"/>
              <a:t> </a:t>
            </a:r>
            <a:r>
              <a:rPr lang="en-US" sz="2600" dirty="0" err="1"/>
              <a:t>modelele</a:t>
            </a:r>
            <a:r>
              <a:rPr lang="en-US" sz="2600" dirty="0"/>
              <a:t> in forma de </a:t>
            </a:r>
            <a:r>
              <a:rPr lang="en-US" sz="2600" dirty="0" err="1"/>
              <a:t>mai</a:t>
            </a:r>
            <a:r>
              <a:rPr lang="en-US" sz="2600" dirty="0"/>
              <a:t> </a:t>
            </a:r>
            <a:r>
              <a:rPr lang="en-US" sz="2600" dirty="0" err="1"/>
              <a:t>sus</a:t>
            </a:r>
            <a:r>
              <a:rPr lang="en-US" sz="2600" dirty="0"/>
              <a:t> ci </a:t>
            </a:r>
            <a:r>
              <a:rPr lang="en-US" sz="2600" dirty="0" err="1"/>
              <a:t>intr</a:t>
            </a:r>
            <a:r>
              <a:rPr lang="en-US" sz="2600" dirty="0"/>
              <a:t>-o forma </a:t>
            </a:r>
            <a:r>
              <a:rPr lang="en-US" sz="2600" dirty="0" err="1"/>
              <a:t>transformata</a:t>
            </a:r>
            <a:r>
              <a:rPr lang="en-US" sz="2600" dirty="0"/>
              <a:t> </a:t>
            </a:r>
            <a:r>
              <a:rPr lang="en-US" sz="2600" dirty="0" err="1"/>
              <a:t>pentru</a:t>
            </a:r>
            <a:r>
              <a:rPr lang="en-US" sz="2600" dirty="0"/>
              <a:t> a </a:t>
            </a:r>
            <a:r>
              <a:rPr lang="en-US" sz="2600" dirty="0" err="1"/>
              <a:t>permite</a:t>
            </a:r>
            <a:r>
              <a:rPr lang="en-US" sz="2600" dirty="0"/>
              <a:t> </a:t>
            </a:r>
            <a:r>
              <a:rPr lang="en-US" sz="2600" dirty="0" err="1"/>
              <a:t>utilizarea</a:t>
            </a:r>
            <a:r>
              <a:rPr lang="en-US" sz="2600" dirty="0"/>
              <a:t> </a:t>
            </a:r>
            <a:r>
              <a:rPr lang="en-US" sz="2600" b="1" dirty="0" err="1">
                <a:solidFill>
                  <a:srgbClr val="C00000"/>
                </a:solidFill>
              </a:rPr>
              <a:t>testului</a:t>
            </a:r>
            <a:r>
              <a:rPr lang="en-US" sz="2600" b="1" dirty="0">
                <a:solidFill>
                  <a:srgbClr val="C00000"/>
                </a:solidFill>
              </a:rPr>
              <a:t> t</a:t>
            </a:r>
            <a:r>
              <a:rPr lang="en-US" sz="2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119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45" name="Content Placeholder 2"/>
          <p:cNvSpPr>
            <a:spLocks noGrp="1"/>
          </p:cNvSpPr>
          <p:nvPr>
            <p:ph idx="1"/>
          </p:nvPr>
        </p:nvSpPr>
        <p:spPr>
          <a:xfrm>
            <a:off x="1584338" y="1356542"/>
            <a:ext cx="10222222" cy="4899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 err="1" smtClean="0"/>
              <a:t>Modelele</a:t>
            </a:r>
            <a:r>
              <a:rPr lang="en-US" sz="2600" dirty="0" smtClean="0"/>
              <a:t> </a:t>
            </a:r>
            <a:r>
              <a:rPr lang="en-US" sz="2600" dirty="0" err="1" smtClean="0"/>
              <a:t>transformate</a:t>
            </a:r>
            <a:r>
              <a:rPr lang="en-US" sz="2600" dirty="0" smtClean="0"/>
              <a:t> se </a:t>
            </a:r>
            <a:r>
              <a:rPr lang="en-US" sz="2600" dirty="0" err="1" smtClean="0"/>
              <a:t>obtin</a:t>
            </a:r>
            <a:r>
              <a:rPr lang="en-US" sz="2600" dirty="0" smtClean="0"/>
              <a:t> </a:t>
            </a:r>
            <a:r>
              <a:rPr lang="en-US" sz="2600" dirty="0" err="1" smtClean="0"/>
              <a:t>prin</a:t>
            </a:r>
            <a:r>
              <a:rPr lang="en-US" sz="2600" dirty="0" smtClean="0"/>
              <a:t> </a:t>
            </a:r>
            <a:r>
              <a:rPr lang="en-US" sz="2600" dirty="0" err="1" smtClean="0"/>
              <a:t>scaderea</a:t>
            </a:r>
            <a:r>
              <a:rPr lang="en-US" sz="2600" dirty="0" smtClean="0"/>
              <a:t> </a:t>
            </a:r>
            <a:r>
              <a:rPr lang="en-US" sz="2600" dirty="0" err="1" smtClean="0"/>
              <a:t>lui</a:t>
            </a:r>
            <a:r>
              <a:rPr lang="en-US" sz="2600" dirty="0" smtClean="0"/>
              <a:t> Y</a:t>
            </a:r>
            <a:r>
              <a:rPr lang="en-US" sz="2600" baseline="-25000" dirty="0" smtClean="0"/>
              <a:t>t-1 </a:t>
            </a:r>
            <a:r>
              <a:rPr lang="en-US" sz="2600" dirty="0" smtClean="0"/>
              <a:t>din </a:t>
            </a:r>
            <a:r>
              <a:rPr lang="en-US" sz="2600" dirty="0" err="1" smtClean="0"/>
              <a:t>ambii</a:t>
            </a:r>
            <a:r>
              <a:rPr lang="en-US" sz="2600" dirty="0" smtClean="0"/>
              <a:t> </a:t>
            </a:r>
            <a:r>
              <a:rPr lang="en-US" sz="2600" dirty="0" err="1" smtClean="0"/>
              <a:t>termeni</a:t>
            </a:r>
            <a:r>
              <a:rPr lang="en-US" sz="2600" dirty="0" smtClean="0"/>
              <a:t> </a:t>
            </a:r>
            <a:r>
              <a:rPr lang="en-US" sz="2600" dirty="0" err="1" smtClean="0"/>
              <a:t>ai</a:t>
            </a:r>
            <a:r>
              <a:rPr lang="en-US" sz="2600" dirty="0" smtClean="0"/>
              <a:t> </a:t>
            </a:r>
            <a:r>
              <a:rPr lang="en-US" sz="2600" dirty="0" err="1" smtClean="0"/>
              <a:t>modelului</a:t>
            </a:r>
            <a:r>
              <a:rPr lang="en-US" sz="2600" dirty="0" smtClean="0"/>
              <a:t>:</a:t>
            </a:r>
          </a:p>
          <a:p>
            <a:pPr marL="0" indent="0" algn="just">
              <a:buNone/>
            </a:pPr>
            <a:r>
              <a:rPr lang="en-US" sz="2600" b="1" dirty="0">
                <a:solidFill>
                  <a:srgbClr val="C00000"/>
                </a:solidFill>
              </a:rPr>
              <a:t>1. AR(1)’ :</a:t>
            </a:r>
            <a:r>
              <a:rPr lang="en-US" sz="2600" dirty="0">
                <a:solidFill>
                  <a:srgbClr val="C00000"/>
                </a:solidFill>
              </a:rPr>
              <a:t>                          </a:t>
            </a:r>
            <a:r>
              <a:rPr lang="en-US" sz="2600" dirty="0" smtClean="0">
                <a:solidFill>
                  <a:srgbClr val="C00000"/>
                </a:solidFill>
              </a:rPr>
              <a:t>    </a:t>
            </a:r>
            <a:r>
              <a:rPr lang="el-GR" sz="2600" dirty="0">
                <a:solidFill>
                  <a:srgbClr val="C00000"/>
                </a:solidFill>
              </a:rPr>
              <a:t>Δ</a:t>
            </a:r>
            <a:r>
              <a:rPr lang="en-US" sz="2600" b="1" dirty="0" err="1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=(1-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>
                <a:solidFill>
                  <a:srgbClr val="C00000"/>
                </a:solidFill>
              </a:rPr>
              <a:t>1</a:t>
            </a:r>
            <a:r>
              <a:rPr lang="en-US" sz="2600" b="1" dirty="0">
                <a:solidFill>
                  <a:srgbClr val="C00000"/>
                </a:solidFill>
              </a:rPr>
              <a:t>)Y</a:t>
            </a:r>
            <a:r>
              <a:rPr lang="en-US" sz="2600" b="1" baseline="-25000" dirty="0">
                <a:solidFill>
                  <a:srgbClr val="C00000"/>
                </a:solidFill>
              </a:rPr>
              <a:t>t-1</a:t>
            </a:r>
            <a:r>
              <a:rPr lang="en-US" sz="2600" b="1" dirty="0">
                <a:solidFill>
                  <a:srgbClr val="C00000"/>
                </a:solidFill>
              </a:rPr>
              <a:t>+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>
                <a:solidFill>
                  <a:srgbClr val="C00000"/>
                </a:solidFill>
              </a:rPr>
              <a:t>t</a:t>
            </a:r>
            <a:endParaRPr lang="en-US" sz="2600" b="1" dirty="0">
              <a:solidFill>
                <a:srgbClr val="C00000"/>
              </a:solidFill>
            </a:endParaRPr>
          </a:p>
          <a:p>
            <a:pPr marL="0" indent="0" algn="just">
              <a:buNone/>
            </a:pPr>
            <a:r>
              <a:rPr lang="en-US" sz="2600" b="1" dirty="0">
                <a:solidFill>
                  <a:srgbClr val="C00000"/>
                </a:solidFill>
              </a:rPr>
              <a:t>2. AR(1) ‘+ct.: 		    </a:t>
            </a:r>
            <a:r>
              <a:rPr lang="en-US" sz="2600" b="1" dirty="0" smtClean="0">
                <a:solidFill>
                  <a:srgbClr val="C00000"/>
                </a:solidFill>
              </a:rPr>
              <a:t>        </a:t>
            </a:r>
            <a:r>
              <a:rPr lang="el-GR" sz="2600" dirty="0">
                <a:solidFill>
                  <a:srgbClr val="C00000"/>
                </a:solidFill>
              </a:rPr>
              <a:t>Δ </a:t>
            </a:r>
            <a:r>
              <a:rPr lang="en-US" sz="2600" b="1" dirty="0" err="1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=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>
                <a:solidFill>
                  <a:srgbClr val="C00000"/>
                </a:solidFill>
              </a:rPr>
              <a:t>0</a:t>
            </a:r>
            <a:r>
              <a:rPr lang="en-US" sz="2600" b="1" dirty="0">
                <a:solidFill>
                  <a:srgbClr val="C00000"/>
                </a:solidFill>
              </a:rPr>
              <a:t>+(1-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>
                <a:solidFill>
                  <a:srgbClr val="C00000"/>
                </a:solidFill>
              </a:rPr>
              <a:t>1</a:t>
            </a:r>
            <a:r>
              <a:rPr lang="en-US" sz="2600" b="1" dirty="0">
                <a:solidFill>
                  <a:srgbClr val="C00000"/>
                </a:solidFill>
              </a:rPr>
              <a:t>)Y</a:t>
            </a:r>
            <a:r>
              <a:rPr lang="en-US" sz="2600" b="1" baseline="-25000" dirty="0">
                <a:solidFill>
                  <a:srgbClr val="C00000"/>
                </a:solidFill>
              </a:rPr>
              <a:t>t-1</a:t>
            </a:r>
            <a:r>
              <a:rPr lang="en-US" sz="2600" b="1" dirty="0">
                <a:solidFill>
                  <a:srgbClr val="C00000"/>
                </a:solidFill>
              </a:rPr>
              <a:t>+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>
                <a:solidFill>
                  <a:srgbClr val="C00000"/>
                </a:solidFill>
              </a:rPr>
              <a:t>t</a:t>
            </a:r>
            <a:endParaRPr lang="en-US" sz="2600" b="1" dirty="0">
              <a:solidFill>
                <a:srgbClr val="C00000"/>
              </a:solidFill>
            </a:endParaRPr>
          </a:p>
          <a:p>
            <a:pPr marL="0" indent="0" algn="just">
              <a:buNone/>
            </a:pPr>
            <a:r>
              <a:rPr lang="en-US" sz="2600" b="1" dirty="0">
                <a:solidFill>
                  <a:srgbClr val="C00000"/>
                </a:solidFill>
              </a:rPr>
              <a:t>3. AR(1) ‘+</a:t>
            </a:r>
            <a:r>
              <a:rPr lang="en-US" sz="2600" b="1" dirty="0" err="1">
                <a:solidFill>
                  <a:srgbClr val="C00000"/>
                </a:solidFill>
              </a:rPr>
              <a:t>ct.+trend</a:t>
            </a:r>
            <a:r>
              <a:rPr lang="en-US" sz="2600" b="1" dirty="0">
                <a:solidFill>
                  <a:srgbClr val="C00000"/>
                </a:solidFill>
              </a:rPr>
              <a:t> det.: </a:t>
            </a:r>
            <a:r>
              <a:rPr lang="el-GR" sz="2600" dirty="0">
                <a:solidFill>
                  <a:srgbClr val="C00000"/>
                </a:solidFill>
              </a:rPr>
              <a:t>Δ</a:t>
            </a:r>
            <a:r>
              <a:rPr lang="en-US" sz="2600" b="1" dirty="0" err="1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=</a:t>
            </a:r>
            <a:r>
              <a:rPr lang="el-GR" sz="2600" b="1" dirty="0">
                <a:solidFill>
                  <a:srgbClr val="C00000"/>
                </a:solidFill>
              </a:rPr>
              <a:t> β </a:t>
            </a:r>
            <a:r>
              <a:rPr lang="en-US" sz="2600" b="1" baseline="-25000" dirty="0">
                <a:solidFill>
                  <a:srgbClr val="C00000"/>
                </a:solidFill>
              </a:rPr>
              <a:t>0</a:t>
            </a:r>
            <a:r>
              <a:rPr lang="en-US" sz="2600" b="1" dirty="0">
                <a:solidFill>
                  <a:srgbClr val="C00000"/>
                </a:solidFill>
              </a:rPr>
              <a:t>+(1-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>
                <a:solidFill>
                  <a:srgbClr val="C00000"/>
                </a:solidFill>
              </a:rPr>
              <a:t>1</a:t>
            </a:r>
            <a:r>
              <a:rPr lang="en-US" sz="2600" b="1" dirty="0">
                <a:solidFill>
                  <a:srgbClr val="C00000"/>
                </a:solidFill>
              </a:rPr>
              <a:t>)Y</a:t>
            </a:r>
            <a:r>
              <a:rPr lang="en-US" sz="2600" b="1" baseline="-25000" dirty="0">
                <a:solidFill>
                  <a:srgbClr val="C00000"/>
                </a:solidFill>
              </a:rPr>
              <a:t>t-1</a:t>
            </a:r>
            <a:r>
              <a:rPr lang="en-US" sz="2600" b="1" dirty="0">
                <a:solidFill>
                  <a:srgbClr val="C00000"/>
                </a:solidFill>
              </a:rPr>
              <a:t>+</a:t>
            </a:r>
            <a:r>
              <a:rPr lang="el-GR" sz="2600" b="1" dirty="0">
                <a:solidFill>
                  <a:srgbClr val="C00000"/>
                </a:solidFill>
              </a:rPr>
              <a:t>λ</a:t>
            </a:r>
            <a:r>
              <a:rPr lang="en-US" sz="2600" b="1" dirty="0">
                <a:solidFill>
                  <a:srgbClr val="C00000"/>
                </a:solidFill>
              </a:rPr>
              <a:t>t+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>
                <a:solidFill>
                  <a:srgbClr val="C00000"/>
                </a:solidFill>
              </a:rPr>
              <a:t>t</a:t>
            </a:r>
            <a:endParaRPr lang="en-US" sz="2600" b="1" dirty="0">
              <a:solidFill>
                <a:srgbClr val="C00000"/>
              </a:solidFill>
            </a:endParaRPr>
          </a:p>
          <a:p>
            <a:pPr marL="0" indent="0" algn="just">
              <a:buNone/>
            </a:pPr>
            <a:r>
              <a:rPr lang="en-US" sz="2600" dirty="0" err="1"/>
              <a:t>notam</a:t>
            </a:r>
            <a:r>
              <a:rPr lang="en-US" sz="2600" dirty="0"/>
              <a:t> (1-</a:t>
            </a:r>
            <a:r>
              <a:rPr lang="el-GR" sz="2600" dirty="0"/>
              <a:t>β</a:t>
            </a:r>
            <a:r>
              <a:rPr lang="en-US" sz="2600" baseline="-25000" dirty="0"/>
              <a:t>1</a:t>
            </a:r>
            <a:r>
              <a:rPr lang="en-US" sz="2600" dirty="0"/>
              <a:t>)=</a:t>
            </a:r>
            <a:r>
              <a:rPr lang="el-GR" sz="2600" dirty="0"/>
              <a:t>γ</a:t>
            </a:r>
            <a:endParaRPr lang="en-US" sz="2600" dirty="0"/>
          </a:p>
          <a:p>
            <a:pPr marL="0" indent="0" algn="just">
              <a:buNone/>
            </a:pPr>
            <a:r>
              <a:rPr lang="en-US" sz="2600" dirty="0" err="1"/>
              <a:t>Pentru</a:t>
            </a:r>
            <a:r>
              <a:rPr lang="en-US" sz="2600" dirty="0"/>
              <a:t> </a:t>
            </a:r>
            <a:r>
              <a:rPr lang="en-US" sz="2600" dirty="0" err="1"/>
              <a:t>modelele</a:t>
            </a:r>
            <a:r>
              <a:rPr lang="en-US" sz="2600" dirty="0"/>
              <a:t> </a:t>
            </a:r>
            <a:r>
              <a:rPr lang="en-US" sz="2600" dirty="0" err="1"/>
              <a:t>modificate</a:t>
            </a:r>
            <a:r>
              <a:rPr lang="en-US" sz="2600" dirty="0"/>
              <a:t> </a:t>
            </a:r>
            <a:r>
              <a:rPr lang="en-US" sz="2600" dirty="0" err="1"/>
              <a:t>ipoteza</a:t>
            </a:r>
            <a:r>
              <a:rPr lang="en-US" sz="2600" dirty="0"/>
              <a:t> </a:t>
            </a:r>
            <a:r>
              <a:rPr lang="en-US" sz="2600" dirty="0" err="1"/>
              <a:t>testarii</a:t>
            </a:r>
            <a:r>
              <a:rPr lang="en-US" sz="2600" dirty="0"/>
              <a:t> </a:t>
            </a:r>
            <a:r>
              <a:rPr lang="en-US" sz="2600" dirty="0" err="1"/>
              <a:t>radacinii</a:t>
            </a:r>
            <a:r>
              <a:rPr lang="en-US" sz="2600" dirty="0"/>
              <a:t> </a:t>
            </a:r>
            <a:r>
              <a:rPr lang="en-US" sz="2600" dirty="0" err="1"/>
              <a:t>unitate</a:t>
            </a:r>
            <a:r>
              <a:rPr lang="en-US" sz="2600" dirty="0"/>
              <a:t> </a:t>
            </a:r>
            <a:r>
              <a:rPr lang="en-US" sz="2600" dirty="0" err="1"/>
              <a:t>enuntata</a:t>
            </a:r>
            <a:r>
              <a:rPr lang="en-US" sz="2600" dirty="0"/>
              <a:t> singular </a:t>
            </a:r>
            <a:r>
              <a:rPr lang="en-US" sz="2600" dirty="0" err="1"/>
              <a:t>este</a:t>
            </a:r>
            <a:r>
              <a:rPr lang="en-US" sz="2600" dirty="0"/>
              <a:t>: </a:t>
            </a:r>
            <a:r>
              <a:rPr lang="en-US" sz="2600" b="1" dirty="0">
                <a:solidFill>
                  <a:srgbClr val="C00000"/>
                </a:solidFill>
              </a:rPr>
              <a:t>H</a:t>
            </a:r>
            <a:r>
              <a:rPr lang="en-US" sz="2600" b="1" baseline="-25000" dirty="0">
                <a:solidFill>
                  <a:srgbClr val="C00000"/>
                </a:solidFill>
              </a:rPr>
              <a:t>0</a:t>
            </a:r>
            <a:r>
              <a:rPr lang="en-US" sz="2600" b="1" dirty="0">
                <a:solidFill>
                  <a:srgbClr val="C00000"/>
                </a:solidFill>
              </a:rPr>
              <a:t>:</a:t>
            </a:r>
            <a:r>
              <a:rPr lang="en-US" sz="2600" dirty="0"/>
              <a:t> </a:t>
            </a:r>
            <a:r>
              <a:rPr lang="el-GR" sz="2600" dirty="0"/>
              <a:t>γ</a:t>
            </a:r>
            <a:r>
              <a:rPr lang="en-US" sz="2600" dirty="0"/>
              <a:t>=0 cu </a:t>
            </a:r>
            <a:r>
              <a:rPr lang="en-US" sz="2600" dirty="0" err="1"/>
              <a:t>alternativa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C00000"/>
                </a:solidFill>
              </a:rPr>
              <a:t>H</a:t>
            </a:r>
            <a:r>
              <a:rPr lang="en-US" sz="2600" b="1" baseline="-25000" dirty="0">
                <a:solidFill>
                  <a:srgbClr val="C00000"/>
                </a:solidFill>
              </a:rPr>
              <a:t>1</a:t>
            </a:r>
            <a:r>
              <a:rPr lang="en-US" sz="2600" b="1" dirty="0">
                <a:solidFill>
                  <a:srgbClr val="C00000"/>
                </a:solidFill>
              </a:rPr>
              <a:t>:</a:t>
            </a:r>
            <a:r>
              <a:rPr lang="en-US" sz="2600" dirty="0"/>
              <a:t> </a:t>
            </a:r>
            <a:r>
              <a:rPr lang="el-GR" sz="2600" dirty="0"/>
              <a:t>γ</a:t>
            </a:r>
            <a:r>
              <a:rPr lang="en-US" sz="2600" dirty="0"/>
              <a:t>&lt;0</a:t>
            </a:r>
          </a:p>
          <a:p>
            <a:pPr marL="0" indent="0" algn="just">
              <a:buNone/>
            </a:pPr>
            <a:r>
              <a:rPr lang="en-US" sz="2600" dirty="0" err="1"/>
              <a:t>Statistica</a:t>
            </a:r>
            <a:r>
              <a:rPr lang="en-US" sz="2600" dirty="0"/>
              <a:t> </a:t>
            </a:r>
            <a:r>
              <a:rPr lang="en-US" sz="2600" dirty="0" err="1"/>
              <a:t>utilizata</a:t>
            </a:r>
            <a:r>
              <a:rPr lang="en-US" sz="2600" dirty="0"/>
              <a:t> </a:t>
            </a:r>
            <a:r>
              <a:rPr lang="en-US" sz="2600" dirty="0" err="1"/>
              <a:t>este</a:t>
            </a:r>
            <a:r>
              <a:rPr lang="en-US" sz="2600" dirty="0"/>
              <a:t> </a:t>
            </a:r>
            <a:endParaRPr lang="en-US" sz="2600" dirty="0" smtClean="0"/>
          </a:p>
        </p:txBody>
      </p:sp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6038850" y="3340100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2" name="Equation" r:id="rId3" imgW="114102" imgH="177492" progId="">
                  <p:embed/>
                </p:oleObj>
              </mc:Choice>
              <mc:Fallback>
                <p:oleObj name="Equation" r:id="rId3" imgW="114102" imgH="177492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3340100"/>
                        <a:ext cx="114300" cy="17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6281025"/>
              </p:ext>
            </p:extLst>
          </p:nvPr>
        </p:nvGraphicFramePr>
        <p:xfrm>
          <a:off x="4560849" y="4701686"/>
          <a:ext cx="3721217" cy="1033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3" name="Equation" r:id="rId5" imgW="1600200" imgH="444500" progId="">
                  <p:embed/>
                </p:oleObj>
              </mc:Choice>
              <mc:Fallback>
                <p:oleObj name="Equation" r:id="rId5" imgW="1600200" imgH="444500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0849" y="4701686"/>
                        <a:ext cx="3721217" cy="103375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8490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0523" y="327103"/>
            <a:ext cx="10024082" cy="597562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b="1" dirty="0" err="1" smtClean="0"/>
              <a:t>Testul</a:t>
            </a:r>
            <a:r>
              <a:rPr lang="en-US" b="1" dirty="0" smtClean="0"/>
              <a:t> DF </a:t>
            </a:r>
            <a:r>
              <a:rPr lang="en-US" b="1" dirty="0" err="1" smtClean="0"/>
              <a:t>Extins</a:t>
            </a:r>
            <a:r>
              <a:rPr lang="en-US" b="1" dirty="0" smtClean="0"/>
              <a:t> </a:t>
            </a:r>
            <a:br>
              <a:rPr lang="en-US" b="1" dirty="0" smtClean="0"/>
            </a:br>
            <a:r>
              <a:rPr lang="en-US" b="1" dirty="0" smtClean="0"/>
              <a:t>(Augmented </a:t>
            </a:r>
            <a:r>
              <a:rPr lang="en-US" b="1" dirty="0" err="1" smtClean="0"/>
              <a:t>Dikey</a:t>
            </a:r>
            <a:r>
              <a:rPr lang="en-US" b="1" dirty="0" smtClean="0"/>
              <a:t> Fuller-&gt;ADF)</a:t>
            </a:r>
            <a:endParaRPr lang="en-US" b="1" dirty="0"/>
          </a:p>
        </p:txBody>
      </p:sp>
      <p:sp>
        <p:nvSpPr>
          <p:cNvPr id="11268" name="Content Placeholder 2"/>
          <p:cNvSpPr>
            <a:spLocks noGrp="1"/>
          </p:cNvSpPr>
          <p:nvPr>
            <p:ph idx="1"/>
          </p:nvPr>
        </p:nvSpPr>
        <p:spPr>
          <a:xfrm>
            <a:off x="1126273" y="1447800"/>
            <a:ext cx="11065727" cy="5181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600" dirty="0" err="1"/>
              <a:t>Deoarece</a:t>
            </a:r>
            <a:r>
              <a:rPr lang="en-US" sz="2600" dirty="0"/>
              <a:t> </a:t>
            </a:r>
            <a:r>
              <a:rPr lang="en-US" sz="2600" b="1" dirty="0" err="1"/>
              <a:t>testul</a:t>
            </a:r>
            <a:r>
              <a:rPr lang="en-US" sz="2600" b="1" dirty="0"/>
              <a:t> DF </a:t>
            </a:r>
            <a:r>
              <a:rPr lang="en-US" sz="2600" dirty="0" err="1"/>
              <a:t>este</a:t>
            </a:r>
            <a:r>
              <a:rPr lang="en-US" sz="2600" dirty="0"/>
              <a:t> specific </a:t>
            </a:r>
            <a:r>
              <a:rPr lang="en-US" sz="2600" dirty="0" err="1"/>
              <a:t>doar</a:t>
            </a:r>
            <a:r>
              <a:rPr lang="en-US" sz="2600" dirty="0"/>
              <a:t> </a:t>
            </a:r>
            <a:r>
              <a:rPr lang="en-US" sz="2600" dirty="0" err="1"/>
              <a:t>pentru</a:t>
            </a:r>
            <a:r>
              <a:rPr lang="en-US" sz="2600" dirty="0"/>
              <a:t> </a:t>
            </a:r>
            <a:r>
              <a:rPr lang="en-US" sz="2600" dirty="0" err="1"/>
              <a:t>modele</a:t>
            </a:r>
            <a:r>
              <a:rPr lang="en-US" sz="2600" dirty="0"/>
              <a:t> </a:t>
            </a:r>
            <a:r>
              <a:rPr lang="en-US" sz="2600" b="1" dirty="0"/>
              <a:t>AR(1)</a:t>
            </a:r>
            <a:r>
              <a:rPr lang="en-US" sz="2600" dirty="0"/>
              <a:t> </a:t>
            </a:r>
            <a:r>
              <a:rPr lang="en-US" sz="2600" dirty="0" err="1"/>
              <a:t>pentru</a:t>
            </a:r>
            <a:r>
              <a:rPr lang="en-US" sz="2600" dirty="0"/>
              <a:t> </a:t>
            </a:r>
            <a:r>
              <a:rPr lang="en-US" sz="2600" b="1" dirty="0" err="1"/>
              <a:t>cele</a:t>
            </a:r>
            <a:r>
              <a:rPr lang="en-US" sz="2600" b="1" dirty="0"/>
              <a:t> de </a:t>
            </a:r>
            <a:r>
              <a:rPr lang="en-US" sz="2600" b="1" dirty="0" err="1"/>
              <a:t>ordin</a:t>
            </a:r>
            <a:r>
              <a:rPr lang="en-US" sz="2600" b="1" dirty="0"/>
              <a:t> </a:t>
            </a:r>
            <a:r>
              <a:rPr lang="en-US" sz="2600" b="1" dirty="0" err="1"/>
              <a:t>mai</a:t>
            </a:r>
            <a:r>
              <a:rPr lang="en-US" sz="2600" b="1" dirty="0"/>
              <a:t> mare </a:t>
            </a:r>
            <a:r>
              <a:rPr lang="en-US" sz="2600" b="1" dirty="0" err="1"/>
              <a:t>este</a:t>
            </a:r>
            <a:r>
              <a:rPr lang="en-US" sz="2600" dirty="0"/>
              <a:t> </a:t>
            </a:r>
            <a:r>
              <a:rPr lang="en-US" sz="2600" b="1" dirty="0" err="1"/>
              <a:t>incalcata</a:t>
            </a:r>
            <a:r>
              <a:rPr lang="en-US" sz="2600" b="1" dirty="0"/>
              <a:t> </a:t>
            </a:r>
            <a:r>
              <a:rPr lang="en-US" sz="2600" b="1" dirty="0" err="1"/>
              <a:t>ipoteza</a:t>
            </a:r>
            <a:r>
              <a:rPr lang="en-US" sz="2600" b="1" dirty="0"/>
              <a:t> de NID </a:t>
            </a:r>
            <a:r>
              <a:rPr lang="en-US" sz="2600" b="1" dirty="0" err="1"/>
              <a:t>pentru</a:t>
            </a:r>
            <a:r>
              <a:rPr lang="en-US" sz="2600" b="1" dirty="0"/>
              <a:t> </a:t>
            </a:r>
            <a:r>
              <a:rPr lang="en-US" sz="2600" b="1" dirty="0" err="1"/>
              <a:t>eroarea</a:t>
            </a:r>
            <a:r>
              <a:rPr lang="en-US" sz="2600" b="1" dirty="0"/>
              <a:t> de </a:t>
            </a:r>
            <a:r>
              <a:rPr lang="en-US" sz="2600" b="1" dirty="0" err="1"/>
              <a:t>modelare</a:t>
            </a:r>
            <a:r>
              <a:rPr lang="en-US" sz="2600" dirty="0"/>
              <a:t>. In  </a:t>
            </a:r>
            <a:r>
              <a:rPr lang="en-US" sz="2600" dirty="0" err="1"/>
              <a:t>practica</a:t>
            </a:r>
            <a:r>
              <a:rPr lang="en-US" sz="2600" dirty="0"/>
              <a:t> </a:t>
            </a:r>
            <a:r>
              <a:rPr lang="en-US" sz="2600" dirty="0" err="1"/>
              <a:t>este</a:t>
            </a:r>
            <a:r>
              <a:rPr lang="en-US" sz="2600" dirty="0"/>
              <a:t> </a:t>
            </a:r>
            <a:r>
              <a:rPr lang="en-US" sz="2600" dirty="0" err="1"/>
              <a:t>preferata</a:t>
            </a:r>
            <a:r>
              <a:rPr lang="en-US" sz="2600" dirty="0"/>
              <a:t> o </a:t>
            </a:r>
            <a:r>
              <a:rPr lang="en-US" sz="2600" dirty="0" err="1"/>
              <a:t>varianta</a:t>
            </a:r>
            <a:r>
              <a:rPr lang="en-US" sz="2600" dirty="0"/>
              <a:t> </a:t>
            </a:r>
            <a:r>
              <a:rPr lang="en-US" sz="2600" dirty="0" err="1"/>
              <a:t>extinsa</a:t>
            </a:r>
            <a:r>
              <a:rPr lang="en-US" sz="2600" dirty="0"/>
              <a:t> a </a:t>
            </a:r>
            <a:r>
              <a:rPr lang="en-US" sz="2600" dirty="0" err="1"/>
              <a:t>testului</a:t>
            </a:r>
            <a:r>
              <a:rPr lang="en-US" sz="2600" dirty="0"/>
              <a:t> DF </a:t>
            </a:r>
            <a:r>
              <a:rPr lang="en-US" sz="2600" dirty="0" err="1"/>
              <a:t>denumita</a:t>
            </a:r>
            <a:r>
              <a:rPr lang="en-US" sz="2600" dirty="0"/>
              <a:t> </a:t>
            </a:r>
            <a:r>
              <a:rPr lang="en-US" sz="2600" dirty="0" err="1"/>
              <a:t>testul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C00000"/>
                </a:solidFill>
              </a:rPr>
              <a:t>ADF</a:t>
            </a:r>
            <a:r>
              <a:rPr lang="en-US" sz="2600" dirty="0"/>
              <a:t> care </a:t>
            </a:r>
            <a:r>
              <a:rPr lang="en-US" sz="2600" dirty="0" err="1"/>
              <a:t>permite</a:t>
            </a:r>
            <a:r>
              <a:rPr lang="en-US" sz="2600" dirty="0"/>
              <a:t> </a:t>
            </a:r>
            <a:r>
              <a:rPr lang="en-US" sz="2600" dirty="0" err="1"/>
              <a:t>includerea</a:t>
            </a:r>
            <a:r>
              <a:rPr lang="en-US" sz="2600" dirty="0"/>
              <a:t> a </a:t>
            </a:r>
            <a:r>
              <a:rPr lang="en-US" sz="2600" b="1" dirty="0">
                <a:solidFill>
                  <a:srgbClr val="C00000"/>
                </a:solidFill>
              </a:rPr>
              <a:t>p</a:t>
            </a:r>
            <a:r>
              <a:rPr lang="en-US" sz="2600" dirty="0"/>
              <a:t> </a:t>
            </a:r>
            <a:r>
              <a:rPr lang="en-US" sz="2600" dirty="0" err="1"/>
              <a:t>termeni</a:t>
            </a:r>
            <a:r>
              <a:rPr lang="en-US" sz="2600" dirty="0"/>
              <a:t> </a:t>
            </a:r>
            <a:r>
              <a:rPr lang="en-US" sz="2600" dirty="0" err="1"/>
              <a:t>diferenta</a:t>
            </a:r>
            <a:r>
              <a:rPr lang="en-US" sz="2600" dirty="0"/>
              <a:t> cu </a:t>
            </a:r>
            <a:r>
              <a:rPr lang="en-US" sz="2600" dirty="0" err="1"/>
              <a:t>decalaj</a:t>
            </a:r>
            <a:r>
              <a:rPr lang="en-US" sz="2600" dirty="0"/>
              <a:t>. </a:t>
            </a:r>
          </a:p>
          <a:p>
            <a:pPr marL="0" indent="0" algn="just">
              <a:buNone/>
            </a:pPr>
            <a:r>
              <a:rPr lang="en-US" sz="2600" dirty="0" err="1"/>
              <a:t>Pornind</a:t>
            </a:r>
            <a:r>
              <a:rPr lang="en-US" sz="2600" dirty="0"/>
              <a:t> de la un model </a:t>
            </a:r>
            <a:r>
              <a:rPr lang="en-US" sz="2600" b="1" dirty="0">
                <a:solidFill>
                  <a:srgbClr val="C00000"/>
                </a:solidFill>
              </a:rPr>
              <a:t>AR(p)</a:t>
            </a:r>
            <a:r>
              <a:rPr lang="en-US" sz="2600" dirty="0"/>
              <a:t> de forma: </a:t>
            </a:r>
          </a:p>
          <a:p>
            <a:pPr marL="0" indent="0" algn="just">
              <a:buNone/>
            </a:pPr>
            <a:r>
              <a:rPr lang="en-US" sz="2600" b="1" dirty="0" err="1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=</a:t>
            </a:r>
            <a:r>
              <a:rPr lang="el-GR" sz="2600" b="1" dirty="0">
                <a:solidFill>
                  <a:srgbClr val="C00000"/>
                </a:solidFill>
              </a:rPr>
              <a:t> β</a:t>
            </a:r>
            <a:r>
              <a:rPr lang="en-US" sz="2600" b="1" baseline="-25000" dirty="0">
                <a:solidFill>
                  <a:srgbClr val="C00000"/>
                </a:solidFill>
              </a:rPr>
              <a:t>0</a:t>
            </a:r>
            <a:r>
              <a:rPr lang="en-US" sz="2600" b="1" dirty="0">
                <a:solidFill>
                  <a:srgbClr val="C00000"/>
                </a:solidFill>
              </a:rPr>
              <a:t>+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>
                <a:solidFill>
                  <a:srgbClr val="C00000"/>
                </a:solidFill>
              </a:rPr>
              <a:t>1</a:t>
            </a:r>
            <a:r>
              <a:rPr lang="en-US" sz="2600" b="1" dirty="0">
                <a:solidFill>
                  <a:srgbClr val="C00000"/>
                </a:solidFill>
              </a:rPr>
              <a:t>Y</a:t>
            </a:r>
            <a:r>
              <a:rPr lang="en-US" sz="2600" b="1" baseline="-25000" dirty="0">
                <a:solidFill>
                  <a:srgbClr val="C00000"/>
                </a:solidFill>
              </a:rPr>
              <a:t>t-1</a:t>
            </a:r>
            <a:r>
              <a:rPr lang="en-US" sz="2600" b="1" dirty="0">
                <a:solidFill>
                  <a:srgbClr val="C00000"/>
                </a:solidFill>
              </a:rPr>
              <a:t>+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>
                <a:solidFill>
                  <a:srgbClr val="C00000"/>
                </a:solidFill>
              </a:rPr>
              <a:t>2</a:t>
            </a:r>
            <a:r>
              <a:rPr lang="en-US" sz="2600" b="1" dirty="0">
                <a:solidFill>
                  <a:srgbClr val="C00000"/>
                </a:solidFill>
              </a:rPr>
              <a:t>Y</a:t>
            </a:r>
            <a:r>
              <a:rPr lang="en-US" sz="2600" b="1" baseline="-25000" dirty="0">
                <a:solidFill>
                  <a:srgbClr val="C00000"/>
                </a:solidFill>
              </a:rPr>
              <a:t>t-2</a:t>
            </a:r>
            <a:r>
              <a:rPr lang="en-US" sz="2600" b="1" dirty="0">
                <a:solidFill>
                  <a:srgbClr val="C00000"/>
                </a:solidFill>
              </a:rPr>
              <a:t>+</a:t>
            </a:r>
            <a:r>
              <a:rPr lang="el-GR" sz="2600" b="1" dirty="0">
                <a:solidFill>
                  <a:srgbClr val="C00000"/>
                </a:solidFill>
              </a:rPr>
              <a:t> β</a:t>
            </a:r>
            <a:r>
              <a:rPr lang="en-US" sz="2600" b="1" baseline="-25000" dirty="0">
                <a:solidFill>
                  <a:srgbClr val="C00000"/>
                </a:solidFill>
              </a:rPr>
              <a:t>3</a:t>
            </a:r>
            <a:r>
              <a:rPr lang="en-US" sz="2600" b="1" dirty="0">
                <a:solidFill>
                  <a:srgbClr val="C00000"/>
                </a:solidFill>
              </a:rPr>
              <a:t>Y</a:t>
            </a:r>
            <a:r>
              <a:rPr lang="en-US" sz="2600" b="1" baseline="-25000" dirty="0">
                <a:solidFill>
                  <a:srgbClr val="C00000"/>
                </a:solidFill>
              </a:rPr>
              <a:t>t-3</a:t>
            </a:r>
            <a:r>
              <a:rPr lang="en-US" sz="2600" b="1" dirty="0">
                <a:solidFill>
                  <a:srgbClr val="C00000"/>
                </a:solidFill>
              </a:rPr>
              <a:t>+….+</a:t>
            </a:r>
            <a:r>
              <a:rPr lang="el-GR" sz="2600" b="1" dirty="0">
                <a:solidFill>
                  <a:srgbClr val="C00000"/>
                </a:solidFill>
              </a:rPr>
              <a:t> β</a:t>
            </a:r>
            <a:r>
              <a:rPr lang="en-US" sz="2600" b="1" baseline="-25000" dirty="0" err="1">
                <a:solidFill>
                  <a:srgbClr val="C00000"/>
                </a:solidFill>
              </a:rPr>
              <a:t>p</a:t>
            </a:r>
            <a:r>
              <a:rPr lang="en-US" sz="2600" b="1" dirty="0" err="1">
                <a:solidFill>
                  <a:srgbClr val="C00000"/>
                </a:solidFill>
              </a:rPr>
              <a:t>Y</a:t>
            </a:r>
            <a:r>
              <a:rPr lang="en-US" sz="2600" b="1" baseline="-25000" dirty="0" err="1">
                <a:solidFill>
                  <a:srgbClr val="C00000"/>
                </a:solidFill>
              </a:rPr>
              <a:t>t</a:t>
            </a:r>
            <a:r>
              <a:rPr lang="en-US" sz="2600" b="1" baseline="-25000" dirty="0">
                <a:solidFill>
                  <a:srgbClr val="C00000"/>
                </a:solidFill>
              </a:rPr>
              <a:t>-p </a:t>
            </a:r>
            <a:r>
              <a:rPr lang="en-US" sz="2600" b="1" dirty="0">
                <a:solidFill>
                  <a:srgbClr val="C00000"/>
                </a:solidFill>
              </a:rPr>
              <a:t>+</a:t>
            </a:r>
            <a:r>
              <a:rPr lang="el-GR" sz="2600" b="1" dirty="0">
                <a:solidFill>
                  <a:srgbClr val="C00000"/>
                </a:solidFill>
              </a:rPr>
              <a:t>ε</a:t>
            </a:r>
            <a:r>
              <a:rPr lang="en-US" sz="2600" b="1" baseline="-25000" dirty="0">
                <a:solidFill>
                  <a:srgbClr val="C00000"/>
                </a:solidFill>
              </a:rPr>
              <a:t>t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  <a:r>
              <a:rPr lang="en-US" sz="2600" dirty="0" err="1"/>
              <a:t>prin</a:t>
            </a:r>
            <a:r>
              <a:rPr lang="en-US" sz="2600" dirty="0"/>
              <a:t> </a:t>
            </a:r>
            <a:r>
              <a:rPr lang="en-US" sz="2600" dirty="0" err="1"/>
              <a:t>adaugari</a:t>
            </a:r>
            <a:r>
              <a:rPr lang="en-US" sz="2600" dirty="0"/>
              <a:t> </a:t>
            </a:r>
            <a:r>
              <a:rPr lang="en-US" sz="2600" dirty="0" err="1"/>
              <a:t>si</a:t>
            </a:r>
            <a:r>
              <a:rPr lang="en-US" sz="2600" dirty="0"/>
              <a:t> </a:t>
            </a:r>
            <a:r>
              <a:rPr lang="en-US" sz="2600" dirty="0" err="1"/>
              <a:t>scaderi</a:t>
            </a:r>
            <a:r>
              <a:rPr lang="en-US" sz="2600" dirty="0"/>
              <a:t> </a:t>
            </a:r>
            <a:r>
              <a:rPr lang="en-US" sz="2600" dirty="0" err="1"/>
              <a:t>repetate</a:t>
            </a:r>
            <a:r>
              <a:rPr lang="en-US" sz="2600" dirty="0"/>
              <a:t> se </a:t>
            </a:r>
            <a:r>
              <a:rPr lang="en-US" sz="2600" dirty="0" err="1"/>
              <a:t>ajunge</a:t>
            </a:r>
            <a:r>
              <a:rPr lang="en-US" sz="2600" dirty="0"/>
              <a:t> la un model de forma: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600" b="1" dirty="0" smtClean="0"/>
              <a:t>1. AR(p</a:t>
            </a:r>
            <a:r>
              <a:rPr lang="en-US" sz="2600" b="1" dirty="0"/>
              <a:t>) :					</a:t>
            </a:r>
            <a:r>
              <a:rPr lang="en-US" sz="2600" b="1" dirty="0" smtClean="0"/>
              <a:t>                          </a:t>
            </a:r>
            <a:r>
              <a:rPr lang="en-US" sz="2600" dirty="0" err="1" smtClean="0"/>
              <a:t>unde</a:t>
            </a:r>
            <a:r>
              <a:rPr lang="en-US" sz="2600" dirty="0" smtClean="0"/>
              <a:t> </a:t>
            </a:r>
            <a:r>
              <a:rPr lang="en-US" sz="2600" dirty="0" err="1"/>
              <a:t>parametrii</a:t>
            </a:r>
            <a:r>
              <a:rPr lang="en-US" sz="2600" dirty="0"/>
              <a:t> </a:t>
            </a:r>
            <a:r>
              <a:rPr lang="el-GR" sz="2600" b="1" dirty="0">
                <a:solidFill>
                  <a:srgbClr val="C00000"/>
                </a:solidFill>
              </a:rPr>
              <a:t>α</a:t>
            </a:r>
            <a:r>
              <a:rPr lang="en-US" sz="2600" b="1" baseline="-25000" dirty="0" err="1">
                <a:solidFill>
                  <a:srgbClr val="C00000"/>
                </a:solidFill>
              </a:rPr>
              <a:t>i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  <a:r>
              <a:rPr lang="en-US" sz="2600" dirty="0" err="1"/>
              <a:t>reprezinta</a:t>
            </a:r>
            <a:r>
              <a:rPr lang="en-US" sz="2600" dirty="0"/>
              <a:t> </a:t>
            </a:r>
            <a:r>
              <a:rPr lang="en-US" sz="2600" b="1" dirty="0" err="1">
                <a:solidFill>
                  <a:srgbClr val="C00000"/>
                </a:solidFill>
              </a:rPr>
              <a:t>combinatii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  <a:r>
              <a:rPr lang="en-US" sz="2600" b="1" dirty="0" err="1">
                <a:solidFill>
                  <a:srgbClr val="C00000"/>
                </a:solidFill>
              </a:rPr>
              <a:t>liniare</a:t>
            </a:r>
            <a:r>
              <a:rPr lang="en-US" sz="2600" b="1" dirty="0">
                <a:solidFill>
                  <a:srgbClr val="C00000"/>
                </a:solidFill>
              </a:rPr>
              <a:t> ale </a:t>
            </a:r>
            <a:r>
              <a:rPr lang="en-US" sz="2600" b="1" dirty="0" err="1">
                <a:solidFill>
                  <a:srgbClr val="C00000"/>
                </a:solidFill>
              </a:rPr>
              <a:t>parametrilor</a:t>
            </a:r>
            <a:r>
              <a:rPr lang="en-US" sz="2600" b="1" dirty="0">
                <a:solidFill>
                  <a:srgbClr val="C00000"/>
                </a:solidFill>
              </a:rPr>
              <a:t>  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 err="1">
                <a:solidFill>
                  <a:srgbClr val="C00000"/>
                </a:solidFill>
              </a:rPr>
              <a:t>i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  <a:r>
              <a:rPr lang="en-US" sz="2600" dirty="0"/>
              <a:t>din </a:t>
            </a:r>
            <a:r>
              <a:rPr lang="en-US" sz="2600" dirty="0" err="1"/>
              <a:t>modelul</a:t>
            </a:r>
            <a:r>
              <a:rPr lang="en-US" sz="2600" dirty="0"/>
              <a:t> AR(p) </a:t>
            </a:r>
            <a:r>
              <a:rPr lang="en-US" sz="2600" dirty="0" err="1"/>
              <a:t>iar</a:t>
            </a:r>
            <a:r>
              <a:rPr lang="en-US" sz="2600" dirty="0"/>
              <a:t> </a:t>
            </a:r>
            <a:r>
              <a:rPr lang="el-GR" sz="2600" b="1" dirty="0">
                <a:solidFill>
                  <a:srgbClr val="C00000"/>
                </a:solidFill>
              </a:rPr>
              <a:t>γ</a:t>
            </a:r>
            <a:r>
              <a:rPr lang="en-US" sz="2600" b="1" dirty="0">
                <a:solidFill>
                  <a:srgbClr val="C00000"/>
                </a:solidFill>
              </a:rPr>
              <a:t>=1-</a:t>
            </a:r>
            <a:r>
              <a:rPr lang="el-GR" sz="2600" b="1" dirty="0">
                <a:solidFill>
                  <a:srgbClr val="C00000"/>
                </a:solidFill>
              </a:rPr>
              <a:t>β</a:t>
            </a:r>
            <a:r>
              <a:rPr lang="en-US" sz="2600" b="1" baseline="-25000" dirty="0">
                <a:solidFill>
                  <a:srgbClr val="C00000"/>
                </a:solidFill>
              </a:rPr>
              <a:t>1</a:t>
            </a:r>
            <a:r>
              <a:rPr lang="en-US" sz="2600" b="1" dirty="0"/>
              <a:t>.</a:t>
            </a:r>
          </a:p>
          <a:p>
            <a:pPr marL="0" indent="0">
              <a:buNone/>
            </a:pPr>
            <a:r>
              <a:rPr lang="en-US" sz="2600" dirty="0"/>
              <a:t> </a:t>
            </a:r>
          </a:p>
          <a:p>
            <a:pPr marL="0" indent="0">
              <a:buNone/>
            </a:pPr>
            <a:endParaRPr lang="en-US" sz="2600" dirty="0" smtClean="0"/>
          </a:p>
        </p:txBody>
      </p:sp>
      <p:graphicFrame>
        <p:nvGraphicFramePr>
          <p:cNvPr id="112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436083"/>
              </p:ext>
            </p:extLst>
          </p:nvPr>
        </p:nvGraphicFramePr>
        <p:xfrm>
          <a:off x="2473397" y="4538545"/>
          <a:ext cx="3847486" cy="970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Equation" r:id="rId3" imgW="1663700" imgH="444500" progId="">
                  <p:embed/>
                </p:oleObj>
              </mc:Choice>
              <mc:Fallback>
                <p:oleObj name="Equation" r:id="rId3" imgW="1663700" imgH="44450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3397" y="4538545"/>
                        <a:ext cx="3847486" cy="97015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2390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93" name="Content Placeholder 2"/>
          <p:cNvSpPr>
            <a:spLocks noGrp="1"/>
          </p:cNvSpPr>
          <p:nvPr>
            <p:ph idx="1"/>
          </p:nvPr>
        </p:nvSpPr>
        <p:spPr>
          <a:xfrm>
            <a:off x="1584337" y="1600201"/>
            <a:ext cx="10369769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600" dirty="0" err="1"/>
              <a:t>Aceleasi</a:t>
            </a:r>
            <a:r>
              <a:rPr lang="en-US" sz="2600" dirty="0"/>
              <a:t> </a:t>
            </a:r>
            <a:r>
              <a:rPr lang="en-US" sz="2600" dirty="0" err="1"/>
              <a:t>transformari</a:t>
            </a:r>
            <a:r>
              <a:rPr lang="en-US" sz="2600" dirty="0"/>
              <a:t> se pot </a:t>
            </a:r>
            <a:r>
              <a:rPr lang="en-US" sz="2600" dirty="0" err="1"/>
              <a:t>efectua</a:t>
            </a:r>
            <a:r>
              <a:rPr lang="en-US" sz="2600" dirty="0"/>
              <a:t> </a:t>
            </a:r>
            <a:r>
              <a:rPr lang="en-US" sz="2600" dirty="0" err="1"/>
              <a:t>si</a:t>
            </a:r>
            <a:r>
              <a:rPr lang="en-US" sz="2600" dirty="0"/>
              <a:t> </a:t>
            </a:r>
            <a:r>
              <a:rPr lang="en-US" sz="2600" dirty="0" err="1"/>
              <a:t>pentru</a:t>
            </a:r>
            <a:r>
              <a:rPr lang="en-US" sz="2600" dirty="0"/>
              <a:t> </a:t>
            </a:r>
            <a:r>
              <a:rPr lang="en-US" sz="2600" dirty="0" err="1"/>
              <a:t>modelele</a:t>
            </a:r>
            <a:r>
              <a:rPr lang="en-US" sz="2600" dirty="0"/>
              <a:t> cu </a:t>
            </a:r>
            <a:r>
              <a:rPr lang="en-US" sz="2600" dirty="0" err="1"/>
              <a:t>constanta</a:t>
            </a:r>
            <a:r>
              <a:rPr lang="en-US" sz="2600" dirty="0"/>
              <a:t> </a:t>
            </a:r>
            <a:r>
              <a:rPr lang="en-US" sz="2600" dirty="0" err="1"/>
              <a:t>si</a:t>
            </a:r>
            <a:r>
              <a:rPr lang="en-US" sz="2600" dirty="0"/>
              <a:t> </a:t>
            </a:r>
            <a:r>
              <a:rPr lang="en-US" sz="2600" dirty="0" err="1"/>
              <a:t>modelele</a:t>
            </a:r>
            <a:r>
              <a:rPr lang="en-US" sz="2600" dirty="0"/>
              <a:t> cu </a:t>
            </a:r>
            <a:r>
              <a:rPr lang="en-US" sz="2600" dirty="0" err="1"/>
              <a:t>constanta</a:t>
            </a:r>
            <a:r>
              <a:rPr lang="en-US" sz="2600" dirty="0"/>
              <a:t> </a:t>
            </a:r>
            <a:r>
              <a:rPr lang="en-US" sz="2600" dirty="0" err="1"/>
              <a:t>si</a:t>
            </a:r>
            <a:r>
              <a:rPr lang="en-US" sz="2600" dirty="0"/>
              <a:t> trend: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600" b="1" dirty="0"/>
              <a:t>2. AR(p)+ct.: </a:t>
            </a:r>
            <a:endParaRPr lang="en-US" sz="2600" b="1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600" b="1" dirty="0"/>
              <a:t>		</a:t>
            </a:r>
          </a:p>
          <a:p>
            <a:pPr marL="0" indent="0" algn="just">
              <a:buNone/>
            </a:pPr>
            <a:r>
              <a:rPr lang="en-US" sz="2600" b="1" dirty="0"/>
              <a:t>3. AR(p)+</a:t>
            </a:r>
            <a:r>
              <a:rPr lang="en-US" sz="2600" b="1" dirty="0" err="1"/>
              <a:t>ct.+trend</a:t>
            </a:r>
            <a:r>
              <a:rPr lang="en-US" sz="2600" b="1" dirty="0"/>
              <a:t> det.:</a:t>
            </a:r>
          </a:p>
          <a:p>
            <a:pPr marL="0" indent="0" algn="just">
              <a:buNone/>
            </a:pPr>
            <a:endParaRPr lang="en-US" sz="2600" dirty="0"/>
          </a:p>
          <a:p>
            <a:pPr marL="0" indent="0" algn="just">
              <a:buNone/>
            </a:pPr>
            <a:r>
              <a:rPr lang="en-US" sz="2600" dirty="0"/>
              <a:t>La </a:t>
            </a:r>
            <a:r>
              <a:rPr lang="en-US" sz="2600" dirty="0" err="1"/>
              <a:t>fel</a:t>
            </a:r>
            <a:r>
              <a:rPr lang="en-US" sz="2600" dirty="0"/>
              <a:t> ca in </a:t>
            </a:r>
            <a:r>
              <a:rPr lang="en-US" sz="2600" dirty="0" err="1"/>
              <a:t>cazul</a:t>
            </a:r>
            <a:r>
              <a:rPr lang="en-US" sz="2600" dirty="0"/>
              <a:t> </a:t>
            </a:r>
            <a:r>
              <a:rPr lang="en-US" sz="2600" dirty="0" err="1"/>
              <a:t>testului</a:t>
            </a:r>
            <a:r>
              <a:rPr lang="en-US" sz="2600" dirty="0"/>
              <a:t> DF </a:t>
            </a:r>
            <a:r>
              <a:rPr lang="en-US" sz="2600" dirty="0" err="1"/>
              <a:t>testarea</a:t>
            </a:r>
            <a:r>
              <a:rPr lang="en-US" sz="2600" dirty="0"/>
              <a:t> </a:t>
            </a:r>
            <a:r>
              <a:rPr lang="en-US" sz="2600" dirty="0" err="1"/>
              <a:t>lui</a:t>
            </a:r>
            <a:r>
              <a:rPr lang="en-US" sz="2600" dirty="0"/>
              <a:t> </a:t>
            </a:r>
            <a:r>
              <a:rPr lang="el-GR" sz="2600" dirty="0"/>
              <a:t>γ</a:t>
            </a:r>
            <a:r>
              <a:rPr lang="en-US" sz="2600" dirty="0"/>
              <a:t> </a:t>
            </a:r>
            <a:r>
              <a:rPr lang="en-US" sz="2600" dirty="0" err="1"/>
              <a:t>implica</a:t>
            </a:r>
            <a:r>
              <a:rPr lang="en-US" sz="2600" dirty="0"/>
              <a:t> </a:t>
            </a:r>
            <a:r>
              <a:rPr lang="en-US" sz="2600" dirty="0" err="1"/>
              <a:t>utilizarea</a:t>
            </a:r>
            <a:r>
              <a:rPr lang="en-US" sz="2600" dirty="0"/>
              <a:t> </a:t>
            </a:r>
            <a:r>
              <a:rPr lang="en-US" sz="2600" dirty="0" err="1"/>
              <a:t>statisticii</a:t>
            </a:r>
            <a:r>
              <a:rPr lang="en-US" sz="2600" dirty="0"/>
              <a:t> </a:t>
            </a:r>
            <a:r>
              <a:rPr lang="en-US" sz="2600" dirty="0" err="1"/>
              <a:t>t~DF-t</a:t>
            </a:r>
            <a:r>
              <a:rPr lang="en-US" sz="2600" dirty="0"/>
              <a:t>.</a:t>
            </a:r>
          </a:p>
          <a:p>
            <a:pPr marL="0" indent="0">
              <a:buNone/>
            </a:pPr>
            <a:endParaRPr lang="en-US" sz="2600" dirty="0" smtClean="0"/>
          </a:p>
        </p:txBody>
      </p:sp>
      <p:graphicFrame>
        <p:nvGraphicFramePr>
          <p:cNvPr id="1229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55409"/>
              </p:ext>
            </p:extLst>
          </p:nvPr>
        </p:nvGraphicFramePr>
        <p:xfrm>
          <a:off x="5359077" y="2291016"/>
          <a:ext cx="4205288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" name="Equation" r:id="rId3" imgW="1968500" imgH="444500" progId="">
                  <p:embed/>
                </p:oleObj>
              </mc:Choice>
              <mc:Fallback>
                <p:oleObj name="Equation" r:id="rId3" imgW="1968500" imgH="44450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9077" y="2291016"/>
                        <a:ext cx="4205288" cy="950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7240710"/>
              </p:ext>
            </p:extLst>
          </p:nvPr>
        </p:nvGraphicFramePr>
        <p:xfrm>
          <a:off x="5359077" y="3683675"/>
          <a:ext cx="467360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9" name="Equation" r:id="rId5" imgW="2235200" imgH="444500" progId="">
                  <p:embed/>
                </p:oleObj>
              </mc:Choice>
              <mc:Fallback>
                <p:oleObj name="Equation" r:id="rId5" imgW="2235200" imgH="44450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9077" y="3683675"/>
                        <a:ext cx="4673600" cy="930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1846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3474" y="714375"/>
            <a:ext cx="10842702" cy="5975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 smtClean="0"/>
              <a:t>OBSERVATII CU CARACTER PRACTIC PRIVIN TESTAREA RADACINII UNITATE</a:t>
            </a:r>
            <a:endParaRPr lang="en-US" b="1" dirty="0"/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>
          <a:xfrm>
            <a:off x="1810512" y="1311937"/>
            <a:ext cx="9920274" cy="4899291"/>
          </a:xfrm>
        </p:spPr>
        <p:txBody>
          <a:bodyPr/>
          <a:lstStyle/>
          <a:p>
            <a:pPr algn="ctr"/>
            <a:endParaRPr lang="en-US" b="1" dirty="0" smtClean="0">
              <a:solidFill>
                <a:srgbClr val="FF0000"/>
              </a:solidFill>
            </a:endParaRPr>
          </a:p>
          <a:p>
            <a:pPr algn="ctr"/>
            <a:endParaRPr lang="en-US" b="1" dirty="0" smtClean="0">
              <a:solidFill>
                <a:srgbClr val="FF0000"/>
              </a:solidFill>
            </a:endParaRPr>
          </a:p>
          <a:p>
            <a:pPr algn="ctr"/>
            <a:endParaRPr lang="en-US" b="1" dirty="0" smtClean="0">
              <a:solidFill>
                <a:srgbClr val="FF0000"/>
              </a:solidFill>
            </a:endParaRPr>
          </a:p>
          <a:p>
            <a:pPr algn="ctr"/>
            <a:endParaRPr lang="en-US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b="1" dirty="0" smtClean="0">
                <a:solidFill>
                  <a:srgbClr val="FF0000"/>
                </a:solidFill>
              </a:rPr>
              <a:t>DISCUTIE</a:t>
            </a:r>
          </a:p>
        </p:txBody>
      </p:sp>
    </p:spTree>
    <p:extLst>
      <p:ext uri="{BB962C8B-B14F-4D97-AF65-F5344CB8AC3E}">
        <p14:creationId xmlns:p14="http://schemas.microsoft.com/office/powerpoint/2010/main" val="1832783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920</TotalTime>
  <Words>2861</Words>
  <Application>Microsoft Office PowerPoint</Application>
  <PresentationFormat>Widescreen</PresentationFormat>
  <Paragraphs>425</Paragraphs>
  <Slides>41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4" baseType="lpstr">
      <vt:lpstr>Arial</vt:lpstr>
      <vt:lpstr>Bookman Old Style</vt:lpstr>
      <vt:lpstr>Calibri</vt:lpstr>
      <vt:lpstr>Century Gothic</vt:lpstr>
      <vt:lpstr>Georgia</vt:lpstr>
      <vt:lpstr>Perpetua</vt:lpstr>
      <vt:lpstr>Trebuchet MS</vt:lpstr>
      <vt:lpstr>Wingdings</vt:lpstr>
      <vt:lpstr>Wingdings 2</vt:lpstr>
      <vt:lpstr>Wingdings 3</vt:lpstr>
      <vt:lpstr>Wisp</vt:lpstr>
      <vt:lpstr>Equation</vt:lpstr>
      <vt:lpstr>EViews</vt:lpstr>
      <vt:lpstr>Analiza seriilor de timp Testarea ipotezelor cu privire la eroarea de modelare</vt:lpstr>
      <vt:lpstr>TEMATICA</vt:lpstr>
      <vt:lpstr>Testarea Normalitatii  erorilor</vt:lpstr>
      <vt:lpstr>PowerPoint Presentation</vt:lpstr>
      <vt:lpstr>PowerPoint Presentation</vt:lpstr>
      <vt:lpstr>Testarea independentei erorilor</vt:lpstr>
      <vt:lpstr>Testul BREUSCH-GODFREY (BG) sau testul corelatiei seriale LM</vt:lpstr>
      <vt:lpstr>PowerPoint Presentation</vt:lpstr>
      <vt:lpstr>PowerPoint Presentation</vt:lpstr>
      <vt:lpstr>Testul Q* a lui Box-Pierce Si Testul Q a lui Ljung-Box</vt:lpstr>
      <vt:lpstr>PowerPoint Presentation</vt:lpstr>
      <vt:lpstr>PowerPoint Presentation</vt:lpstr>
      <vt:lpstr>PowerPoint Presentation</vt:lpstr>
      <vt:lpstr>Testul Durbin-Watson</vt:lpstr>
      <vt:lpstr>Testarea Homoscedasticitatii</vt:lpstr>
      <vt:lpstr>Testarea heteroscedasticitatii - Testul Berusch Pagan Godfrey</vt:lpstr>
      <vt:lpstr>Testarea heteroscedaticitatii- Testul Breusch Pagan Godfrey</vt:lpstr>
      <vt:lpstr>PowerPoint Presentation</vt:lpstr>
      <vt:lpstr>Testarea heteroscedaticitatii- Testul HARVEY</vt:lpstr>
      <vt:lpstr>Testarea heteroscedasticitatii - Testul GLEJSER</vt:lpstr>
      <vt:lpstr>Testarea homoscedasticitatii- Testul White</vt:lpstr>
      <vt:lpstr> </vt:lpstr>
      <vt:lpstr>Testarea heteroscedaticitatii- Testul ARCH</vt:lpstr>
      <vt:lpstr>PowerPoint Presentation</vt:lpstr>
      <vt:lpstr>Testarea heteroscedaticitatii- CORELOGRAMA</vt:lpstr>
      <vt:lpstr>PowerPoint Presentation</vt:lpstr>
      <vt:lpstr>PowerPoint Presentation</vt:lpstr>
      <vt:lpstr>1. Operatorul de Intarziere (lag) si Operatorul Diferenta</vt:lpstr>
      <vt:lpstr>PowerPoint Presentation</vt:lpstr>
      <vt:lpstr>2.Trenduri deterministe (trend stationary)</vt:lpstr>
      <vt:lpstr>PowerPoint Presentation</vt:lpstr>
      <vt:lpstr>Procese Cu trend Stohastic (difference stationary): Process de tip Mers Aleator (Random Walk Process-&gt;RW)</vt:lpstr>
      <vt:lpstr>Procese de tip Mers Aleator cu Deviere  (Random Walk with Drift-&gt; RWD)</vt:lpstr>
      <vt:lpstr> </vt:lpstr>
      <vt:lpstr>PowerPoint Presentation</vt:lpstr>
      <vt:lpstr>DIFERENTA - INTEGRARE</vt:lpstr>
      <vt:lpstr>Testul Dickey Fuller (DF)</vt:lpstr>
      <vt:lpstr>PowerPoint Presentation</vt:lpstr>
      <vt:lpstr>Testul DF Extins  (Augmented Dikey Fuller-&gt;ADF)</vt:lpstr>
      <vt:lpstr>PowerPoint Presentation</vt:lpstr>
      <vt:lpstr>OBSERVATII CU CARACTER PRACTIC PRIVIN TESTAREA RADACINII UNITATE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ciuparezu t</dc:creator>
  <cp:lastModifiedBy>Claudiu Petrea</cp:lastModifiedBy>
  <cp:revision>36</cp:revision>
  <dcterms:created xsi:type="dcterms:W3CDTF">2016-12-14T21:04:28Z</dcterms:created>
  <dcterms:modified xsi:type="dcterms:W3CDTF">2019-12-22T00:57:56Z</dcterms:modified>
</cp:coreProperties>
</file>