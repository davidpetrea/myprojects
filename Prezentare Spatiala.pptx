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2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3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53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90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883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39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38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15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1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8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231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698377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474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326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2518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684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120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5415B95-36D1-4842-8ABC-717546074236}" type="datetimeFigureOut">
              <a:rPr lang="en-US" smtClean="0"/>
              <a:t>1/8/2020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4DA3F58-3A43-4964-9EA5-34D5CF47E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533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  <p:sldLayoutId id="2147483825" r:id="rId15"/>
    <p:sldLayoutId id="2147483826" r:id="rId16"/>
    <p:sldLayoutId id="214748382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2014" y="2153607"/>
            <a:ext cx="11295017" cy="2466227"/>
          </a:xfrm>
        </p:spPr>
        <p:txBody>
          <a:bodyPr>
            <a:normAutofit/>
          </a:bodyPr>
          <a:lstStyle/>
          <a:p>
            <a:r>
              <a:rPr lang="en-US" sz="4800" b="1" dirty="0" err="1" smtClean="0">
                <a:latin typeface="BeaufortforLOL-Regular" panose="02020503050000020004" pitchFamily="18" charset="0"/>
                <a:cs typeface="BeaufortforLOL-Regular" panose="02020503050000020004" pitchFamily="18" charset="0"/>
              </a:rPr>
              <a:t>Analiza</a:t>
            </a:r>
            <a:r>
              <a:rPr lang="en-US" sz="4800" b="1" dirty="0" smtClean="0">
                <a:latin typeface="BeaufortforLOL-Regular" panose="02020503050000020004" pitchFamily="18" charset="0"/>
                <a:cs typeface="BeaufortforLOL-Regular" panose="02020503050000020004" pitchFamily="18" charset="0"/>
              </a:rPr>
              <a:t> </a:t>
            </a:r>
            <a:r>
              <a:rPr lang="ro-RO" sz="4800" b="1" dirty="0" smtClean="0">
                <a:latin typeface="BeaufortforLOL-Regular" panose="02020503050000020004" pitchFamily="18" charset="0"/>
                <a:cs typeface="BeaufortforLOL-Regular" panose="02020503050000020004" pitchFamily="18" charset="0"/>
              </a:rPr>
              <a:t>emisiilor de dioxid de carbon sub influența dezvoltării economice a țărilor din Uniunea Europeană</a:t>
            </a:r>
            <a:endParaRPr lang="en-US" sz="4800" b="1" dirty="0">
              <a:latin typeface="BeaufortforLOL-Regular" panose="02020503050000020004" pitchFamily="18" charset="0"/>
              <a:cs typeface="BeaufortforLOL-Regular" panose="020205030500000200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18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Prezentarea temei de cercetare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sz="2400" dirty="0" smtClean="0"/>
          </a:p>
          <a:p>
            <a:pPr marL="36900" indent="0">
              <a:buNone/>
            </a:pPr>
            <a:endParaRPr lang="ro-RO" sz="2400" dirty="0" smtClean="0"/>
          </a:p>
          <a:p>
            <a:r>
              <a:rPr lang="ro-RO" sz="3200" dirty="0" smtClean="0"/>
              <a:t>Dezvoltarea economică și prezervarea mediului</a:t>
            </a:r>
          </a:p>
          <a:p>
            <a:r>
              <a:rPr lang="ro-RO" sz="3200" dirty="0"/>
              <a:t>Încălzirea </a:t>
            </a:r>
            <a:r>
              <a:rPr lang="ro-RO" sz="3200" dirty="0" smtClean="0"/>
              <a:t>globală</a:t>
            </a:r>
          </a:p>
          <a:p>
            <a:r>
              <a:rPr lang="ro-RO" sz="3200" dirty="0" smtClean="0"/>
              <a:t>Gaze cu efect de seră</a:t>
            </a:r>
          </a:p>
        </p:txBody>
      </p:sp>
    </p:spTree>
    <p:extLst>
      <p:ext uri="{BB962C8B-B14F-4D97-AF65-F5344CB8AC3E}">
        <p14:creationId xmlns:p14="http://schemas.microsoft.com/office/powerpoint/2010/main" val="2912648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 smtClean="0"/>
              <a:t>Prezentarea variabilelor</a:t>
            </a:r>
            <a:br>
              <a:rPr lang="ro-RO" dirty="0" smtClean="0"/>
            </a:br>
            <a:r>
              <a:rPr lang="ro-RO" sz="1800" dirty="0" smtClean="0"/>
              <a:t>-date </a:t>
            </a:r>
            <a:r>
              <a:rPr lang="ro-RO" sz="1800" dirty="0" smtClean="0"/>
              <a:t>aferente anului </a:t>
            </a:r>
            <a:r>
              <a:rPr lang="ro-RO" sz="1800" dirty="0" smtClean="0"/>
              <a:t>2016-</a:t>
            </a:r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 smtClean="0"/>
              <a:t>Variabila dependentă:</a:t>
            </a:r>
          </a:p>
          <a:p>
            <a:pPr lvl="2"/>
            <a:r>
              <a:rPr lang="ro-RO" dirty="0" smtClean="0"/>
              <a:t>Emisii </a:t>
            </a:r>
            <a:r>
              <a:rPr lang="en-US" i="1" dirty="0" smtClean="0"/>
              <a:t>CO</a:t>
            </a:r>
            <a:r>
              <a:rPr lang="en-US" i="1" baseline="-25000" dirty="0" smtClean="0"/>
              <a:t>2</a:t>
            </a:r>
            <a:r>
              <a:rPr lang="ro-RO" dirty="0" smtClean="0"/>
              <a:t> </a:t>
            </a:r>
            <a:r>
              <a:rPr lang="ro-RO" dirty="0" smtClean="0"/>
              <a:t>/capita– unitate măsură: tone</a:t>
            </a:r>
          </a:p>
          <a:p>
            <a:pPr marL="810000" lvl="2" indent="0">
              <a:buNone/>
            </a:pPr>
            <a:endParaRPr lang="ro-RO" dirty="0" smtClean="0"/>
          </a:p>
          <a:p>
            <a:pPr lvl="0">
              <a:buClr>
                <a:srgbClr val="DADADA"/>
              </a:buClr>
            </a:pPr>
            <a:r>
              <a:rPr lang="ro-RO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Variabile independente:</a:t>
            </a:r>
          </a:p>
          <a:p>
            <a:pPr lvl="2">
              <a:buClr>
                <a:srgbClr val="DADADA"/>
              </a:buClr>
            </a:pPr>
            <a:r>
              <a:rPr lang="ro-RO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PIB/capita – unitate măsură: euro</a:t>
            </a:r>
          </a:p>
          <a:p>
            <a:pPr lvl="2">
              <a:buClr>
                <a:srgbClr val="DADADA"/>
              </a:buClr>
            </a:pPr>
            <a:r>
              <a:rPr lang="ro-RO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Consumul de energie/capita – unitate măsură: kg de ulei echivalent</a:t>
            </a:r>
          </a:p>
          <a:p>
            <a:pPr lvl="2">
              <a:buClr>
                <a:srgbClr val="DADADA"/>
              </a:buClr>
            </a:pPr>
            <a:r>
              <a:rPr lang="ro-RO" dirty="0" smtClean="0">
                <a:ln>
                  <a:solidFill>
                    <a:prstClr val="black">
                      <a:lumMod val="75000"/>
                      <a:lumOff val="25000"/>
                      <a:alpha val="10000"/>
                    </a:prstClr>
                  </a:solidFill>
                </a:ln>
                <a:solidFill>
                  <a:srgbClr val="DADADA"/>
                </a:solidFill>
                <a:effectLst>
                  <a:outerShdw blurRad="9525" dist="25400" dir="14640000" algn="tl" rotWithShape="0">
                    <a:prstClr val="black">
                      <a:alpha val="30000"/>
                    </a:prstClr>
                  </a:outerShdw>
                </a:effectLst>
              </a:rPr>
              <a:t>Exportul de bunuri și servicii ca % din PIB</a:t>
            </a:r>
            <a:endParaRPr lang="ro-RO" dirty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  <a:solidFill>
                <a:srgbClr val="DADADA"/>
              </a:solidFill>
              <a:effectLst>
                <a:outerShdw blurRad="9525" dist="25400" dir="14640000" algn="tl" rotWithShape="0">
                  <a:prstClr val="black">
                    <a:alpha val="30000"/>
                  </a:prstClr>
                </a:outerShdw>
              </a:effectLst>
            </a:endParaRPr>
          </a:p>
          <a:p>
            <a:pPr marL="810000" lvl="2" indent="0">
              <a:buNone/>
            </a:pPr>
            <a:endParaRPr lang="ro-RO" dirty="0" smtClean="0"/>
          </a:p>
          <a:p>
            <a:pPr marL="810000" lvl="2" indent="0">
              <a:buNone/>
            </a:pP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3105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Prezentarea hărților de tip Quantile</a:t>
            </a:r>
            <a:endParaRPr lang="en-US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089015"/>
            <a:ext cx="4335602" cy="336255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28857" y="2089015"/>
            <a:ext cx="4838700" cy="33625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3795" y="5746376"/>
            <a:ext cx="433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Hart</a:t>
            </a:r>
            <a:r>
              <a:rPr lang="ro-RO" dirty="0" smtClean="0"/>
              <a:t>ă quantile pentru variabila Emisii </a:t>
            </a:r>
            <a:r>
              <a:rPr lang="en-US" i="1" dirty="0"/>
              <a:t>CO</a:t>
            </a:r>
            <a:r>
              <a:rPr lang="en-US" i="1" baseline="-25000" dirty="0"/>
              <a:t>2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680406" y="5775865"/>
            <a:ext cx="433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Hart</a:t>
            </a:r>
            <a:r>
              <a:rPr lang="ro-RO" dirty="0" smtClean="0"/>
              <a:t>ă quantile pentru variabila PIB/loc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2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0877" y="1299778"/>
            <a:ext cx="5078524" cy="3379316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47935" y="1299778"/>
            <a:ext cx="4794423" cy="33793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2338" y="5028069"/>
            <a:ext cx="433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Hart</a:t>
            </a:r>
            <a:r>
              <a:rPr lang="ro-RO" dirty="0" smtClean="0"/>
              <a:t>ă quantile pentru variabila Consum Energie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960368" y="5166568"/>
            <a:ext cx="4335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Hart</a:t>
            </a:r>
            <a:r>
              <a:rPr lang="ro-RO" dirty="0" smtClean="0"/>
              <a:t>ă quantile pentru variabila Export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99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Analiza exploratorie a datelor spațiale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427763" y="2192689"/>
            <a:ext cx="4440800" cy="327723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4868563" y="2192688"/>
            <a:ext cx="1132840" cy="3277235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6331937" y="2192688"/>
            <a:ext cx="4747955" cy="327723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5"/>
          <a:stretch>
            <a:fillRect/>
          </a:stretch>
        </p:blipFill>
        <p:spPr>
          <a:xfrm>
            <a:off x="11079892" y="2192688"/>
            <a:ext cx="767715" cy="32772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1149" y="5759395"/>
            <a:ext cx="433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Histogramă + Box-plot pentru variabila Emisii </a:t>
            </a:r>
            <a:r>
              <a:rPr lang="en-US" i="1" dirty="0"/>
              <a:t>CO</a:t>
            </a:r>
            <a:r>
              <a:rPr lang="en-US" i="1" baseline="-25000" dirty="0"/>
              <a:t>2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931955" y="5759394"/>
            <a:ext cx="433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Histogramă + Box-plot pentru variabila PIB/loc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423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exploratorie a datelor spațiale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48318" y="1962493"/>
            <a:ext cx="4420244" cy="326853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868562" y="1962493"/>
            <a:ext cx="828040" cy="3268533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183329" y="1962492"/>
            <a:ext cx="4624714" cy="326853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10808042" y="1962491"/>
            <a:ext cx="955589" cy="32685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3795" y="5495784"/>
            <a:ext cx="433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Histogramă + Box-plot pentru variabila Consum Energie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931955" y="5495783"/>
            <a:ext cx="43356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 smtClean="0"/>
              <a:t>Histogramă + Box-plot pentru variabila Export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881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606" y="131805"/>
            <a:ext cx="10353762" cy="970450"/>
          </a:xfrm>
        </p:spPr>
        <p:txBody>
          <a:bodyPr/>
          <a:lstStyle/>
          <a:p>
            <a:r>
              <a:rPr lang="ro-RO" dirty="0" smtClean="0"/>
              <a:t>Analiza autocorelației globale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910644" y="1230317"/>
            <a:ext cx="3017378" cy="220313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28022" y="1230318"/>
            <a:ext cx="3414843" cy="22031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0185" y="1824054"/>
            <a:ext cx="24719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 smtClean="0"/>
              <a:t>Testul Moran I pentru variabila Emisii </a:t>
            </a:r>
            <a:r>
              <a:rPr lang="en-US" sz="2000" i="1" dirty="0"/>
              <a:t>CO</a:t>
            </a:r>
            <a:r>
              <a:rPr lang="en-US" sz="2000" i="1" baseline="-25000" dirty="0"/>
              <a:t>2</a:t>
            </a:r>
            <a:endParaRPr lang="en-US" sz="2000" dirty="0"/>
          </a:p>
        </p:txBody>
      </p:sp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3910644" y="4042450"/>
            <a:ext cx="6432221" cy="22100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3567" y="4824318"/>
            <a:ext cx="24985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 smtClean="0"/>
              <a:t>Testul Moran I pentru variabila PIB/loc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37267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Analiza autocorelației globale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632886" y="1618510"/>
            <a:ext cx="6582034" cy="2192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1277" y="2070477"/>
            <a:ext cx="27349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 smtClean="0"/>
              <a:t>Testul Moran I pentru variabila Consum Energie</a:t>
            </a:r>
            <a:endParaRPr lang="en-US" sz="2000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632887" y="4194468"/>
            <a:ext cx="6582034" cy="22228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1277" y="4798040"/>
            <a:ext cx="27349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000" dirty="0" smtClean="0"/>
              <a:t>Testul Moran I pentru variabila Export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3908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Analiza de regresie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76589"/>
          </a:xfrm>
        </p:spPr>
        <p:txBody>
          <a:bodyPr/>
          <a:lstStyle/>
          <a:p>
            <a:r>
              <a:rPr lang="ro-RO" dirty="0">
                <a:effectLst/>
              </a:rPr>
              <a:t>Emisii CO</a:t>
            </a:r>
            <a:r>
              <a:rPr lang="ro-RO" baseline="-25000" dirty="0">
                <a:effectLst/>
              </a:rPr>
              <a:t>2</a:t>
            </a:r>
            <a:r>
              <a:rPr lang="ro-RO" dirty="0">
                <a:effectLst/>
              </a:rPr>
              <a:t> =  </a:t>
            </a:r>
            <a:r>
              <a:rPr lang="en-US" b="1" dirty="0">
                <a:effectLst/>
              </a:rPr>
              <a:t>β</a:t>
            </a:r>
            <a:r>
              <a:rPr lang="en-US" b="1" baseline="-25000" dirty="0">
                <a:effectLst/>
              </a:rPr>
              <a:t>0</a:t>
            </a:r>
            <a:r>
              <a:rPr lang="en-US" b="1" dirty="0">
                <a:effectLst/>
              </a:rPr>
              <a:t> + β</a:t>
            </a:r>
            <a:r>
              <a:rPr lang="en-US" b="1" baseline="-25000" dirty="0">
                <a:effectLst/>
              </a:rPr>
              <a:t>1</a:t>
            </a:r>
            <a:r>
              <a:rPr lang="en-US" b="1" dirty="0">
                <a:effectLst/>
              </a:rPr>
              <a:t>* </a:t>
            </a:r>
            <a:r>
              <a:rPr lang="en-US" dirty="0">
                <a:effectLst/>
              </a:rPr>
              <a:t>PIB/</a:t>
            </a:r>
            <a:r>
              <a:rPr lang="en-US" dirty="0" err="1">
                <a:effectLst/>
              </a:rPr>
              <a:t>loc</a:t>
            </a:r>
            <a:r>
              <a:rPr lang="en-US" dirty="0">
                <a:effectLst/>
              </a:rPr>
              <a:t> + </a:t>
            </a:r>
            <a:r>
              <a:rPr lang="en-US" b="1" dirty="0">
                <a:effectLst/>
              </a:rPr>
              <a:t>β</a:t>
            </a:r>
            <a:r>
              <a:rPr lang="en-US" b="1" baseline="-25000" dirty="0">
                <a:effectLst/>
              </a:rPr>
              <a:t>2</a:t>
            </a:r>
            <a:r>
              <a:rPr lang="en-US" b="1" dirty="0">
                <a:effectLst/>
              </a:rPr>
              <a:t>* </a:t>
            </a:r>
            <a:r>
              <a:rPr lang="en-US" dirty="0" err="1">
                <a:effectLst/>
              </a:rPr>
              <a:t>Consum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Energie</a:t>
            </a:r>
            <a:r>
              <a:rPr lang="en-US" dirty="0">
                <a:effectLst/>
              </a:rPr>
              <a:t> + </a:t>
            </a:r>
            <a:r>
              <a:rPr lang="en-US" b="1" dirty="0">
                <a:effectLst/>
              </a:rPr>
              <a:t>β</a:t>
            </a:r>
            <a:r>
              <a:rPr lang="en-US" b="1" baseline="-25000" dirty="0">
                <a:effectLst/>
              </a:rPr>
              <a:t>3</a:t>
            </a:r>
            <a:r>
              <a:rPr lang="en-US" b="1" dirty="0">
                <a:effectLst/>
              </a:rPr>
              <a:t>* </a:t>
            </a:r>
            <a:r>
              <a:rPr lang="en-US" dirty="0" smtClean="0">
                <a:effectLst/>
              </a:rPr>
              <a:t>Export</a:t>
            </a:r>
            <a:endParaRPr lang="ro-RO" dirty="0" smtClean="0">
              <a:effectLst/>
            </a:endParaRPr>
          </a:p>
          <a:p>
            <a:endParaRPr lang="ro-RO" dirty="0">
              <a:effectLst/>
            </a:endParaRPr>
          </a:p>
          <a:p>
            <a:endParaRPr lang="ro-RO" dirty="0" smtClean="0">
              <a:effectLst/>
            </a:endParaRPr>
          </a:p>
          <a:p>
            <a:endParaRPr lang="ro-RO" dirty="0">
              <a:effectLst/>
            </a:endParaRPr>
          </a:p>
          <a:p>
            <a:endParaRPr lang="ro-RO" dirty="0" smtClean="0">
              <a:effectLst/>
            </a:endParaRPr>
          </a:p>
          <a:p>
            <a:pPr marL="36900" indent="0">
              <a:buNone/>
            </a:pPr>
            <a:endParaRPr lang="ro-RO" dirty="0" smtClean="0">
              <a:effectLst/>
            </a:endParaRPr>
          </a:p>
          <a:p>
            <a:pPr marL="36900" indent="0">
              <a:buNone/>
            </a:pPr>
            <a:endParaRPr lang="ro-RO" dirty="0">
              <a:effectLst/>
            </a:endParaRPr>
          </a:p>
          <a:p>
            <a:pPr marL="36900" indent="0">
              <a:buNone/>
            </a:pPr>
            <a:endParaRPr lang="ro-RO" dirty="0" smtClean="0">
              <a:effectLst/>
            </a:endParaRPr>
          </a:p>
          <a:p>
            <a:r>
              <a:rPr lang="ro-RO" dirty="0">
                <a:effectLst/>
              </a:rPr>
              <a:t>Emisii CO</a:t>
            </a:r>
            <a:r>
              <a:rPr lang="ro-RO" baseline="-25000" dirty="0">
                <a:effectLst/>
              </a:rPr>
              <a:t>2</a:t>
            </a:r>
            <a:r>
              <a:rPr lang="ro-RO" dirty="0">
                <a:effectLst/>
              </a:rPr>
              <a:t> =  </a:t>
            </a:r>
            <a:r>
              <a:rPr lang="en-US" dirty="0">
                <a:effectLst/>
              </a:rPr>
              <a:t>0.822</a:t>
            </a:r>
            <a:r>
              <a:rPr lang="en-US" b="1" dirty="0">
                <a:effectLst/>
              </a:rPr>
              <a:t> + </a:t>
            </a:r>
            <a:r>
              <a:rPr lang="en-US" dirty="0">
                <a:effectLst/>
              </a:rPr>
              <a:t>3.79e-005</a:t>
            </a:r>
            <a:r>
              <a:rPr lang="en-US" b="1" dirty="0">
                <a:effectLst/>
              </a:rPr>
              <a:t>* </a:t>
            </a:r>
            <a:r>
              <a:rPr lang="en-US" dirty="0">
                <a:effectLst/>
              </a:rPr>
              <a:t>PIB/</a:t>
            </a:r>
            <a:r>
              <a:rPr lang="en-US" dirty="0" err="1">
                <a:effectLst/>
              </a:rPr>
              <a:t>loc</a:t>
            </a:r>
            <a:r>
              <a:rPr lang="en-US" dirty="0">
                <a:effectLst/>
              </a:rPr>
              <a:t> + 0.0061</a:t>
            </a:r>
            <a:r>
              <a:rPr lang="en-US" b="1" dirty="0">
                <a:effectLst/>
              </a:rPr>
              <a:t>* </a:t>
            </a:r>
            <a:r>
              <a:rPr lang="en-US" dirty="0" err="1">
                <a:effectLst/>
              </a:rPr>
              <a:t>Consum</a:t>
            </a:r>
            <a:r>
              <a:rPr lang="en-US" dirty="0">
                <a:effectLst/>
              </a:rPr>
              <a:t> </a:t>
            </a:r>
            <a:r>
              <a:rPr lang="en-US" dirty="0" err="1">
                <a:effectLst/>
              </a:rPr>
              <a:t>Energie</a:t>
            </a:r>
            <a:r>
              <a:rPr lang="en-US" dirty="0">
                <a:effectLst/>
              </a:rPr>
              <a:t> + 0.032</a:t>
            </a:r>
            <a:r>
              <a:rPr lang="en-US" b="1" dirty="0">
                <a:effectLst/>
              </a:rPr>
              <a:t>* </a:t>
            </a:r>
            <a:r>
              <a:rPr lang="en-US" dirty="0">
                <a:effectLst/>
              </a:rPr>
              <a:t>Export</a:t>
            </a:r>
          </a:p>
          <a:p>
            <a:endParaRPr lang="en-US" dirty="0"/>
          </a:p>
        </p:txBody>
      </p:sp>
      <p:pic>
        <p:nvPicPr>
          <p:cNvPr id="4" name="Picture 3" descr="C:\Users\wyver\Desktop\regr1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5674" y="2260386"/>
            <a:ext cx="4522737" cy="288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249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172"/>
            <a:ext cx="10353762" cy="970450"/>
          </a:xfrm>
        </p:spPr>
        <p:txBody>
          <a:bodyPr/>
          <a:lstStyle/>
          <a:p>
            <a:r>
              <a:rPr lang="ro-RO" dirty="0" smtClean="0"/>
              <a:t>Verificarea ipotezelor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899964"/>
            <a:ext cx="10353762" cy="5797398"/>
          </a:xfrm>
        </p:spPr>
        <p:txBody>
          <a:bodyPr/>
          <a:lstStyle/>
          <a:p>
            <a:r>
              <a:rPr lang="ro-RO" dirty="0" smtClean="0"/>
              <a:t>Multicoliniaritate</a:t>
            </a:r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Normalitatea erorilor</a:t>
            </a:r>
          </a:p>
          <a:p>
            <a:endParaRPr lang="ro-RO" dirty="0"/>
          </a:p>
          <a:p>
            <a:endParaRPr lang="ro-RO" dirty="0" smtClean="0"/>
          </a:p>
          <a:p>
            <a:r>
              <a:rPr lang="ro-RO" dirty="0" smtClean="0"/>
              <a:t>Homoscedasticitatea erorilor</a:t>
            </a:r>
          </a:p>
          <a:p>
            <a:endParaRPr lang="ro-RO" dirty="0"/>
          </a:p>
          <a:p>
            <a:endParaRPr lang="ro-RO" dirty="0" smtClean="0"/>
          </a:p>
          <a:p>
            <a:endParaRPr lang="ro-RO" dirty="0" smtClean="0"/>
          </a:p>
          <a:p>
            <a:pPr marL="36900" indent="0">
              <a:buNone/>
            </a:pPr>
            <a:endParaRPr lang="ro-RO" dirty="0"/>
          </a:p>
          <a:p>
            <a:r>
              <a:rPr lang="ro-RO" dirty="0" smtClean="0"/>
              <a:t>Autocorelație/dependență spațială</a:t>
            </a:r>
          </a:p>
          <a:p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358015" y="1513844"/>
            <a:ext cx="3765920" cy="35657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345044" y="2929339"/>
            <a:ext cx="4334510" cy="423545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1345044" y="4115883"/>
            <a:ext cx="3980104" cy="914863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5679554" y="5311601"/>
            <a:ext cx="4870450" cy="12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59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146</TotalTime>
  <Words>219</Words>
  <Application>Microsoft Office PowerPoint</Application>
  <PresentationFormat>Widescreen</PresentationFormat>
  <Paragraphs>55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BeaufortforLOL-Regular</vt:lpstr>
      <vt:lpstr>Calisto MT</vt:lpstr>
      <vt:lpstr>Trebuchet MS</vt:lpstr>
      <vt:lpstr>Wingdings 2</vt:lpstr>
      <vt:lpstr>Slate</vt:lpstr>
      <vt:lpstr>Analiza emisiilor de dioxid de carbon sub influența dezvoltării economice a țărilor din Uniunea Europeană</vt:lpstr>
      <vt:lpstr>Prezentarea temei de cercetare</vt:lpstr>
      <vt:lpstr>Prezentarea variabilelor -date aferente anului 2016-</vt:lpstr>
      <vt:lpstr>Prezentarea hărților de tip Quantile</vt:lpstr>
      <vt:lpstr>PowerPoint Presentation</vt:lpstr>
      <vt:lpstr>Analiza exploratorie a datelor spațiale</vt:lpstr>
      <vt:lpstr>Analiza exploratorie a datelor spațiale</vt:lpstr>
      <vt:lpstr>Analiza autocorelației globale</vt:lpstr>
      <vt:lpstr>Analiza autocorelației globale</vt:lpstr>
      <vt:lpstr>Analiza de regresie</vt:lpstr>
      <vt:lpstr>Verificarea ipotezelor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Analiza emisiilor de dioxid de carbon a țărilor din Uniunea Europeană</dc:title>
  <dc:creator>Claudiu Petrea</dc:creator>
  <cp:lastModifiedBy>Claudiu Petrea</cp:lastModifiedBy>
  <cp:revision>13</cp:revision>
  <dcterms:created xsi:type="dcterms:W3CDTF">2020-01-08T20:36:09Z</dcterms:created>
  <dcterms:modified xsi:type="dcterms:W3CDTF">2020-01-08T23:04:39Z</dcterms:modified>
</cp:coreProperties>
</file>